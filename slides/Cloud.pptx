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301" r:id="rId42"/>
    <p:sldId id="303" r:id="rId43"/>
    <p:sldId id="305" r:id="rId44"/>
    <p:sldId id="306" r:id="rId45"/>
    <p:sldId id="307" r:id="rId46"/>
    <p:sldId id="311" r:id="rId47"/>
    <p:sldId id="312" r:id="rId48"/>
    <p:sldId id="314" r:id="rId49"/>
    <p:sldId id="315" r:id="rId50"/>
    <p:sldId id="316" r:id="rId51"/>
    <p:sldId id="317" r:id="rId52"/>
    <p:sldId id="318" r:id="rId53"/>
    <p:sldId id="320" r:id="rId54"/>
    <p:sldId id="321" r:id="rId55"/>
    <p:sldId id="323" r:id="rId56"/>
    <p:sldId id="324" r:id="rId57"/>
    <p:sldId id="328" r:id="rId58"/>
    <p:sldId id="329" r:id="rId59"/>
    <p:sldId id="330" r:id="rId60"/>
    <p:sldId id="331" r:id="rId61"/>
    <p:sldId id="332" r:id="rId62"/>
    <p:sldId id="334" r:id="rId63"/>
    <p:sldId id="336" r:id="rId64"/>
    <p:sldId id="340" r:id="rId65"/>
    <p:sldId id="337" r:id="rId66"/>
    <p:sldId id="338" r:id="rId67"/>
    <p:sldId id="343" r:id="rId68"/>
    <p:sldId id="344" r:id="rId69"/>
    <p:sldId id="345" r:id="rId70"/>
    <p:sldId id="346" r:id="rId71"/>
    <p:sldId id="396" r:id="rId72"/>
    <p:sldId id="348" r:id="rId73"/>
    <p:sldId id="349" r:id="rId74"/>
    <p:sldId id="373" r:id="rId75"/>
    <p:sldId id="374" r:id="rId76"/>
    <p:sldId id="375" r:id="rId77"/>
    <p:sldId id="376" r:id="rId78"/>
    <p:sldId id="377" r:id="rId79"/>
    <p:sldId id="378" r:id="rId80"/>
    <p:sldId id="379" r:id="rId8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552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6-05-03T12:14:28.30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264" units="cm"/>
          <inkml:channel name="Y" type="integer" max="1824" units="cm"/>
        </inkml:traceFormat>
        <inkml:channelProperties>
          <inkml:channelProperty channel="X" name="resolution" value="94.6087" units="1/cm"/>
          <inkml:channelProperty channel="Y" name="resolution" value="94.02062" units="1/cm"/>
        </inkml:channelProperties>
      </inkml:inkSource>
      <inkml:timestamp xml:id="ts1" timeString="2026-05-03T12:14:36.315"/>
    </inkml:context>
  </inkml:definitions>
  <inkml:trace contextRef="#ctx0" brushRef="#br0">19621 5507,'24'0,"26"0,24 0,-24 0,24 0,26 0,-26 0,25 0,-49 0,-1 0,26 0,-50 0,24 0,1 0,-1 0,-24 0,0 0,0 0,0 0,-1 0,1 0,0 0,0 0,0 0,-25 24,25-24,-1 0</inkml:trace>
  <inkml:trace contextRef="#ctx1" brushRef="#br0">7485 16512,'0'0,"0"0,0 0,332 11,-239-1,1 0,61-10,-134 0,-42 0,21 0</inkml:trace>
  <inkml:trace contextRef="#ctx1" brushRef="#br0" timeOffset="1700.1029">21603 15415,'0'0,"0"0,0 0,0 0,0 0,0 0,-21 0,-10 0,-11 0,1 0,20 0,-10 11,-21-1,0 1,0 10,31-11,-10 1,-31 20,10 11,31-21,-10-1,-10 22,9 0,1 0,21-21,-1 10,1 21,10 11,0 0,0-32,10 0,22 42,9 11,-10-42,0-1,42 43,21 0,20-1,-52-41,0-11,104 42,21 0,62 1,-145-43,-10 0,134 32,0 10,-93-31,0 0,135 41,0-10,31-21,-166-31,-10 0,176 11,-42-12,42 1,-145-10,0-11,103-11,32-20,-167 10,-20-10,177-42,-53 10,-20 0,-94 22,10-12,53-41,-42 11,-11-11,-61 42,-12-1,33-51,-43 20,-20 43,-11-1,11-63,-21 1,-42 10,22 52,-1 0,-73-41,-30-11,-63-11,94 53,-1 0,-176-53,21 22,114 41,0 0,-176-20,10-1,-31 11,165 31,1 0,-145-10,-42-1,-10 11,186 11,-10 0,-145-1,21 1,176 10,10-11,-134 11,20 0,11 11,113-1,12-10,-32 0,135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56182" y="399034"/>
            <a:ext cx="284797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386E52"/>
                </a:solidFill>
                <a:latin typeface="Leelawadee UI"/>
                <a:cs typeface="Leelawade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386E52"/>
                </a:solidFill>
                <a:latin typeface="Leelawadee UI"/>
                <a:cs typeface="Leelawade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09929" y="1655835"/>
            <a:ext cx="5116830" cy="432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C4177"/>
                </a:solidFill>
                <a:latin typeface="Leelawadee UI"/>
                <a:cs typeface="Leelawade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9195" y="1693291"/>
            <a:ext cx="5142230" cy="4766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C4177"/>
                </a:solidFill>
                <a:latin typeface="Leelawadee UI"/>
                <a:cs typeface="Leelawadee U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" y="0"/>
            <a:ext cx="1166352" cy="236677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549396"/>
            <a:ext cx="219456" cy="66141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482084"/>
            <a:ext cx="242315" cy="23622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4027" y="4867655"/>
            <a:ext cx="975845" cy="199034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71612" y="0"/>
            <a:ext cx="529304" cy="62636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532107" y="5551932"/>
            <a:ext cx="507492" cy="129692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31168" y="4572"/>
            <a:ext cx="384048" cy="172516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40668" y="4867655"/>
            <a:ext cx="384048" cy="1981199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10838688" y="0"/>
            <a:ext cx="1353820" cy="1353820"/>
          </a:xfrm>
          <a:custGeom>
            <a:avLst/>
            <a:gdLst/>
            <a:ahLst/>
            <a:cxnLst/>
            <a:rect l="l" t="t" r="r" b="b"/>
            <a:pathLst>
              <a:path w="1353820" h="1353820">
                <a:moveTo>
                  <a:pt x="1353311" y="0"/>
                </a:moveTo>
                <a:lnTo>
                  <a:pt x="0" y="0"/>
                </a:lnTo>
                <a:lnTo>
                  <a:pt x="0" y="1353312"/>
                </a:lnTo>
                <a:lnTo>
                  <a:pt x="1353311" y="1353312"/>
                </a:lnTo>
                <a:lnTo>
                  <a:pt x="1353311" y="0"/>
                </a:lnTo>
                <a:close/>
              </a:path>
            </a:pathLst>
          </a:custGeom>
          <a:solidFill>
            <a:srgbClr val="9ACD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485376" y="0"/>
            <a:ext cx="1353820" cy="1353820"/>
          </a:xfrm>
          <a:custGeom>
            <a:avLst/>
            <a:gdLst/>
            <a:ahLst/>
            <a:cxnLst/>
            <a:rect l="l" t="t" r="r" b="b"/>
            <a:pathLst>
              <a:path w="1353820" h="1353820">
                <a:moveTo>
                  <a:pt x="1353312" y="0"/>
                </a:moveTo>
                <a:lnTo>
                  <a:pt x="0" y="1353312"/>
                </a:lnTo>
                <a:lnTo>
                  <a:pt x="1353312" y="1353312"/>
                </a:lnTo>
                <a:lnTo>
                  <a:pt x="1353312" y="0"/>
                </a:lnTo>
                <a:close/>
              </a:path>
            </a:pathLst>
          </a:custGeom>
          <a:solidFill>
            <a:srgbClr val="F9A9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485376" y="0"/>
            <a:ext cx="1353820" cy="1353820"/>
          </a:xfrm>
          <a:custGeom>
            <a:avLst/>
            <a:gdLst/>
            <a:ahLst/>
            <a:cxnLst/>
            <a:rect l="l" t="t" r="r" b="b"/>
            <a:pathLst>
              <a:path w="1353820" h="1353820">
                <a:moveTo>
                  <a:pt x="1353312" y="0"/>
                </a:moveTo>
                <a:lnTo>
                  <a:pt x="0" y="0"/>
                </a:lnTo>
                <a:lnTo>
                  <a:pt x="0" y="1353312"/>
                </a:lnTo>
                <a:lnTo>
                  <a:pt x="1353312" y="0"/>
                </a:lnTo>
                <a:close/>
              </a:path>
            </a:pathLst>
          </a:custGeom>
          <a:solidFill>
            <a:srgbClr val="89C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8130540" y="0"/>
            <a:ext cx="1355090" cy="1353820"/>
          </a:xfrm>
          <a:custGeom>
            <a:avLst/>
            <a:gdLst/>
            <a:ahLst/>
            <a:cxnLst/>
            <a:rect l="l" t="t" r="r" b="b"/>
            <a:pathLst>
              <a:path w="1355090" h="1353820">
                <a:moveTo>
                  <a:pt x="1354835" y="0"/>
                </a:moveTo>
                <a:lnTo>
                  <a:pt x="0" y="0"/>
                </a:lnTo>
                <a:lnTo>
                  <a:pt x="1354835" y="1353312"/>
                </a:lnTo>
                <a:lnTo>
                  <a:pt x="1354835" y="0"/>
                </a:lnTo>
                <a:close/>
              </a:path>
            </a:pathLst>
          </a:custGeom>
          <a:solidFill>
            <a:srgbClr val="9ACD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0838688" y="1353311"/>
            <a:ext cx="1353820" cy="1355090"/>
          </a:xfrm>
          <a:custGeom>
            <a:avLst/>
            <a:gdLst/>
            <a:ahLst/>
            <a:cxnLst/>
            <a:rect l="l" t="t" r="r" b="b"/>
            <a:pathLst>
              <a:path w="1353820" h="1355089">
                <a:moveTo>
                  <a:pt x="1353311" y="0"/>
                </a:moveTo>
                <a:lnTo>
                  <a:pt x="0" y="0"/>
                </a:lnTo>
                <a:lnTo>
                  <a:pt x="1353311" y="1354836"/>
                </a:lnTo>
                <a:lnTo>
                  <a:pt x="1353311" y="0"/>
                </a:lnTo>
                <a:close/>
              </a:path>
            </a:pathLst>
          </a:custGeom>
          <a:solidFill>
            <a:srgbClr val="89C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44" y="0"/>
            <a:ext cx="1166352" cy="236677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3549396"/>
            <a:ext cx="219456" cy="66141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4482084"/>
            <a:ext cx="242315" cy="23622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4027" y="4867655"/>
            <a:ext cx="975845" cy="199034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371612" y="0"/>
            <a:ext cx="529304" cy="62636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532107" y="5551932"/>
            <a:ext cx="507492" cy="129692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631168" y="4572"/>
            <a:ext cx="384048" cy="172516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440668" y="4867655"/>
            <a:ext cx="384048" cy="1981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4487" y="136397"/>
            <a:ext cx="9955047" cy="1610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9508" y="1320545"/>
            <a:ext cx="10635615" cy="2626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386E52"/>
                </a:solidFill>
                <a:latin typeface="Leelawadee UI"/>
                <a:cs typeface="Leelawade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2.jp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29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30.jp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49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5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5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5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56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66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0.emf"/><Relationship Id="rId4" Type="http://schemas.openxmlformats.org/officeDocument/2006/relationships/customXml" Target="../ink/ink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838688" y="0"/>
              <a:ext cx="1353820" cy="1353820"/>
            </a:xfrm>
            <a:custGeom>
              <a:avLst/>
              <a:gdLst/>
              <a:ahLst/>
              <a:cxnLst/>
              <a:rect l="l" t="t" r="r" b="b"/>
              <a:pathLst>
                <a:path w="1353820" h="1353820">
                  <a:moveTo>
                    <a:pt x="1353311" y="0"/>
                  </a:moveTo>
                  <a:lnTo>
                    <a:pt x="0" y="0"/>
                  </a:lnTo>
                  <a:lnTo>
                    <a:pt x="0" y="1353312"/>
                  </a:lnTo>
                  <a:lnTo>
                    <a:pt x="1353311" y="1353312"/>
                  </a:lnTo>
                  <a:lnTo>
                    <a:pt x="1353311" y="0"/>
                  </a:lnTo>
                  <a:close/>
                </a:path>
              </a:pathLst>
            </a:custGeom>
            <a:solidFill>
              <a:srgbClr val="9ACD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85376" y="0"/>
              <a:ext cx="1353820" cy="1353820"/>
            </a:xfrm>
            <a:custGeom>
              <a:avLst/>
              <a:gdLst/>
              <a:ahLst/>
              <a:cxnLst/>
              <a:rect l="l" t="t" r="r" b="b"/>
              <a:pathLst>
                <a:path w="1353820" h="1353820">
                  <a:moveTo>
                    <a:pt x="1353312" y="0"/>
                  </a:moveTo>
                  <a:lnTo>
                    <a:pt x="0" y="1353312"/>
                  </a:lnTo>
                  <a:lnTo>
                    <a:pt x="1353312" y="1353312"/>
                  </a:lnTo>
                  <a:lnTo>
                    <a:pt x="1353312" y="0"/>
                  </a:lnTo>
                  <a:close/>
                </a:path>
              </a:pathLst>
            </a:custGeom>
            <a:solidFill>
              <a:srgbClr val="F9A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85376" y="0"/>
              <a:ext cx="1353820" cy="1353820"/>
            </a:xfrm>
            <a:custGeom>
              <a:avLst/>
              <a:gdLst/>
              <a:ahLst/>
              <a:cxnLst/>
              <a:rect l="l" t="t" r="r" b="b"/>
              <a:pathLst>
                <a:path w="1353820" h="1353820">
                  <a:moveTo>
                    <a:pt x="1353312" y="0"/>
                  </a:moveTo>
                  <a:lnTo>
                    <a:pt x="0" y="0"/>
                  </a:lnTo>
                  <a:lnTo>
                    <a:pt x="0" y="1353312"/>
                  </a:lnTo>
                  <a:lnTo>
                    <a:pt x="1353312" y="0"/>
                  </a:lnTo>
                  <a:close/>
                </a:path>
              </a:pathLst>
            </a:custGeom>
            <a:solidFill>
              <a:srgbClr val="89C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30540" y="0"/>
              <a:ext cx="1355090" cy="1353820"/>
            </a:xfrm>
            <a:custGeom>
              <a:avLst/>
              <a:gdLst/>
              <a:ahLst/>
              <a:cxnLst/>
              <a:rect l="l" t="t" r="r" b="b"/>
              <a:pathLst>
                <a:path w="1355090" h="1353820">
                  <a:moveTo>
                    <a:pt x="1354835" y="0"/>
                  </a:moveTo>
                  <a:lnTo>
                    <a:pt x="0" y="0"/>
                  </a:lnTo>
                  <a:lnTo>
                    <a:pt x="1354835" y="1353312"/>
                  </a:lnTo>
                  <a:lnTo>
                    <a:pt x="1354835" y="0"/>
                  </a:lnTo>
                  <a:close/>
                </a:path>
              </a:pathLst>
            </a:custGeom>
            <a:solidFill>
              <a:srgbClr val="9ACD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838688" y="1353311"/>
              <a:ext cx="1353820" cy="1355090"/>
            </a:xfrm>
            <a:custGeom>
              <a:avLst/>
              <a:gdLst/>
              <a:ahLst/>
              <a:cxnLst/>
              <a:rect l="l" t="t" r="r" b="b"/>
              <a:pathLst>
                <a:path w="1353820" h="1355089">
                  <a:moveTo>
                    <a:pt x="1353311" y="0"/>
                  </a:moveTo>
                  <a:lnTo>
                    <a:pt x="0" y="0"/>
                  </a:lnTo>
                  <a:lnTo>
                    <a:pt x="1353311" y="1354836"/>
                  </a:lnTo>
                  <a:lnTo>
                    <a:pt x="1353311" y="0"/>
                  </a:lnTo>
                  <a:close/>
                </a:path>
              </a:pathLst>
            </a:custGeom>
            <a:solidFill>
              <a:srgbClr val="89C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423542" y="2745485"/>
            <a:ext cx="8849995" cy="676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250" b="1" dirty="0">
                <a:latin typeface="Arial"/>
                <a:cs typeface="Arial"/>
              </a:rPr>
              <a:t>Cloud</a:t>
            </a:r>
            <a:r>
              <a:rPr sz="4250" b="1" spc="-15" dirty="0">
                <a:latin typeface="Arial"/>
                <a:cs typeface="Arial"/>
              </a:rPr>
              <a:t> </a:t>
            </a:r>
            <a:r>
              <a:rPr sz="4250" b="1" dirty="0">
                <a:latin typeface="Arial"/>
                <a:cs typeface="Arial"/>
              </a:rPr>
              <a:t>and</a:t>
            </a:r>
            <a:r>
              <a:rPr sz="4250" b="1" spc="-10" dirty="0">
                <a:latin typeface="Arial"/>
                <a:cs typeface="Arial"/>
              </a:rPr>
              <a:t> </a:t>
            </a:r>
            <a:r>
              <a:rPr sz="4250" b="1" dirty="0">
                <a:latin typeface="Arial"/>
                <a:cs typeface="Arial"/>
              </a:rPr>
              <a:t>Virtualization</a:t>
            </a:r>
            <a:r>
              <a:rPr sz="4250" b="1" spc="-15" dirty="0">
                <a:latin typeface="Arial"/>
                <a:cs typeface="Arial"/>
              </a:rPr>
              <a:t> </a:t>
            </a:r>
            <a:r>
              <a:rPr sz="4250" b="1" spc="-10" dirty="0">
                <a:latin typeface="Arial"/>
                <a:cs typeface="Arial"/>
              </a:rPr>
              <a:t>Concepts</a:t>
            </a:r>
            <a:endParaRPr sz="4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2426" rIns="0" bIns="0" rtlCol="0">
            <a:spAutoFit/>
          </a:bodyPr>
          <a:lstStyle/>
          <a:p>
            <a:pPr marL="107632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3C96DE"/>
                </a:solidFill>
              </a:rPr>
              <a:t>Why</a:t>
            </a:r>
            <a:r>
              <a:rPr sz="3600" spc="-15" dirty="0">
                <a:solidFill>
                  <a:srgbClr val="3C96DE"/>
                </a:solidFill>
              </a:rPr>
              <a:t> </a:t>
            </a:r>
            <a:r>
              <a:rPr sz="3600" dirty="0">
                <a:solidFill>
                  <a:srgbClr val="3C96DE"/>
                </a:solidFill>
              </a:rPr>
              <a:t>learn</a:t>
            </a:r>
            <a:r>
              <a:rPr sz="3600" spc="-30" dirty="0">
                <a:solidFill>
                  <a:srgbClr val="3C96DE"/>
                </a:solidFill>
              </a:rPr>
              <a:t> </a:t>
            </a:r>
            <a:r>
              <a:rPr sz="3600" spc="-10" dirty="0">
                <a:solidFill>
                  <a:srgbClr val="3C96DE"/>
                </a:solidFill>
              </a:rPr>
              <a:t>virtualization?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487805" y="2967685"/>
            <a:ext cx="947610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Microsoft Sans Serif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Modern</a:t>
            </a:r>
            <a:r>
              <a:rPr sz="2400" spc="-5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computing</a:t>
            </a:r>
            <a:r>
              <a:rPr sz="2400" spc="-3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is</a:t>
            </a:r>
            <a:r>
              <a:rPr sz="2400" spc="-4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more</a:t>
            </a:r>
            <a:r>
              <a:rPr sz="2400" spc="-5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efficient</a:t>
            </a:r>
            <a:r>
              <a:rPr sz="2400" spc="-4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due</a:t>
            </a:r>
            <a:r>
              <a:rPr sz="2400" spc="-4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C4177"/>
                </a:solidFill>
                <a:latin typeface="Arial MT"/>
                <a:cs typeface="Arial MT"/>
              </a:rPr>
              <a:t>virtualization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icrosoft Sans Serif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Microsoft Sans Serif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Virtualization</a:t>
            </a:r>
            <a:r>
              <a:rPr sz="2400" spc="-4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can</a:t>
            </a:r>
            <a:r>
              <a:rPr sz="2400" spc="-6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be</a:t>
            </a:r>
            <a:r>
              <a:rPr sz="2400" spc="-7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used</a:t>
            </a:r>
            <a:r>
              <a:rPr sz="2400" spc="-6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for</a:t>
            </a:r>
            <a:r>
              <a:rPr sz="2400" spc="-7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mobile,</a:t>
            </a:r>
            <a:r>
              <a:rPr sz="2400" spc="-5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personal</a:t>
            </a:r>
            <a:r>
              <a:rPr sz="2400" spc="-4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cloud</a:t>
            </a:r>
            <a:r>
              <a:rPr sz="2400" spc="-5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C4177"/>
                </a:solidFill>
                <a:latin typeface="Arial MT"/>
                <a:cs typeface="Arial MT"/>
              </a:rPr>
              <a:t>computing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Microsoft Sans Serif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Microsoft Sans Serif"/>
              <a:buChar char="•"/>
              <a:tabLst>
                <a:tab pos="299085" algn="l"/>
              </a:tabLst>
            </a:pPr>
            <a:r>
              <a:rPr sz="2400" spc="-50" dirty="0">
                <a:solidFill>
                  <a:srgbClr val="2C4177"/>
                </a:solidFill>
                <a:latin typeface="Arial MT"/>
                <a:cs typeface="Arial MT"/>
              </a:rPr>
              <a:t>You</a:t>
            </a:r>
            <a:r>
              <a:rPr sz="2400" spc="-8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can</a:t>
            </a:r>
            <a:r>
              <a:rPr sz="2400" spc="-7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also</a:t>
            </a:r>
            <a:r>
              <a:rPr sz="2400" spc="-7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use</a:t>
            </a:r>
            <a:r>
              <a:rPr sz="2400" spc="-7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virtualization</a:t>
            </a:r>
            <a:r>
              <a:rPr sz="2400" spc="-5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in</a:t>
            </a:r>
            <a:r>
              <a:rPr sz="2400" spc="-8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your</a:t>
            </a:r>
            <a:r>
              <a:rPr sz="2400" spc="-7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personal</a:t>
            </a:r>
            <a:r>
              <a:rPr sz="2400" spc="-6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C4177"/>
                </a:solidFill>
                <a:latin typeface="Arial MT"/>
                <a:cs typeface="Arial MT"/>
              </a:rPr>
              <a:t>life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4733" rIns="0" bIns="0" rtlCol="0">
            <a:spAutoFit/>
          </a:bodyPr>
          <a:lstStyle/>
          <a:p>
            <a:pPr marL="907415">
              <a:lnSpc>
                <a:spcPct val="100000"/>
              </a:lnSpc>
              <a:spcBef>
                <a:spcPts val="100"/>
              </a:spcBef>
            </a:pPr>
            <a:r>
              <a:rPr sz="3600" spc="-475" dirty="0">
                <a:solidFill>
                  <a:srgbClr val="0D3553"/>
                </a:solidFill>
              </a:rPr>
              <a:t>THIS</a:t>
            </a:r>
            <a:r>
              <a:rPr sz="3600" spc="-20" dirty="0">
                <a:solidFill>
                  <a:srgbClr val="0D3553"/>
                </a:solidFill>
              </a:rPr>
              <a:t> </a:t>
            </a:r>
            <a:r>
              <a:rPr sz="3600" spc="-430" dirty="0">
                <a:solidFill>
                  <a:srgbClr val="0D3553"/>
                </a:solidFill>
              </a:rPr>
              <a:t>CONTENT</a:t>
            </a:r>
            <a:r>
              <a:rPr sz="3600" spc="-5" dirty="0">
                <a:solidFill>
                  <a:srgbClr val="0D3553"/>
                </a:solidFill>
              </a:rPr>
              <a:t> </a:t>
            </a:r>
            <a:r>
              <a:rPr sz="3600" spc="-315" dirty="0">
                <a:solidFill>
                  <a:srgbClr val="0D3553"/>
                </a:solidFill>
              </a:rPr>
              <a:t>WILL</a:t>
            </a:r>
            <a:r>
              <a:rPr sz="3600" dirty="0">
                <a:solidFill>
                  <a:srgbClr val="0D3553"/>
                </a:solidFill>
              </a:rPr>
              <a:t> </a:t>
            </a:r>
            <a:r>
              <a:rPr sz="3600" spc="-625" dirty="0">
                <a:solidFill>
                  <a:srgbClr val="0D3553"/>
                </a:solidFill>
              </a:rPr>
              <a:t>HELP</a:t>
            </a:r>
            <a:r>
              <a:rPr sz="3600" dirty="0">
                <a:solidFill>
                  <a:srgbClr val="0D3553"/>
                </a:solidFill>
              </a:rPr>
              <a:t> </a:t>
            </a:r>
            <a:r>
              <a:rPr sz="3600" spc="-370" dirty="0">
                <a:solidFill>
                  <a:srgbClr val="0D3553"/>
                </a:solidFill>
              </a:rPr>
              <a:t>YOU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389380" y="2568321"/>
            <a:ext cx="931164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Understand</a:t>
            </a:r>
            <a:r>
              <a:rPr sz="2400" spc="-6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benefits</a:t>
            </a:r>
            <a:r>
              <a:rPr sz="2400" spc="-7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of</a:t>
            </a:r>
            <a:r>
              <a:rPr sz="2400" spc="-7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C4177"/>
                </a:solidFill>
                <a:latin typeface="Arial MT"/>
                <a:cs typeface="Arial MT"/>
              </a:rPr>
              <a:t>virtualization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C4177"/>
              </a:buClr>
              <a:buFont typeface="Microsoft Sans Serif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Be</a:t>
            </a:r>
            <a:r>
              <a:rPr sz="2400" spc="-10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able</a:t>
            </a:r>
            <a:r>
              <a:rPr sz="2400" spc="-8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to</a:t>
            </a:r>
            <a:r>
              <a:rPr sz="2400" spc="-8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describe</a:t>
            </a:r>
            <a:r>
              <a:rPr sz="2400" spc="-7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virtualization,</a:t>
            </a:r>
            <a:r>
              <a:rPr sz="2400" spc="-7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virtual</a:t>
            </a:r>
            <a:r>
              <a:rPr sz="2400" spc="-8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machines</a:t>
            </a:r>
            <a:r>
              <a:rPr sz="2400" spc="-7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and</a:t>
            </a:r>
            <a:r>
              <a:rPr sz="2400" spc="-9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C4177"/>
                </a:solidFill>
                <a:latin typeface="Arial MT"/>
                <a:cs typeface="Arial MT"/>
              </a:rPr>
              <a:t>hypervisors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C4177"/>
              </a:buClr>
              <a:buFont typeface="Microsoft Sans Serif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Describe</a:t>
            </a:r>
            <a:r>
              <a:rPr sz="2400" spc="-4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typical</a:t>
            </a:r>
            <a:r>
              <a:rPr sz="2400" spc="-5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data</a:t>
            </a:r>
            <a:r>
              <a:rPr sz="2400" spc="-6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center</a:t>
            </a:r>
            <a:r>
              <a:rPr sz="2400" spc="-6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components</a:t>
            </a:r>
            <a:r>
              <a:rPr sz="2400" spc="-5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that</a:t>
            </a:r>
            <a:r>
              <a:rPr sz="2400" spc="-8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are</a:t>
            </a:r>
            <a:r>
              <a:rPr sz="2400" spc="-5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C4177"/>
                </a:solidFill>
                <a:latin typeface="Arial MT"/>
                <a:cs typeface="Arial MT"/>
              </a:rPr>
              <a:t>virtualized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Clr>
                <a:srgbClr val="2C4177"/>
              </a:buClr>
              <a:buFont typeface="Microsoft Sans Serif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Become</a:t>
            </a:r>
            <a:r>
              <a:rPr sz="2400" spc="-8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familiar</a:t>
            </a:r>
            <a:r>
              <a:rPr sz="2400" spc="-7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with</a:t>
            </a:r>
            <a:r>
              <a:rPr sz="2400" spc="-9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VMware</a:t>
            </a:r>
            <a:r>
              <a:rPr sz="2400" spc="-8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technology</a:t>
            </a:r>
            <a:r>
              <a:rPr sz="2400" spc="-7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popular</a:t>
            </a:r>
            <a:r>
              <a:rPr sz="2400" spc="-7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C4177"/>
                </a:solidFill>
                <a:latin typeface="Arial MT"/>
                <a:cs typeface="Arial MT"/>
              </a:rPr>
              <a:t>in</a:t>
            </a:r>
            <a:r>
              <a:rPr sz="2400" spc="-10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C4177"/>
                </a:solidFill>
                <a:latin typeface="Arial MT"/>
                <a:cs typeface="Arial MT"/>
              </a:rPr>
              <a:t>industry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78398" y="4021201"/>
            <a:ext cx="1135380" cy="350520"/>
          </a:xfrm>
          <a:custGeom>
            <a:avLst/>
            <a:gdLst/>
            <a:ahLst/>
            <a:cxnLst/>
            <a:rect l="l" t="t" r="r" b="b"/>
            <a:pathLst>
              <a:path w="1135379" h="350520">
                <a:moveTo>
                  <a:pt x="1134770" y="0"/>
                </a:moveTo>
                <a:lnTo>
                  <a:pt x="0" y="0"/>
                </a:lnTo>
                <a:lnTo>
                  <a:pt x="0" y="350520"/>
                </a:lnTo>
                <a:lnTo>
                  <a:pt x="1134770" y="350520"/>
                </a:lnTo>
                <a:lnTo>
                  <a:pt x="1134770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81671" y="3289680"/>
            <a:ext cx="1043940" cy="350520"/>
          </a:xfrm>
          <a:custGeom>
            <a:avLst/>
            <a:gdLst/>
            <a:ahLst/>
            <a:cxnLst/>
            <a:rect l="l" t="t" r="r" b="b"/>
            <a:pathLst>
              <a:path w="1043940" h="350520">
                <a:moveTo>
                  <a:pt x="1043940" y="0"/>
                </a:moveTo>
                <a:lnTo>
                  <a:pt x="0" y="0"/>
                </a:lnTo>
                <a:lnTo>
                  <a:pt x="0" y="350519"/>
                </a:lnTo>
                <a:lnTo>
                  <a:pt x="1043940" y="350519"/>
                </a:lnTo>
                <a:lnTo>
                  <a:pt x="1043940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77870" y="3289680"/>
            <a:ext cx="1066165" cy="350520"/>
          </a:xfrm>
          <a:custGeom>
            <a:avLst/>
            <a:gdLst/>
            <a:ahLst/>
            <a:cxnLst/>
            <a:rect l="l" t="t" r="r" b="b"/>
            <a:pathLst>
              <a:path w="1066164" h="350520">
                <a:moveTo>
                  <a:pt x="1065581" y="0"/>
                </a:moveTo>
                <a:lnTo>
                  <a:pt x="0" y="0"/>
                </a:lnTo>
                <a:lnTo>
                  <a:pt x="0" y="350519"/>
                </a:lnTo>
                <a:lnTo>
                  <a:pt x="1065581" y="350519"/>
                </a:lnTo>
                <a:lnTo>
                  <a:pt x="1065581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object 6"/>
            <p:cNvSpPr/>
            <p:nvPr/>
          </p:nvSpPr>
          <p:spPr>
            <a:xfrm>
              <a:off x="5729630" y="1826386"/>
              <a:ext cx="1880870" cy="350520"/>
            </a:xfrm>
            <a:custGeom>
              <a:avLst/>
              <a:gdLst/>
              <a:ahLst/>
              <a:cxnLst/>
              <a:rect l="l" t="t" r="r" b="b"/>
              <a:pathLst>
                <a:path w="1880870" h="350519">
                  <a:moveTo>
                    <a:pt x="1880615" y="0"/>
                  </a:moveTo>
                  <a:lnTo>
                    <a:pt x="0" y="0"/>
                  </a:lnTo>
                  <a:lnTo>
                    <a:pt x="0" y="350519"/>
                  </a:lnTo>
                  <a:lnTo>
                    <a:pt x="1880615" y="350519"/>
                  </a:lnTo>
                  <a:lnTo>
                    <a:pt x="1880615" y="0"/>
                  </a:lnTo>
                  <a:close/>
                </a:path>
              </a:pathLst>
            </a:custGeom>
            <a:solidFill>
              <a:srgbClr val="FFE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825" rIns="0" bIns="0" rtlCol="0">
            <a:spAutoFit/>
          </a:bodyPr>
          <a:lstStyle/>
          <a:p>
            <a:pPr marL="1019810">
              <a:lnSpc>
                <a:spcPct val="100000"/>
              </a:lnSpc>
              <a:spcBef>
                <a:spcPts val="100"/>
              </a:spcBef>
            </a:pPr>
            <a:r>
              <a:rPr sz="5400" spc="-575" dirty="0">
                <a:solidFill>
                  <a:srgbClr val="0D3553"/>
                </a:solidFill>
              </a:rPr>
              <a:t>VIRTUALIZATION</a:t>
            </a:r>
            <a:r>
              <a:rPr sz="5400" spc="-35" dirty="0">
                <a:solidFill>
                  <a:srgbClr val="0D3553"/>
                </a:solidFill>
              </a:rPr>
              <a:t> </a:t>
            </a:r>
            <a:r>
              <a:rPr sz="5400" spc="-869" dirty="0">
                <a:solidFill>
                  <a:srgbClr val="0D3553"/>
                </a:solidFill>
              </a:rPr>
              <a:t>BENEFITS</a:t>
            </a:r>
            <a:endParaRPr sz="5400"/>
          </a:p>
        </p:txBody>
      </p:sp>
      <p:sp>
        <p:nvSpPr>
          <p:cNvPr id="17" name="object 17"/>
          <p:cNvSpPr txBox="1"/>
          <p:nvPr/>
        </p:nvSpPr>
        <p:spPr>
          <a:xfrm>
            <a:off x="953211" y="1767966"/>
            <a:ext cx="1044892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Have</a:t>
            </a:r>
            <a:r>
              <a:rPr sz="2400" spc="-6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you</a:t>
            </a:r>
            <a:r>
              <a:rPr sz="2400" spc="-7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ever</a:t>
            </a:r>
            <a:r>
              <a:rPr sz="2400" spc="-6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wished</a:t>
            </a:r>
            <a:r>
              <a:rPr sz="2400" spc="-5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you</a:t>
            </a:r>
            <a:r>
              <a:rPr sz="2400" spc="-7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could</a:t>
            </a:r>
            <a:r>
              <a:rPr sz="2400" spc="-5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clone</a:t>
            </a:r>
            <a:r>
              <a:rPr sz="2400" spc="-6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D3553"/>
                </a:solidFill>
                <a:latin typeface="Arial MT"/>
                <a:cs typeface="Arial MT"/>
              </a:rPr>
              <a:t>yourself?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D3553"/>
              </a:buClr>
              <a:buFont typeface="Microsoft Sans Serif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  <a:tab pos="6071870" algn="l"/>
              </a:tabLst>
            </a:pP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If</a:t>
            </a:r>
            <a:r>
              <a:rPr sz="2400" spc="-6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you</a:t>
            </a:r>
            <a:r>
              <a:rPr sz="2400" spc="-5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could,</a:t>
            </a:r>
            <a:r>
              <a:rPr sz="2400" spc="-4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would</a:t>
            </a:r>
            <a:r>
              <a:rPr sz="24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you</a:t>
            </a:r>
            <a:r>
              <a:rPr sz="2400" spc="-4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be</a:t>
            </a:r>
            <a:r>
              <a:rPr sz="2400" spc="-5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more</a:t>
            </a:r>
            <a:r>
              <a:rPr sz="2400" spc="-6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D3553"/>
                </a:solidFill>
                <a:latin typeface="Arial MT"/>
                <a:cs typeface="Arial MT"/>
              </a:rPr>
              <a:t>efficient?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	Would</a:t>
            </a:r>
            <a:r>
              <a:rPr sz="2400" spc="-6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you</a:t>
            </a:r>
            <a:r>
              <a:rPr sz="2400" spc="-6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do</a:t>
            </a:r>
            <a:r>
              <a:rPr sz="2400" spc="-6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D3553"/>
                </a:solidFill>
                <a:latin typeface="Arial MT"/>
                <a:cs typeface="Arial MT"/>
              </a:rPr>
              <a:t>more?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D3553"/>
              </a:buClr>
              <a:buFont typeface="Microsoft Sans Serif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sz="2400" spc="-10" dirty="0">
                <a:solidFill>
                  <a:srgbClr val="0D3553"/>
                </a:solidFill>
                <a:latin typeface="Arial MT"/>
                <a:cs typeface="Arial MT"/>
              </a:rPr>
              <a:t>Virtualization</a:t>
            </a:r>
            <a:r>
              <a:rPr sz="2400" spc="-4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enables</a:t>
            </a:r>
            <a:r>
              <a:rPr sz="2400" spc="-3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computers</a:t>
            </a:r>
            <a:r>
              <a:rPr sz="2400" spc="-8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to</a:t>
            </a:r>
            <a:r>
              <a:rPr sz="2400" spc="-7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be</a:t>
            </a:r>
            <a:r>
              <a:rPr sz="2400" spc="-6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more</a:t>
            </a:r>
            <a:r>
              <a:rPr sz="2400" spc="-7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efficient</a:t>
            </a:r>
            <a:r>
              <a:rPr sz="2400" spc="-6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in</a:t>
            </a:r>
            <a:r>
              <a:rPr sz="2400" spc="-8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a</a:t>
            </a:r>
            <a:r>
              <a:rPr sz="2400" spc="-6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similar</a:t>
            </a:r>
            <a:r>
              <a:rPr sz="2400" spc="-6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D3553"/>
                </a:solidFill>
                <a:latin typeface="Arial MT"/>
                <a:cs typeface="Arial MT"/>
              </a:rPr>
              <a:t>fashion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D3553"/>
              </a:buClr>
              <a:buFont typeface="Microsoft Sans Serif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Computers</a:t>
            </a:r>
            <a:r>
              <a:rPr sz="2400" spc="-9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that</a:t>
            </a:r>
            <a:r>
              <a:rPr sz="2400" spc="-10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use</a:t>
            </a:r>
            <a:r>
              <a:rPr sz="2400" spc="-9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virtualization</a:t>
            </a:r>
            <a:r>
              <a:rPr sz="2400" spc="-7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optimize</a:t>
            </a:r>
            <a:r>
              <a:rPr sz="2400" spc="-9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the</a:t>
            </a:r>
            <a:r>
              <a:rPr sz="2400" spc="-9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available</a:t>
            </a:r>
            <a:r>
              <a:rPr sz="2400" spc="-6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compute</a:t>
            </a:r>
            <a:r>
              <a:rPr sz="2400" spc="-10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D3553"/>
                </a:solidFill>
                <a:latin typeface="Arial MT"/>
                <a:cs typeface="Arial MT"/>
              </a:rPr>
              <a:t>resources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93748" y="4400049"/>
            <a:ext cx="8869680" cy="2371090"/>
            <a:chOff x="1793748" y="4400049"/>
            <a:chExt cx="8869680" cy="2371090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93748" y="4527802"/>
              <a:ext cx="8869680" cy="224332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05403" y="4400049"/>
              <a:ext cx="152400" cy="1524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10793" y="4804936"/>
              <a:ext cx="1524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54337" y="4260850"/>
            <a:ext cx="1948180" cy="350520"/>
          </a:xfrm>
          <a:custGeom>
            <a:avLst/>
            <a:gdLst/>
            <a:ahLst/>
            <a:cxnLst/>
            <a:rect l="l" t="t" r="r" b="b"/>
            <a:pathLst>
              <a:path w="1948179" h="350520">
                <a:moveTo>
                  <a:pt x="1947671" y="0"/>
                </a:moveTo>
                <a:lnTo>
                  <a:pt x="0" y="0"/>
                </a:lnTo>
                <a:lnTo>
                  <a:pt x="0" y="350519"/>
                </a:lnTo>
                <a:lnTo>
                  <a:pt x="1947671" y="350519"/>
                </a:lnTo>
                <a:lnTo>
                  <a:pt x="1947671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42987" y="2617083"/>
            <a:ext cx="1883410" cy="351155"/>
          </a:xfrm>
          <a:custGeom>
            <a:avLst/>
            <a:gdLst/>
            <a:ahLst/>
            <a:cxnLst/>
            <a:rect l="l" t="t" r="r" b="b"/>
            <a:pathLst>
              <a:path w="1883410" h="351155">
                <a:moveTo>
                  <a:pt x="1882801" y="0"/>
                </a:moveTo>
                <a:lnTo>
                  <a:pt x="0" y="0"/>
                </a:lnTo>
                <a:lnTo>
                  <a:pt x="0" y="350870"/>
                </a:lnTo>
                <a:lnTo>
                  <a:pt x="1882801" y="350870"/>
                </a:lnTo>
                <a:lnTo>
                  <a:pt x="1882801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object 5"/>
            <p:cNvSpPr/>
            <p:nvPr/>
          </p:nvSpPr>
          <p:spPr>
            <a:xfrm>
              <a:off x="2572816" y="3713353"/>
              <a:ext cx="2122170" cy="350520"/>
            </a:xfrm>
            <a:custGeom>
              <a:avLst/>
              <a:gdLst/>
              <a:ahLst/>
              <a:cxnLst/>
              <a:rect l="l" t="t" r="r" b="b"/>
              <a:pathLst>
                <a:path w="2122170" h="350520">
                  <a:moveTo>
                    <a:pt x="2121713" y="0"/>
                  </a:moveTo>
                  <a:lnTo>
                    <a:pt x="0" y="0"/>
                  </a:lnTo>
                  <a:lnTo>
                    <a:pt x="0" y="350519"/>
                  </a:lnTo>
                  <a:lnTo>
                    <a:pt x="2121713" y="350519"/>
                  </a:lnTo>
                  <a:lnTo>
                    <a:pt x="2121713" y="0"/>
                  </a:lnTo>
                  <a:close/>
                </a:path>
              </a:pathLst>
            </a:custGeom>
            <a:solidFill>
              <a:srgbClr val="FFE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10285" y="414735"/>
            <a:ext cx="10906760" cy="5567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66420" indent="914400">
              <a:lnSpc>
                <a:spcPct val="142900"/>
              </a:lnSpc>
              <a:spcBef>
                <a:spcPts val="95"/>
              </a:spcBef>
            </a:pP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Simply</a:t>
            </a:r>
            <a:r>
              <a:rPr sz="24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put,</a:t>
            </a:r>
            <a:r>
              <a:rPr sz="24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virtualization</a:t>
            </a:r>
            <a:r>
              <a:rPr sz="24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sz="2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an</a:t>
            </a:r>
            <a:r>
              <a:rPr sz="24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idea</a:t>
            </a:r>
            <a:r>
              <a:rPr sz="24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sz="24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has</a:t>
            </a:r>
            <a:r>
              <a:rPr sz="24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been</a:t>
            </a:r>
            <a:r>
              <a:rPr sz="2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around</a:t>
            </a:r>
            <a:r>
              <a:rPr sz="2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sz="2400" spc="-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Arial MT"/>
                <a:cs typeface="Arial MT"/>
              </a:rPr>
              <a:t>decades,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originating</a:t>
            </a:r>
            <a:r>
              <a:rPr sz="2400" spc="-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sz="2400" spc="-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1960s</a:t>
            </a:r>
            <a:r>
              <a:rPr sz="2400" spc="-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mainframe</a:t>
            </a:r>
            <a:r>
              <a:rPr sz="2400" spc="-7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Arial MT"/>
                <a:cs typeface="Arial MT"/>
              </a:rPr>
              <a:t>computers.</a:t>
            </a:r>
            <a:endParaRPr sz="2400">
              <a:latin typeface="Arial MT"/>
              <a:cs typeface="Arial MT"/>
            </a:endParaRPr>
          </a:p>
          <a:p>
            <a:pPr marL="12700" marR="901065">
              <a:lnSpc>
                <a:spcPct val="114999"/>
              </a:lnSpc>
              <a:spcBef>
                <a:spcPts val="795"/>
              </a:spcBef>
            </a:pP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Cloud</a:t>
            </a:r>
            <a:r>
              <a:rPr sz="24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Arial MT"/>
                <a:cs typeface="Arial MT"/>
              </a:rPr>
              <a:t>Virtualization</a:t>
            </a:r>
            <a:r>
              <a:rPr sz="24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Concepts</a:t>
            </a:r>
            <a:r>
              <a:rPr sz="2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will</a:t>
            </a:r>
            <a:r>
              <a:rPr sz="24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lead</a:t>
            </a:r>
            <a:r>
              <a:rPr sz="24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you</a:t>
            </a:r>
            <a:r>
              <a:rPr sz="2400" spc="-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Arial MT"/>
                <a:cs typeface="Arial MT"/>
              </a:rPr>
              <a:t>topic-</a:t>
            </a:r>
            <a:r>
              <a:rPr sz="2400" spc="-20" dirty="0">
                <a:solidFill>
                  <a:srgbClr val="333333"/>
                </a:solidFill>
                <a:latin typeface="Arial MT"/>
                <a:cs typeface="Arial MT"/>
              </a:rPr>
              <a:t>by-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topic</a:t>
            </a:r>
            <a:r>
              <a:rPr sz="2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build</a:t>
            </a:r>
            <a:r>
              <a:rPr sz="2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Arial MT"/>
                <a:cs typeface="Arial MT"/>
              </a:rPr>
              <a:t>your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understanding</a:t>
            </a:r>
            <a:r>
              <a:rPr sz="2400" spc="-1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33333"/>
                </a:solidFill>
                <a:latin typeface="Arial MT"/>
                <a:cs typeface="Arial MT"/>
              </a:rPr>
              <a:t>of: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235"/>
              </a:spcBef>
              <a:buSzPct val="41666"/>
              <a:buFont typeface="Symbol"/>
              <a:buChar char=""/>
              <a:tabLst>
                <a:tab pos="355600" algn="l"/>
              </a:tabLst>
            </a:pP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what</a:t>
            </a:r>
            <a:r>
              <a:rPr sz="2400" b="1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virtualization</a:t>
            </a:r>
            <a:r>
              <a:rPr sz="2400" b="1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is,</a:t>
            </a:r>
            <a:r>
              <a:rPr sz="2400" b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2400" b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how</a:t>
            </a:r>
            <a:r>
              <a:rPr sz="2400" b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it</a:t>
            </a:r>
            <a:r>
              <a:rPr sz="2400" b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can</a:t>
            </a:r>
            <a:r>
              <a:rPr sz="2400" b="1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be</a:t>
            </a:r>
            <a:r>
              <a:rPr sz="2400" b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33"/>
                </a:solidFill>
                <a:latin typeface="Arial"/>
                <a:cs typeface="Arial"/>
              </a:rPr>
              <a:t>used,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30"/>
              </a:spcBef>
              <a:buSzPct val="41666"/>
              <a:buFont typeface="Symbol"/>
              <a:buChar char=""/>
              <a:tabLst>
                <a:tab pos="355600" algn="l"/>
              </a:tabLst>
            </a:pP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2400" b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main</a:t>
            </a:r>
            <a:r>
              <a:rPr sz="2400" b="1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components</a:t>
            </a:r>
            <a:r>
              <a:rPr sz="2400" b="1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involved</a:t>
            </a:r>
            <a:r>
              <a:rPr sz="2400" b="1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2400" b="1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33"/>
                </a:solidFill>
                <a:latin typeface="Arial"/>
                <a:cs typeface="Arial"/>
              </a:rPr>
              <a:t>virtualization,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SzPct val="41666"/>
              <a:buFont typeface="Symbol"/>
              <a:buChar char=""/>
              <a:tabLst>
                <a:tab pos="355600" algn="l"/>
              </a:tabLst>
            </a:pP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as</a:t>
            </a:r>
            <a:r>
              <a:rPr sz="2400" b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well</a:t>
            </a:r>
            <a:r>
              <a:rPr sz="2400" b="1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as</a:t>
            </a:r>
            <a:r>
              <a:rPr sz="2400" b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VMware's</a:t>
            </a:r>
            <a:r>
              <a:rPr sz="2400" b="1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role</a:t>
            </a:r>
            <a:r>
              <a:rPr sz="2400" b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2400" b="1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2400" b="1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virtualization</a:t>
            </a:r>
            <a:r>
              <a:rPr sz="2400" b="1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industry</a:t>
            </a:r>
            <a:r>
              <a:rPr sz="2400" b="1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333333"/>
                </a:solidFill>
                <a:latin typeface="Arial"/>
                <a:cs typeface="Arial"/>
              </a:rPr>
              <a:t>and,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30"/>
              </a:spcBef>
              <a:buSzPct val="41666"/>
              <a:buFont typeface="Symbol"/>
              <a:buChar char=""/>
              <a:tabLst>
                <a:tab pos="355600" algn="l"/>
              </a:tabLst>
            </a:pP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how</a:t>
            </a:r>
            <a:r>
              <a:rPr sz="2400" b="1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knowledge</a:t>
            </a:r>
            <a:r>
              <a:rPr sz="2400" b="1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2400" b="1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virtualization</a:t>
            </a:r>
            <a:r>
              <a:rPr sz="2400" b="1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can</a:t>
            </a:r>
            <a:r>
              <a:rPr sz="2400" b="1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lead</a:t>
            </a:r>
            <a:r>
              <a:rPr sz="2400" b="1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2400" b="1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great</a:t>
            </a:r>
            <a:r>
              <a:rPr sz="2400" b="1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career</a:t>
            </a:r>
            <a:r>
              <a:rPr sz="2400" b="1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33"/>
                </a:solidFill>
                <a:latin typeface="Arial"/>
                <a:cs typeface="Arial"/>
              </a:rPr>
              <a:t>opportunities.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14999"/>
              </a:lnSpc>
              <a:spcBef>
                <a:spcPts val="1000"/>
              </a:spcBef>
            </a:pP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While</a:t>
            </a:r>
            <a:r>
              <a:rPr sz="24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virtualization</a:t>
            </a:r>
            <a:r>
              <a:rPr sz="2400" spc="-1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has</a:t>
            </a:r>
            <a:r>
              <a:rPr sz="24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been</a:t>
            </a:r>
            <a:r>
              <a:rPr sz="24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part</a:t>
            </a:r>
            <a:r>
              <a:rPr sz="2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sz="24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sz="2400" spc="-9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landscape</a:t>
            </a:r>
            <a:r>
              <a:rPr sz="2400" spc="-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sz="24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decades,</a:t>
            </a:r>
            <a:r>
              <a:rPr sz="2400" spc="-3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sz="2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sz="24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Arial MT"/>
                <a:cs typeface="Arial MT"/>
              </a:rPr>
              <a:t>only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recently</a:t>
            </a:r>
            <a:r>
              <a:rPr sz="2400" spc="-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(in</a:t>
            </a:r>
            <a:r>
              <a:rPr sz="2400" b="1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33"/>
                </a:solidFill>
                <a:latin typeface="Arial"/>
                <a:cs typeface="Arial"/>
              </a:rPr>
              <a:t>1998)</a:t>
            </a:r>
            <a:r>
              <a:rPr sz="2400" b="1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sz="2400" spc="-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VMware</a:t>
            </a:r>
            <a:r>
              <a:rPr sz="24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delivered</a:t>
            </a:r>
            <a:r>
              <a:rPr sz="240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benefits</a:t>
            </a:r>
            <a:r>
              <a:rPr sz="2400" spc="-5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virtualization</a:t>
            </a:r>
            <a:r>
              <a:rPr sz="2400" spc="-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Arial MT"/>
                <a:cs typeface="Arial MT"/>
              </a:rPr>
              <a:t>industry- 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standard</a:t>
            </a:r>
            <a:r>
              <a:rPr sz="2400" spc="-7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33333"/>
                </a:solidFill>
                <a:latin typeface="Arial MT"/>
                <a:cs typeface="Arial MT"/>
              </a:rPr>
              <a:t>x86-</a:t>
            </a:r>
            <a:r>
              <a:rPr sz="2400" dirty="0">
                <a:solidFill>
                  <a:srgbClr val="333333"/>
                </a:solidFill>
                <a:latin typeface="Arial MT"/>
                <a:cs typeface="Arial MT"/>
              </a:rPr>
              <a:t>based</a:t>
            </a:r>
            <a:r>
              <a:rPr sz="24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Arial MT"/>
                <a:cs typeface="Arial MT"/>
              </a:rPr>
              <a:t>platforms,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1133" y="5194731"/>
            <a:ext cx="3144520" cy="365125"/>
          </a:xfrm>
          <a:custGeom>
            <a:avLst/>
            <a:gdLst/>
            <a:ahLst/>
            <a:cxnLst/>
            <a:rect l="l" t="t" r="r" b="b"/>
            <a:pathLst>
              <a:path w="3144520" h="365125">
                <a:moveTo>
                  <a:pt x="3144446" y="0"/>
                </a:moveTo>
                <a:lnTo>
                  <a:pt x="0" y="0"/>
                </a:lnTo>
                <a:lnTo>
                  <a:pt x="0" y="364540"/>
                </a:lnTo>
                <a:lnTo>
                  <a:pt x="3144446" y="364540"/>
                </a:lnTo>
                <a:lnTo>
                  <a:pt x="3144446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48027" y="4817435"/>
            <a:ext cx="1129030" cy="293370"/>
          </a:xfrm>
          <a:custGeom>
            <a:avLst/>
            <a:gdLst/>
            <a:ahLst/>
            <a:cxnLst/>
            <a:rect l="l" t="t" r="r" b="b"/>
            <a:pathLst>
              <a:path w="1129030" h="293370">
                <a:moveTo>
                  <a:pt x="1128565" y="0"/>
                </a:moveTo>
                <a:lnTo>
                  <a:pt x="0" y="0"/>
                </a:lnTo>
                <a:lnTo>
                  <a:pt x="0" y="293034"/>
                </a:lnTo>
                <a:lnTo>
                  <a:pt x="1128565" y="293034"/>
                </a:lnTo>
                <a:lnTo>
                  <a:pt x="1128565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25662" y="4398822"/>
            <a:ext cx="704215" cy="365125"/>
          </a:xfrm>
          <a:custGeom>
            <a:avLst/>
            <a:gdLst/>
            <a:ahLst/>
            <a:cxnLst/>
            <a:rect l="l" t="t" r="r" b="b"/>
            <a:pathLst>
              <a:path w="704215" h="365125">
                <a:moveTo>
                  <a:pt x="703968" y="0"/>
                </a:moveTo>
                <a:lnTo>
                  <a:pt x="0" y="0"/>
                </a:lnTo>
                <a:lnTo>
                  <a:pt x="0" y="364540"/>
                </a:lnTo>
                <a:lnTo>
                  <a:pt x="703968" y="364540"/>
                </a:lnTo>
                <a:lnTo>
                  <a:pt x="703968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97174" y="4398822"/>
            <a:ext cx="1013460" cy="365125"/>
          </a:xfrm>
          <a:custGeom>
            <a:avLst/>
            <a:gdLst/>
            <a:ahLst/>
            <a:cxnLst/>
            <a:rect l="l" t="t" r="r" b="b"/>
            <a:pathLst>
              <a:path w="1013459" h="365125">
                <a:moveTo>
                  <a:pt x="1013196" y="0"/>
                </a:moveTo>
                <a:lnTo>
                  <a:pt x="0" y="0"/>
                </a:lnTo>
                <a:lnTo>
                  <a:pt x="0" y="364540"/>
                </a:lnTo>
                <a:lnTo>
                  <a:pt x="1013196" y="364540"/>
                </a:lnTo>
                <a:lnTo>
                  <a:pt x="1013196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22294" y="3603294"/>
            <a:ext cx="1194435" cy="365125"/>
          </a:xfrm>
          <a:custGeom>
            <a:avLst/>
            <a:gdLst/>
            <a:ahLst/>
            <a:cxnLst/>
            <a:rect l="l" t="t" r="r" b="b"/>
            <a:pathLst>
              <a:path w="1194434" h="365125">
                <a:moveTo>
                  <a:pt x="1193897" y="0"/>
                </a:moveTo>
                <a:lnTo>
                  <a:pt x="0" y="0"/>
                </a:lnTo>
                <a:lnTo>
                  <a:pt x="0" y="364540"/>
                </a:lnTo>
                <a:lnTo>
                  <a:pt x="1193897" y="364540"/>
                </a:lnTo>
                <a:lnTo>
                  <a:pt x="1193897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94282" y="3603294"/>
            <a:ext cx="1835785" cy="365125"/>
          </a:xfrm>
          <a:custGeom>
            <a:avLst/>
            <a:gdLst/>
            <a:ahLst/>
            <a:cxnLst/>
            <a:rect l="l" t="t" r="r" b="b"/>
            <a:pathLst>
              <a:path w="1835784" h="365125">
                <a:moveTo>
                  <a:pt x="1835765" y="0"/>
                </a:moveTo>
                <a:lnTo>
                  <a:pt x="0" y="0"/>
                </a:lnTo>
                <a:lnTo>
                  <a:pt x="0" y="364540"/>
                </a:lnTo>
                <a:lnTo>
                  <a:pt x="1835765" y="364540"/>
                </a:lnTo>
                <a:lnTo>
                  <a:pt x="1835765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79873" y="3174537"/>
            <a:ext cx="5172075" cy="365125"/>
          </a:xfrm>
          <a:custGeom>
            <a:avLst/>
            <a:gdLst/>
            <a:ahLst/>
            <a:cxnLst/>
            <a:rect l="l" t="t" r="r" b="b"/>
            <a:pathLst>
              <a:path w="5172075" h="365125">
                <a:moveTo>
                  <a:pt x="5171602" y="0"/>
                </a:moveTo>
                <a:lnTo>
                  <a:pt x="0" y="0"/>
                </a:lnTo>
                <a:lnTo>
                  <a:pt x="0" y="364891"/>
                </a:lnTo>
                <a:lnTo>
                  <a:pt x="5171602" y="364891"/>
                </a:lnTo>
                <a:lnTo>
                  <a:pt x="5171602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500379" y="2745028"/>
            <a:ext cx="2068195" cy="365125"/>
          </a:xfrm>
          <a:custGeom>
            <a:avLst/>
            <a:gdLst/>
            <a:ahLst/>
            <a:cxnLst/>
            <a:rect l="l" t="t" r="r" b="b"/>
            <a:pathLst>
              <a:path w="2068195" h="365125">
                <a:moveTo>
                  <a:pt x="2067877" y="0"/>
                </a:moveTo>
                <a:lnTo>
                  <a:pt x="0" y="0"/>
                </a:lnTo>
                <a:lnTo>
                  <a:pt x="0" y="364540"/>
                </a:lnTo>
                <a:lnTo>
                  <a:pt x="2067877" y="364540"/>
                </a:lnTo>
                <a:lnTo>
                  <a:pt x="2067877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45861" y="2745028"/>
            <a:ext cx="1147445" cy="365125"/>
          </a:xfrm>
          <a:custGeom>
            <a:avLst/>
            <a:gdLst/>
            <a:ahLst/>
            <a:cxnLst/>
            <a:rect l="l" t="t" r="r" b="b"/>
            <a:pathLst>
              <a:path w="1147445" h="365125">
                <a:moveTo>
                  <a:pt x="1147321" y="0"/>
                </a:moveTo>
                <a:lnTo>
                  <a:pt x="0" y="0"/>
                </a:lnTo>
                <a:lnTo>
                  <a:pt x="0" y="364540"/>
                </a:lnTo>
                <a:lnTo>
                  <a:pt x="1147321" y="364540"/>
                </a:lnTo>
                <a:lnTo>
                  <a:pt x="1147321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89453" y="2745028"/>
            <a:ext cx="1305560" cy="365125"/>
          </a:xfrm>
          <a:custGeom>
            <a:avLst/>
            <a:gdLst/>
            <a:ahLst/>
            <a:cxnLst/>
            <a:rect l="l" t="t" r="r" b="b"/>
            <a:pathLst>
              <a:path w="1305560" h="365125">
                <a:moveTo>
                  <a:pt x="1305117" y="0"/>
                </a:moveTo>
                <a:lnTo>
                  <a:pt x="0" y="0"/>
                </a:lnTo>
                <a:lnTo>
                  <a:pt x="0" y="364540"/>
                </a:lnTo>
                <a:lnTo>
                  <a:pt x="1305117" y="364540"/>
                </a:lnTo>
                <a:lnTo>
                  <a:pt x="1305117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04419" y="1456994"/>
            <a:ext cx="803275" cy="365125"/>
          </a:xfrm>
          <a:custGeom>
            <a:avLst/>
            <a:gdLst/>
            <a:ahLst/>
            <a:cxnLst/>
            <a:rect l="l" t="t" r="r" b="b"/>
            <a:pathLst>
              <a:path w="803275" h="365125">
                <a:moveTo>
                  <a:pt x="803227" y="0"/>
                </a:moveTo>
                <a:lnTo>
                  <a:pt x="0" y="0"/>
                </a:lnTo>
                <a:lnTo>
                  <a:pt x="0" y="364540"/>
                </a:lnTo>
                <a:lnTo>
                  <a:pt x="803227" y="364540"/>
                </a:lnTo>
                <a:lnTo>
                  <a:pt x="803227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object 14"/>
            <p:cNvSpPr/>
            <p:nvPr/>
          </p:nvSpPr>
          <p:spPr>
            <a:xfrm>
              <a:off x="2590704" y="1456994"/>
              <a:ext cx="2421890" cy="365125"/>
            </a:xfrm>
            <a:custGeom>
              <a:avLst/>
              <a:gdLst/>
              <a:ahLst/>
              <a:cxnLst/>
              <a:rect l="l" t="t" r="r" b="b"/>
              <a:pathLst>
                <a:path w="2421890" h="365125">
                  <a:moveTo>
                    <a:pt x="2421643" y="0"/>
                  </a:moveTo>
                  <a:lnTo>
                    <a:pt x="0" y="0"/>
                  </a:lnTo>
                  <a:lnTo>
                    <a:pt x="0" y="364540"/>
                  </a:lnTo>
                  <a:lnTo>
                    <a:pt x="2421643" y="364540"/>
                  </a:lnTo>
                  <a:lnTo>
                    <a:pt x="2421643" y="0"/>
                  </a:lnTo>
                  <a:close/>
                </a:path>
              </a:pathLst>
            </a:custGeom>
            <a:solidFill>
              <a:srgbClr val="FFE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2048001" y="394792"/>
            <a:ext cx="23094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40" dirty="0">
                <a:solidFill>
                  <a:srgbClr val="0D3553"/>
                </a:solidFill>
                <a:latin typeface="Arial"/>
                <a:cs typeface="Arial"/>
              </a:rPr>
              <a:t>Course</a:t>
            </a:r>
            <a:r>
              <a:rPr sz="2400" b="1" spc="-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400" b="1" spc="-165" dirty="0">
                <a:solidFill>
                  <a:srgbClr val="0D3553"/>
                </a:solidFill>
                <a:latin typeface="Arial"/>
                <a:cs typeface="Arial"/>
              </a:rPr>
              <a:t>Objectives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9527" y="893474"/>
            <a:ext cx="9980295" cy="500062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z="2400" spc="-210" dirty="0">
                <a:solidFill>
                  <a:srgbClr val="0D3553"/>
                </a:solidFill>
                <a:latin typeface="Arial MT"/>
                <a:cs typeface="Arial MT"/>
              </a:rPr>
              <a:t>By</a:t>
            </a:r>
            <a:r>
              <a:rPr sz="2400" spc="-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55" dirty="0">
                <a:solidFill>
                  <a:srgbClr val="0D3553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50" dirty="0">
                <a:solidFill>
                  <a:srgbClr val="0D3553"/>
                </a:solidFill>
                <a:latin typeface="Arial MT"/>
                <a:cs typeface="Arial MT"/>
              </a:rPr>
              <a:t>end</a:t>
            </a:r>
            <a:r>
              <a:rPr sz="2400" spc="-1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of</a:t>
            </a:r>
            <a:r>
              <a:rPr sz="2400" spc="-15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95" dirty="0">
                <a:solidFill>
                  <a:srgbClr val="0D3553"/>
                </a:solidFill>
                <a:latin typeface="Arial MT"/>
                <a:cs typeface="Arial MT"/>
              </a:rPr>
              <a:t>this</a:t>
            </a:r>
            <a:r>
              <a:rPr sz="2400" spc="-1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220" dirty="0">
                <a:solidFill>
                  <a:srgbClr val="0D3553"/>
                </a:solidFill>
                <a:latin typeface="Arial MT"/>
                <a:cs typeface="Arial MT"/>
              </a:rPr>
              <a:t>course,</a:t>
            </a:r>
            <a:r>
              <a:rPr sz="24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70" dirty="0">
                <a:solidFill>
                  <a:srgbClr val="0D3553"/>
                </a:solidFill>
                <a:latin typeface="Arial MT"/>
                <a:cs typeface="Arial MT"/>
              </a:rPr>
              <a:t>you</a:t>
            </a:r>
            <a:r>
              <a:rPr sz="2400" spc="-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200" dirty="0">
                <a:solidFill>
                  <a:srgbClr val="0D3553"/>
                </a:solidFill>
                <a:latin typeface="Arial MT"/>
                <a:cs typeface="Arial MT"/>
              </a:rPr>
              <a:t>should</a:t>
            </a:r>
            <a:r>
              <a:rPr sz="2400" spc="-2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be</a:t>
            </a:r>
            <a:r>
              <a:rPr sz="2400" spc="-3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D3553"/>
                </a:solidFill>
                <a:latin typeface="Arial MT"/>
                <a:cs typeface="Arial MT"/>
              </a:rPr>
              <a:t>able</a:t>
            </a:r>
            <a:r>
              <a:rPr sz="2400" spc="-2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D3553"/>
                </a:solidFill>
                <a:latin typeface="Arial MT"/>
                <a:cs typeface="Arial MT"/>
              </a:rPr>
              <a:t>to</a:t>
            </a:r>
            <a:r>
              <a:rPr sz="2400" spc="-2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75" dirty="0">
                <a:solidFill>
                  <a:srgbClr val="0D3553"/>
                </a:solidFill>
                <a:latin typeface="Arial MT"/>
                <a:cs typeface="Arial MT"/>
              </a:rPr>
              <a:t>meet</a:t>
            </a:r>
            <a:r>
              <a:rPr sz="2400" spc="-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60" dirty="0">
                <a:solidFill>
                  <a:srgbClr val="0D3553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85" dirty="0">
                <a:solidFill>
                  <a:srgbClr val="0D3553"/>
                </a:solidFill>
                <a:latin typeface="Arial MT"/>
                <a:cs typeface="Arial MT"/>
              </a:rPr>
              <a:t>following</a:t>
            </a:r>
            <a:r>
              <a:rPr sz="2400" spc="-30" dirty="0">
                <a:solidFill>
                  <a:srgbClr val="0D3553"/>
                </a:solidFill>
                <a:latin typeface="Arial MT"/>
                <a:cs typeface="Arial MT"/>
              </a:rPr>
              <a:t> objectives:</a:t>
            </a:r>
            <a:endParaRPr sz="24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04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spc="-105" dirty="0">
                <a:solidFill>
                  <a:srgbClr val="0D3553"/>
                </a:solidFill>
                <a:latin typeface="Arial MT"/>
                <a:cs typeface="Arial MT"/>
              </a:rPr>
              <a:t>Explore</a:t>
            </a:r>
            <a:r>
              <a:rPr sz="2000" spc="-3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0D3553"/>
                </a:solidFill>
                <a:latin typeface="Arial MT"/>
                <a:cs typeface="Arial MT"/>
              </a:rPr>
              <a:t>creating</a:t>
            </a:r>
            <a:r>
              <a:rPr sz="2000" spc="-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60" dirty="0">
                <a:solidFill>
                  <a:srgbClr val="0D3553"/>
                </a:solidFill>
                <a:latin typeface="Arial MT"/>
                <a:cs typeface="Arial MT"/>
              </a:rPr>
              <a:t>virtual</a:t>
            </a:r>
            <a:r>
              <a:rPr sz="20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85" dirty="0">
                <a:solidFill>
                  <a:srgbClr val="0D3553"/>
                </a:solidFill>
                <a:latin typeface="Arial MT"/>
                <a:cs typeface="Arial MT"/>
              </a:rPr>
              <a:t>machines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0D3553"/>
                </a:solidFill>
                <a:latin typeface="Arial MT"/>
                <a:cs typeface="Arial MT"/>
              </a:rPr>
              <a:t>and</a:t>
            </a:r>
            <a:r>
              <a:rPr sz="2000" spc="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0D3553"/>
                </a:solidFill>
                <a:latin typeface="Arial MT"/>
                <a:cs typeface="Arial MT"/>
              </a:rPr>
              <a:t>the</a:t>
            </a:r>
            <a:r>
              <a:rPr sz="2000" spc="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benefits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98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spc="-140" dirty="0">
                <a:solidFill>
                  <a:srgbClr val="0D3553"/>
                </a:solidFill>
                <a:latin typeface="Arial MT"/>
                <a:cs typeface="Arial MT"/>
              </a:rPr>
              <a:t>Move</a:t>
            </a:r>
            <a:r>
              <a:rPr sz="2000" spc="-3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95" dirty="0">
                <a:solidFill>
                  <a:srgbClr val="0D3553"/>
                </a:solidFill>
                <a:latin typeface="Arial MT"/>
                <a:cs typeface="Arial MT"/>
              </a:rPr>
              <a:t>from</a:t>
            </a:r>
            <a:r>
              <a:rPr sz="2000" spc="-4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D3553"/>
                </a:solidFill>
                <a:latin typeface="Arial MT"/>
                <a:cs typeface="Arial MT"/>
              </a:rPr>
              <a:t>a</a:t>
            </a:r>
            <a:r>
              <a:rPr sz="2000" spc="-4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0D3553"/>
                </a:solidFill>
                <a:latin typeface="Arial MT"/>
                <a:cs typeface="Arial MT"/>
              </a:rPr>
              <a:t>physical</a:t>
            </a:r>
            <a:r>
              <a:rPr sz="2000" spc="-3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45" dirty="0">
                <a:solidFill>
                  <a:srgbClr val="0D3553"/>
                </a:solidFill>
                <a:latin typeface="Arial MT"/>
                <a:cs typeface="Arial MT"/>
              </a:rPr>
              <a:t>environment</a:t>
            </a:r>
            <a:r>
              <a:rPr sz="2000" spc="-5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D3553"/>
                </a:solidFill>
                <a:latin typeface="Arial MT"/>
                <a:cs typeface="Arial MT"/>
              </a:rPr>
              <a:t>to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D3553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45" dirty="0">
                <a:solidFill>
                  <a:srgbClr val="0D3553"/>
                </a:solidFill>
                <a:latin typeface="Arial MT"/>
                <a:cs typeface="Arial MT"/>
              </a:rPr>
              <a:t>virtual </a:t>
            </a:r>
            <a:r>
              <a:rPr sz="2000" spc="-25" dirty="0">
                <a:solidFill>
                  <a:srgbClr val="0D3553"/>
                </a:solidFill>
                <a:latin typeface="Arial MT"/>
                <a:cs typeface="Arial MT"/>
              </a:rPr>
              <a:t>one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97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spc="-130" dirty="0">
                <a:solidFill>
                  <a:srgbClr val="0D3553"/>
                </a:solidFill>
                <a:latin typeface="Arial MT"/>
                <a:cs typeface="Arial MT"/>
              </a:rPr>
              <a:t>Understand</a:t>
            </a:r>
            <a:r>
              <a:rPr sz="2000" spc="-4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80" dirty="0">
                <a:solidFill>
                  <a:srgbClr val="0D3553"/>
                </a:solidFill>
                <a:latin typeface="Arial MT"/>
                <a:cs typeface="Arial MT"/>
              </a:rPr>
              <a:t>how</a:t>
            </a:r>
            <a:r>
              <a:rPr sz="2000" spc="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00" dirty="0">
                <a:solidFill>
                  <a:srgbClr val="0D3553"/>
                </a:solidFill>
                <a:latin typeface="Arial MT"/>
                <a:cs typeface="Arial MT"/>
              </a:rPr>
              <a:t>individuals</a:t>
            </a:r>
            <a:r>
              <a:rPr sz="2000" spc="-3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75" dirty="0">
                <a:solidFill>
                  <a:srgbClr val="0D3553"/>
                </a:solidFill>
                <a:latin typeface="Arial MT"/>
                <a:cs typeface="Arial MT"/>
              </a:rPr>
              <a:t>and</a:t>
            </a:r>
            <a:r>
              <a:rPr sz="2000" spc="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215" dirty="0">
                <a:solidFill>
                  <a:srgbClr val="0D3553"/>
                </a:solidFill>
                <a:latin typeface="Arial MT"/>
                <a:cs typeface="Arial MT"/>
              </a:rPr>
              <a:t>businesses</a:t>
            </a:r>
            <a:r>
              <a:rPr sz="2000" spc="-3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D3553"/>
                </a:solidFill>
                <a:latin typeface="Arial MT"/>
                <a:cs typeface="Arial MT"/>
              </a:rPr>
              <a:t>benefit</a:t>
            </a:r>
            <a:r>
              <a:rPr sz="2000" spc="-3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0D3553"/>
                </a:solidFill>
                <a:latin typeface="Arial MT"/>
                <a:cs typeface="Arial MT"/>
              </a:rPr>
              <a:t>from</a:t>
            </a:r>
            <a:r>
              <a:rPr sz="20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virtualization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98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spc="-140" dirty="0">
                <a:solidFill>
                  <a:srgbClr val="0D3553"/>
                </a:solidFill>
                <a:latin typeface="Arial MT"/>
                <a:cs typeface="Arial MT"/>
              </a:rPr>
              <a:t>Describe</a:t>
            </a:r>
            <a:r>
              <a:rPr sz="2000" spc="-2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75" dirty="0">
                <a:solidFill>
                  <a:srgbClr val="0D3553"/>
                </a:solidFill>
                <a:latin typeface="Arial MT"/>
                <a:cs typeface="Arial MT"/>
              </a:rPr>
              <a:t>virtualization,</a:t>
            </a:r>
            <a:r>
              <a:rPr sz="2000" spc="-3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D3553"/>
                </a:solidFill>
                <a:latin typeface="Arial MT"/>
                <a:cs typeface="Arial MT"/>
              </a:rPr>
              <a:t>virtual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80" dirty="0">
                <a:solidFill>
                  <a:srgbClr val="0D3553"/>
                </a:solidFill>
                <a:latin typeface="Arial MT"/>
                <a:cs typeface="Arial MT"/>
              </a:rPr>
              <a:t>machines,</a:t>
            </a:r>
            <a:r>
              <a:rPr sz="2000" spc="-2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0D3553"/>
                </a:solidFill>
                <a:latin typeface="Arial MT"/>
                <a:cs typeface="Arial MT"/>
              </a:rPr>
              <a:t>hypervisors,</a:t>
            </a:r>
            <a:r>
              <a:rPr sz="2000" spc="-4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0D3553"/>
                </a:solidFill>
                <a:latin typeface="Arial MT"/>
                <a:cs typeface="Arial MT"/>
              </a:rPr>
              <a:t>and</a:t>
            </a:r>
            <a:r>
              <a:rPr sz="200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00" dirty="0">
                <a:solidFill>
                  <a:srgbClr val="0D3553"/>
                </a:solidFill>
                <a:latin typeface="Arial MT"/>
                <a:cs typeface="Arial MT"/>
              </a:rPr>
              <a:t>VMware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40" dirty="0">
                <a:solidFill>
                  <a:srgbClr val="0D3553"/>
                </a:solidFill>
                <a:latin typeface="Arial MT"/>
                <a:cs typeface="Arial MT"/>
              </a:rPr>
              <a:t>vSphere</a:t>
            </a:r>
            <a:r>
              <a:rPr sz="20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45" dirty="0">
                <a:solidFill>
                  <a:srgbClr val="0D3553"/>
                </a:solidFill>
                <a:latin typeface="Arial MT"/>
                <a:cs typeface="Arial MT"/>
              </a:rPr>
              <a:t>components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98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spc="-140" dirty="0">
                <a:solidFill>
                  <a:srgbClr val="0D3553"/>
                </a:solidFill>
                <a:latin typeface="Arial MT"/>
                <a:cs typeface="Arial MT"/>
              </a:rPr>
              <a:t>Describe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0D3553"/>
                </a:solidFill>
                <a:latin typeface="Arial MT"/>
                <a:cs typeface="Arial MT"/>
              </a:rPr>
              <a:t>the</a:t>
            </a:r>
            <a:r>
              <a:rPr sz="2000" spc="2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70" dirty="0">
                <a:solidFill>
                  <a:srgbClr val="0D3553"/>
                </a:solidFill>
                <a:latin typeface="Arial MT"/>
                <a:cs typeface="Arial MT"/>
              </a:rPr>
              <a:t>concepts</a:t>
            </a:r>
            <a:r>
              <a:rPr sz="2000" spc="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D3553"/>
                </a:solidFill>
                <a:latin typeface="Arial MT"/>
                <a:cs typeface="Arial MT"/>
              </a:rPr>
              <a:t>of</a:t>
            </a:r>
            <a:r>
              <a:rPr sz="2000" spc="6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35" dirty="0">
                <a:solidFill>
                  <a:srgbClr val="0D3553"/>
                </a:solidFill>
                <a:latin typeface="Arial MT"/>
                <a:cs typeface="Arial MT"/>
              </a:rPr>
              <a:t>server,</a:t>
            </a:r>
            <a:r>
              <a:rPr sz="20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10" dirty="0">
                <a:solidFill>
                  <a:srgbClr val="0D3553"/>
                </a:solidFill>
                <a:latin typeface="Arial MT"/>
                <a:cs typeface="Arial MT"/>
              </a:rPr>
              <a:t>network,</a:t>
            </a:r>
            <a:r>
              <a:rPr sz="2000" spc="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14" dirty="0">
                <a:solidFill>
                  <a:srgbClr val="0D3553"/>
                </a:solidFill>
                <a:latin typeface="Arial MT"/>
                <a:cs typeface="Arial MT"/>
              </a:rPr>
              <a:t>storage,</a:t>
            </a:r>
            <a:r>
              <a:rPr sz="20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75" dirty="0">
                <a:solidFill>
                  <a:srgbClr val="0D3553"/>
                </a:solidFill>
                <a:latin typeface="Arial MT"/>
                <a:cs typeface="Arial MT"/>
              </a:rPr>
              <a:t>and</a:t>
            </a:r>
            <a:r>
              <a:rPr sz="2000" spc="2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14" dirty="0">
                <a:solidFill>
                  <a:srgbClr val="0D3553"/>
                </a:solidFill>
                <a:latin typeface="Arial MT"/>
                <a:cs typeface="Arial MT"/>
              </a:rPr>
              <a:t>desktop</a:t>
            </a:r>
            <a:r>
              <a:rPr sz="2000" spc="-2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virtualization</a:t>
            </a:r>
            <a:endParaRPr sz="2000">
              <a:latin typeface="Arial MT"/>
              <a:cs typeface="Arial MT"/>
            </a:endParaRPr>
          </a:p>
          <a:p>
            <a:pPr marL="697865" marR="5080" lvl="1" indent="-228600">
              <a:lnSpc>
                <a:spcPct val="120000"/>
              </a:lnSpc>
              <a:spcBef>
                <a:spcPts val="490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spc="-130" dirty="0">
                <a:solidFill>
                  <a:srgbClr val="0D3553"/>
                </a:solidFill>
                <a:latin typeface="Arial MT"/>
                <a:cs typeface="Arial MT"/>
              </a:rPr>
              <a:t>Understand</a:t>
            </a:r>
            <a:r>
              <a:rPr sz="2000" spc="-4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0D3553"/>
                </a:solidFill>
                <a:latin typeface="Arial MT"/>
                <a:cs typeface="Arial MT"/>
              </a:rPr>
              <a:t>cloud</a:t>
            </a:r>
            <a:r>
              <a:rPr sz="2000" spc="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70" dirty="0">
                <a:solidFill>
                  <a:srgbClr val="0D3553"/>
                </a:solidFill>
                <a:latin typeface="Arial MT"/>
                <a:cs typeface="Arial MT"/>
              </a:rPr>
              <a:t>concepts</a:t>
            </a:r>
            <a:r>
              <a:rPr sz="2000" spc="-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250" dirty="0">
                <a:solidFill>
                  <a:srgbClr val="0D3553"/>
                </a:solidFill>
                <a:latin typeface="Arial MT"/>
                <a:cs typeface="Arial MT"/>
              </a:rPr>
              <a:t>such</a:t>
            </a:r>
            <a:r>
              <a:rPr sz="2000" spc="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80" dirty="0">
                <a:solidFill>
                  <a:srgbClr val="0D3553"/>
                </a:solidFill>
                <a:latin typeface="Arial MT"/>
                <a:cs typeface="Arial MT"/>
              </a:rPr>
              <a:t>as</a:t>
            </a:r>
            <a:r>
              <a:rPr sz="2000" spc="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00" dirty="0">
                <a:solidFill>
                  <a:srgbClr val="0D3553"/>
                </a:solidFill>
                <a:latin typeface="Arial MT"/>
                <a:cs typeface="Arial MT"/>
              </a:rPr>
              <a:t>types</a:t>
            </a:r>
            <a:r>
              <a:rPr sz="2000" spc="-1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D3553"/>
                </a:solidFill>
                <a:latin typeface="Arial MT"/>
                <a:cs typeface="Arial MT"/>
              </a:rPr>
              <a:t>of</a:t>
            </a:r>
            <a:r>
              <a:rPr sz="2000" spc="7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25" dirty="0">
                <a:solidFill>
                  <a:srgbClr val="0D3553"/>
                </a:solidFill>
                <a:latin typeface="Arial MT"/>
                <a:cs typeface="Arial MT"/>
              </a:rPr>
              <a:t>cloud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40" dirty="0">
                <a:solidFill>
                  <a:srgbClr val="0D3553"/>
                </a:solidFill>
                <a:latin typeface="Arial MT"/>
                <a:cs typeface="Arial MT"/>
              </a:rPr>
              <a:t>computing</a:t>
            </a:r>
            <a:r>
              <a:rPr sz="2000" spc="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0D3553"/>
                </a:solidFill>
                <a:latin typeface="Arial MT"/>
                <a:cs typeface="Arial MT"/>
              </a:rPr>
              <a:t>and</a:t>
            </a:r>
            <a:r>
              <a:rPr sz="2000" spc="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D3553"/>
                </a:solidFill>
                <a:latin typeface="Arial MT"/>
                <a:cs typeface="Arial MT"/>
              </a:rPr>
              <a:t>popular</a:t>
            </a:r>
            <a:r>
              <a:rPr sz="2000" spc="-1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0D3553"/>
                </a:solidFill>
                <a:latin typeface="Arial MT"/>
                <a:cs typeface="Arial MT"/>
              </a:rPr>
              <a:t>cloud</a:t>
            </a:r>
            <a:r>
              <a:rPr sz="2000" spc="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60" dirty="0">
                <a:solidFill>
                  <a:srgbClr val="0D3553"/>
                </a:solidFill>
                <a:latin typeface="Arial MT"/>
                <a:cs typeface="Arial MT"/>
              </a:rPr>
              <a:t>deployment 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models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98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spc="-130" dirty="0">
                <a:solidFill>
                  <a:srgbClr val="0D3553"/>
                </a:solidFill>
                <a:latin typeface="Arial MT"/>
                <a:cs typeface="Arial MT"/>
              </a:rPr>
              <a:t>Understand</a:t>
            </a:r>
            <a:r>
              <a:rPr sz="200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0D3553"/>
                </a:solidFill>
                <a:latin typeface="Arial MT"/>
                <a:cs typeface="Arial MT"/>
              </a:rPr>
              <a:t>container</a:t>
            </a:r>
            <a:r>
              <a:rPr sz="2000" spc="2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10" dirty="0">
                <a:solidFill>
                  <a:srgbClr val="0D3553"/>
                </a:solidFill>
                <a:latin typeface="Arial MT"/>
                <a:cs typeface="Arial MT"/>
              </a:rPr>
              <a:t>technology</a:t>
            </a:r>
            <a:r>
              <a:rPr sz="2000" spc="1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0D3553"/>
                </a:solidFill>
                <a:latin typeface="Arial MT"/>
                <a:cs typeface="Arial MT"/>
              </a:rPr>
              <a:t>including</a:t>
            </a:r>
            <a:r>
              <a:rPr sz="2000" spc="3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70" dirty="0">
                <a:solidFill>
                  <a:srgbClr val="0D3553"/>
                </a:solidFill>
                <a:latin typeface="Arial MT"/>
                <a:cs typeface="Arial MT"/>
              </a:rPr>
              <a:t>concepts</a:t>
            </a:r>
            <a:r>
              <a:rPr sz="2000" spc="3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250" dirty="0">
                <a:solidFill>
                  <a:srgbClr val="0D3553"/>
                </a:solidFill>
                <a:latin typeface="Arial MT"/>
                <a:cs typeface="Arial MT"/>
              </a:rPr>
              <a:t>such</a:t>
            </a:r>
            <a:r>
              <a:rPr sz="2000" spc="5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80" dirty="0">
                <a:solidFill>
                  <a:srgbClr val="0D3553"/>
                </a:solidFill>
                <a:latin typeface="Arial MT"/>
                <a:cs typeface="Arial MT"/>
              </a:rPr>
              <a:t>as</a:t>
            </a:r>
            <a:r>
              <a:rPr sz="2000" spc="5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45" dirty="0">
                <a:solidFill>
                  <a:srgbClr val="0D3553"/>
                </a:solidFill>
                <a:latin typeface="Arial MT"/>
                <a:cs typeface="Arial MT"/>
              </a:rPr>
              <a:t>containers,</a:t>
            </a:r>
            <a:r>
              <a:rPr sz="2000" spc="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65" dirty="0">
                <a:solidFill>
                  <a:srgbClr val="0D3553"/>
                </a:solidFill>
                <a:latin typeface="Arial MT"/>
                <a:cs typeface="Arial MT"/>
              </a:rPr>
              <a:t>Docker,</a:t>
            </a:r>
            <a:r>
              <a:rPr sz="2000" spc="6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D3553"/>
                </a:solidFill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697865">
              <a:lnSpc>
                <a:spcPct val="100000"/>
              </a:lnSpc>
              <a:spcBef>
                <a:spcPts val="480"/>
              </a:spcBef>
            </a:pPr>
            <a:r>
              <a:rPr sz="2000" spc="-45" dirty="0">
                <a:solidFill>
                  <a:srgbClr val="0D3553"/>
                </a:solidFill>
                <a:latin typeface="Arial MT"/>
                <a:cs typeface="Arial MT"/>
              </a:rPr>
              <a:t>Kubernetes</a:t>
            </a:r>
            <a:endParaRPr sz="2000">
              <a:latin typeface="Arial MT"/>
              <a:cs typeface="Arial MT"/>
            </a:endParaRPr>
          </a:p>
          <a:p>
            <a:pPr marL="697865" marR="222885" lvl="1" indent="-228600">
              <a:lnSpc>
                <a:spcPct val="120000"/>
              </a:lnSpc>
              <a:spcBef>
                <a:spcPts val="509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spc="-105" dirty="0">
                <a:solidFill>
                  <a:srgbClr val="0D3553"/>
                </a:solidFill>
                <a:latin typeface="Arial MT"/>
                <a:cs typeface="Arial MT"/>
              </a:rPr>
              <a:t>Explore</a:t>
            </a:r>
            <a:r>
              <a:rPr sz="2000" spc="-3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85" dirty="0">
                <a:solidFill>
                  <a:srgbClr val="0D3553"/>
                </a:solidFill>
                <a:latin typeface="Arial MT"/>
                <a:cs typeface="Arial MT"/>
              </a:rPr>
              <a:t>how</a:t>
            </a:r>
            <a:r>
              <a:rPr sz="2000" spc="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35" dirty="0">
                <a:solidFill>
                  <a:srgbClr val="0D3553"/>
                </a:solidFill>
                <a:latin typeface="Arial MT"/>
                <a:cs typeface="Arial MT"/>
              </a:rPr>
              <a:t>containers</a:t>
            </a:r>
            <a:r>
              <a:rPr sz="2000" spc="-2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0D3553"/>
                </a:solidFill>
                <a:latin typeface="Arial MT"/>
                <a:cs typeface="Arial MT"/>
              </a:rPr>
              <a:t>and</a:t>
            </a:r>
            <a:r>
              <a:rPr sz="200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45" dirty="0">
                <a:solidFill>
                  <a:srgbClr val="0D3553"/>
                </a:solidFill>
                <a:latin typeface="Arial MT"/>
                <a:cs typeface="Arial MT"/>
              </a:rPr>
              <a:t>virtual</a:t>
            </a:r>
            <a:r>
              <a:rPr sz="200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85" dirty="0">
                <a:solidFill>
                  <a:srgbClr val="0D3553"/>
                </a:solidFill>
                <a:latin typeface="Arial MT"/>
                <a:cs typeface="Arial MT"/>
              </a:rPr>
              <a:t>machines</a:t>
            </a:r>
            <a:r>
              <a:rPr sz="2000" spc="-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0D3553"/>
                </a:solidFill>
                <a:latin typeface="Arial MT"/>
                <a:cs typeface="Arial MT"/>
              </a:rPr>
              <a:t>enable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25" dirty="0">
                <a:solidFill>
                  <a:srgbClr val="0D3553"/>
                </a:solidFill>
                <a:latin typeface="Arial MT"/>
                <a:cs typeface="Arial MT"/>
              </a:rPr>
              <a:t>cloud</a:t>
            </a:r>
            <a:r>
              <a:rPr sz="200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50" dirty="0">
                <a:solidFill>
                  <a:srgbClr val="0D3553"/>
                </a:solidFill>
                <a:latin typeface="Arial MT"/>
                <a:cs typeface="Arial MT"/>
              </a:rPr>
              <a:t>computing,</a:t>
            </a:r>
            <a:r>
              <a:rPr sz="20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55" dirty="0">
                <a:solidFill>
                  <a:srgbClr val="0D3553"/>
                </a:solidFill>
                <a:latin typeface="Arial MT"/>
                <a:cs typeface="Arial MT"/>
              </a:rPr>
              <a:t>DevOps,</a:t>
            </a:r>
            <a:r>
              <a:rPr sz="2000" spc="-1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0D3553"/>
                </a:solidFill>
                <a:latin typeface="Arial MT"/>
                <a:cs typeface="Arial MT"/>
              </a:rPr>
              <a:t>and</a:t>
            </a:r>
            <a:r>
              <a:rPr sz="2000" spc="-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35" dirty="0">
                <a:solidFill>
                  <a:srgbClr val="0D3553"/>
                </a:solidFill>
                <a:latin typeface="Arial MT"/>
                <a:cs typeface="Arial MT"/>
              </a:rPr>
              <a:t>cloud- </a:t>
            </a:r>
            <a:r>
              <a:rPr sz="2000" spc="-95" dirty="0">
                <a:solidFill>
                  <a:srgbClr val="0D3553"/>
                </a:solidFill>
                <a:latin typeface="Arial MT"/>
                <a:cs typeface="Arial MT"/>
              </a:rPr>
              <a:t>native</a:t>
            </a:r>
            <a:r>
              <a:rPr sz="20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D3553"/>
                </a:solidFill>
                <a:latin typeface="Arial MT"/>
                <a:cs typeface="Arial MT"/>
              </a:rPr>
              <a:t>technology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938928" y="4917404"/>
            <a:ext cx="4977765" cy="1445895"/>
            <a:chOff x="3938928" y="4917404"/>
            <a:chExt cx="4977765" cy="1445895"/>
          </a:xfrm>
        </p:grpSpPr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63830" y="4917404"/>
              <a:ext cx="152400" cy="1524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77771" y="5029873"/>
              <a:ext cx="152400" cy="1524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38928" y="6210793"/>
              <a:ext cx="1524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6350" y="874598"/>
            <a:ext cx="2235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40" dirty="0">
                <a:solidFill>
                  <a:srgbClr val="0D3553"/>
                </a:solidFill>
                <a:latin typeface="Arial"/>
                <a:cs typeface="Arial"/>
              </a:rPr>
              <a:t>Course</a:t>
            </a:r>
            <a:r>
              <a:rPr sz="2400" b="1" spc="-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400" b="1" spc="-100" dirty="0">
                <a:solidFill>
                  <a:srgbClr val="0D3553"/>
                </a:solidFill>
                <a:latin typeface="Arial"/>
                <a:cs typeface="Arial"/>
              </a:rPr>
              <a:t>Overview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3315" y="1376142"/>
            <a:ext cx="8830945" cy="393697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20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z="2400" spc="-285" dirty="0">
                <a:solidFill>
                  <a:srgbClr val="0D3553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50" dirty="0">
                <a:solidFill>
                  <a:srgbClr val="0D3553"/>
                </a:solidFill>
                <a:latin typeface="Arial MT"/>
                <a:cs typeface="Arial MT"/>
              </a:rPr>
              <a:t>Cloud</a:t>
            </a:r>
            <a:r>
              <a:rPr sz="24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00" dirty="0">
                <a:solidFill>
                  <a:srgbClr val="0D3553"/>
                </a:solidFill>
                <a:latin typeface="Arial MT"/>
                <a:cs typeface="Arial MT"/>
              </a:rPr>
              <a:t>and</a:t>
            </a:r>
            <a:r>
              <a:rPr sz="2400" spc="-1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75" dirty="0">
                <a:solidFill>
                  <a:srgbClr val="0D3553"/>
                </a:solidFill>
                <a:latin typeface="Arial MT"/>
                <a:cs typeface="Arial MT"/>
              </a:rPr>
              <a:t>Virtualization</a:t>
            </a:r>
            <a:r>
              <a:rPr sz="24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210" dirty="0">
                <a:solidFill>
                  <a:srgbClr val="0D3553"/>
                </a:solidFill>
                <a:latin typeface="Arial MT"/>
                <a:cs typeface="Arial MT"/>
              </a:rPr>
              <a:t>Concepts</a:t>
            </a:r>
            <a:r>
              <a:rPr sz="2400" spc="-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225" dirty="0">
                <a:solidFill>
                  <a:srgbClr val="0D3553"/>
                </a:solidFill>
                <a:latin typeface="Arial MT"/>
                <a:cs typeface="Arial MT"/>
              </a:rPr>
              <a:t>course</a:t>
            </a:r>
            <a:r>
              <a:rPr sz="24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250" dirty="0">
                <a:solidFill>
                  <a:srgbClr val="0D3553"/>
                </a:solidFill>
                <a:latin typeface="Arial MT"/>
                <a:cs typeface="Arial MT"/>
              </a:rPr>
              <a:t>consists</a:t>
            </a:r>
            <a:r>
              <a:rPr sz="2400" spc="-2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3553"/>
                </a:solidFill>
                <a:latin typeface="Arial MT"/>
                <a:cs typeface="Arial MT"/>
              </a:rPr>
              <a:t>of</a:t>
            </a:r>
            <a:r>
              <a:rPr sz="2400" spc="50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80" dirty="0">
                <a:solidFill>
                  <a:srgbClr val="0D3553"/>
                </a:solidFill>
                <a:latin typeface="Arial MT"/>
                <a:cs typeface="Arial MT"/>
              </a:rPr>
              <a:t>eight</a:t>
            </a:r>
            <a:r>
              <a:rPr sz="2400" spc="-5" dirty="0">
                <a:solidFill>
                  <a:srgbClr val="0D3553"/>
                </a:solidFill>
                <a:latin typeface="Arial MT"/>
                <a:cs typeface="Arial MT"/>
              </a:rPr>
              <a:t> </a:t>
            </a:r>
            <a:r>
              <a:rPr sz="2400" spc="-150" dirty="0">
                <a:solidFill>
                  <a:srgbClr val="0D3553"/>
                </a:solidFill>
                <a:latin typeface="Arial MT"/>
                <a:cs typeface="Arial MT"/>
              </a:rPr>
              <a:t>modules.</a:t>
            </a:r>
            <a:endParaRPr sz="24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03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b="1" spc="-130" dirty="0">
                <a:solidFill>
                  <a:srgbClr val="0D3553"/>
                </a:solidFill>
                <a:latin typeface="Arial"/>
                <a:cs typeface="Arial"/>
              </a:rPr>
              <a:t>Module</a:t>
            </a:r>
            <a:r>
              <a:rPr sz="2000" b="1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0D3553"/>
                </a:solidFill>
                <a:latin typeface="Arial"/>
                <a:cs typeface="Arial"/>
              </a:rPr>
              <a:t>1:</a:t>
            </a:r>
            <a:r>
              <a:rPr sz="2000" b="1" spc="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60" dirty="0">
                <a:solidFill>
                  <a:srgbClr val="0D3553"/>
                </a:solidFill>
                <a:latin typeface="Arial"/>
                <a:cs typeface="Arial"/>
              </a:rPr>
              <a:t>Introduction</a:t>
            </a:r>
            <a:r>
              <a:rPr sz="2000" b="1" spc="20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0D3553"/>
                </a:solidFill>
                <a:latin typeface="Arial"/>
                <a:cs typeface="Arial"/>
              </a:rPr>
              <a:t>to</a:t>
            </a:r>
            <a:r>
              <a:rPr sz="2000" b="1" spc="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3553"/>
                </a:solidFill>
                <a:latin typeface="Arial"/>
                <a:cs typeface="Arial"/>
              </a:rPr>
              <a:t>Virtualization</a:t>
            </a:r>
            <a:endParaRPr sz="2000" dirty="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98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b="1" spc="-130" dirty="0">
                <a:solidFill>
                  <a:srgbClr val="0D3553"/>
                </a:solidFill>
                <a:latin typeface="Arial"/>
                <a:cs typeface="Arial"/>
              </a:rPr>
              <a:t>Module</a:t>
            </a:r>
            <a:r>
              <a:rPr sz="2000" b="1" spc="-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0D3553"/>
                </a:solidFill>
                <a:latin typeface="Arial"/>
                <a:cs typeface="Arial"/>
              </a:rPr>
              <a:t>2:</a:t>
            </a:r>
            <a:r>
              <a:rPr sz="2000" b="1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60" dirty="0">
                <a:solidFill>
                  <a:srgbClr val="0D3553"/>
                </a:solidFill>
                <a:latin typeface="Arial"/>
                <a:cs typeface="Arial"/>
              </a:rPr>
              <a:t>Introduction</a:t>
            </a:r>
            <a:r>
              <a:rPr sz="2000" b="1" spc="1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60" dirty="0">
                <a:solidFill>
                  <a:srgbClr val="0D3553"/>
                </a:solidFill>
                <a:latin typeface="Arial"/>
                <a:cs typeface="Arial"/>
              </a:rPr>
              <a:t>to</a:t>
            </a:r>
            <a:r>
              <a:rPr sz="2000" b="1" spc="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0D3553"/>
                </a:solidFill>
                <a:latin typeface="Arial"/>
                <a:cs typeface="Arial"/>
              </a:rPr>
              <a:t>cloud</a:t>
            </a:r>
            <a:r>
              <a:rPr sz="2000" b="1" spc="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35" dirty="0">
                <a:solidFill>
                  <a:srgbClr val="0D3553"/>
                </a:solidFill>
                <a:latin typeface="Arial"/>
                <a:cs typeface="Arial"/>
              </a:rPr>
              <a:t>and</a:t>
            </a:r>
            <a:r>
              <a:rPr sz="2000" b="1" spc="-20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D3553"/>
                </a:solidFill>
                <a:latin typeface="Arial"/>
                <a:cs typeface="Arial"/>
              </a:rPr>
              <a:t>VMs</a:t>
            </a:r>
            <a:endParaRPr sz="2000" dirty="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98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b="1" spc="-130" dirty="0">
                <a:solidFill>
                  <a:srgbClr val="0D3553"/>
                </a:solidFill>
                <a:latin typeface="Arial"/>
                <a:cs typeface="Arial"/>
              </a:rPr>
              <a:t>Module</a:t>
            </a:r>
            <a:r>
              <a:rPr sz="2000" b="1" spc="-20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0D3553"/>
                </a:solidFill>
                <a:latin typeface="Arial"/>
                <a:cs typeface="Arial"/>
              </a:rPr>
              <a:t>3:</a:t>
            </a:r>
            <a:r>
              <a:rPr sz="2000" b="1" spc="-1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210" dirty="0">
                <a:solidFill>
                  <a:srgbClr val="0D3553"/>
                </a:solidFill>
                <a:latin typeface="Arial"/>
                <a:cs typeface="Arial"/>
              </a:rPr>
              <a:t>The</a:t>
            </a:r>
            <a:r>
              <a:rPr sz="2000" b="1" spc="-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35" dirty="0">
                <a:solidFill>
                  <a:srgbClr val="0D3553"/>
                </a:solidFill>
                <a:latin typeface="Arial"/>
                <a:cs typeface="Arial"/>
              </a:rPr>
              <a:t>Hypervisor</a:t>
            </a:r>
            <a:endParaRPr sz="2000" dirty="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969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b="1" spc="-130" dirty="0">
                <a:solidFill>
                  <a:srgbClr val="0D3553"/>
                </a:solidFill>
                <a:latin typeface="Arial"/>
                <a:cs typeface="Arial"/>
              </a:rPr>
              <a:t>Module</a:t>
            </a:r>
            <a:r>
              <a:rPr sz="2000" b="1" spc="-20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0D3553"/>
                </a:solidFill>
                <a:latin typeface="Arial"/>
                <a:cs typeface="Arial"/>
              </a:rPr>
              <a:t>4:</a:t>
            </a:r>
            <a:r>
              <a:rPr sz="2000" b="1" spc="-20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210" dirty="0">
                <a:solidFill>
                  <a:srgbClr val="0D3553"/>
                </a:solidFill>
                <a:latin typeface="Arial"/>
                <a:cs typeface="Arial"/>
              </a:rPr>
              <a:t>The</a:t>
            </a:r>
            <a:r>
              <a:rPr sz="2000" b="1" spc="-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0D3553"/>
                </a:solidFill>
                <a:latin typeface="Arial"/>
                <a:cs typeface="Arial"/>
              </a:rPr>
              <a:t>Data</a:t>
            </a:r>
            <a:r>
              <a:rPr sz="2000" b="1" spc="-2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3553"/>
                </a:solidFill>
                <a:latin typeface="Arial"/>
                <a:cs typeface="Arial"/>
              </a:rPr>
              <a:t>Center</a:t>
            </a:r>
            <a:endParaRPr sz="2000" dirty="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98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b="1" spc="-130" dirty="0">
                <a:solidFill>
                  <a:srgbClr val="0D3553"/>
                </a:solidFill>
                <a:latin typeface="Arial"/>
                <a:cs typeface="Arial"/>
              </a:rPr>
              <a:t>Module</a:t>
            </a:r>
            <a:r>
              <a:rPr sz="2000" b="1" spc="-2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0D3553"/>
                </a:solidFill>
                <a:latin typeface="Arial"/>
                <a:cs typeface="Arial"/>
              </a:rPr>
              <a:t>5:</a:t>
            </a:r>
            <a:r>
              <a:rPr sz="2000" b="1" spc="-2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210" dirty="0">
                <a:solidFill>
                  <a:srgbClr val="0D3553"/>
                </a:solidFill>
                <a:latin typeface="Arial"/>
                <a:cs typeface="Arial"/>
              </a:rPr>
              <a:t>The</a:t>
            </a:r>
            <a:r>
              <a:rPr sz="2000" b="1" spc="-1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80" dirty="0">
                <a:solidFill>
                  <a:srgbClr val="0D3553"/>
                </a:solidFill>
                <a:latin typeface="Arial"/>
                <a:cs typeface="Arial"/>
              </a:rPr>
              <a:t>Virtual</a:t>
            </a:r>
            <a:r>
              <a:rPr sz="2000" b="1" spc="-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0D3553"/>
                </a:solidFill>
                <a:latin typeface="Arial"/>
                <a:cs typeface="Arial"/>
              </a:rPr>
              <a:t>Data</a:t>
            </a:r>
            <a:r>
              <a:rPr sz="2000" b="1" spc="-2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3553"/>
                </a:solidFill>
                <a:latin typeface="Arial"/>
                <a:cs typeface="Arial"/>
              </a:rPr>
              <a:t>Center</a:t>
            </a:r>
            <a:endParaRPr sz="2000" dirty="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98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b="1" spc="-130" dirty="0">
                <a:solidFill>
                  <a:srgbClr val="0D3553"/>
                </a:solidFill>
                <a:latin typeface="Arial"/>
                <a:cs typeface="Arial"/>
              </a:rPr>
              <a:t>Module</a:t>
            </a:r>
            <a:r>
              <a:rPr sz="2000" b="1" spc="-20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0D3553"/>
                </a:solidFill>
                <a:latin typeface="Arial"/>
                <a:cs typeface="Arial"/>
              </a:rPr>
              <a:t>6:</a:t>
            </a:r>
            <a:r>
              <a:rPr sz="2000" b="1" spc="-1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210" dirty="0">
                <a:solidFill>
                  <a:srgbClr val="0D3553"/>
                </a:solidFill>
                <a:latin typeface="Arial"/>
                <a:cs typeface="Arial"/>
              </a:rPr>
              <a:t>The</a:t>
            </a:r>
            <a:r>
              <a:rPr sz="2000" b="1" spc="-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D3553"/>
                </a:solidFill>
                <a:latin typeface="Arial"/>
                <a:cs typeface="Arial"/>
              </a:rPr>
              <a:t>Cloud</a:t>
            </a:r>
            <a:endParaRPr sz="2000" dirty="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97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b="1" spc="-130" dirty="0">
                <a:solidFill>
                  <a:srgbClr val="0D3553"/>
                </a:solidFill>
                <a:latin typeface="Arial"/>
                <a:cs typeface="Arial"/>
              </a:rPr>
              <a:t>Module</a:t>
            </a:r>
            <a:r>
              <a:rPr sz="2000" b="1" spc="-10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0D3553"/>
                </a:solidFill>
                <a:latin typeface="Arial"/>
                <a:cs typeface="Arial"/>
              </a:rPr>
              <a:t>7:</a:t>
            </a:r>
            <a:r>
              <a:rPr sz="2000" b="1" spc="-10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155" dirty="0">
                <a:solidFill>
                  <a:srgbClr val="0D3553"/>
                </a:solidFill>
                <a:latin typeface="Arial"/>
                <a:cs typeface="Arial"/>
              </a:rPr>
              <a:t>Container</a:t>
            </a:r>
            <a:r>
              <a:rPr sz="2000" b="1" spc="-10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75" dirty="0">
                <a:solidFill>
                  <a:srgbClr val="0D3553"/>
                </a:solidFill>
                <a:latin typeface="Arial"/>
                <a:cs typeface="Arial"/>
              </a:rPr>
              <a:t>Technology</a:t>
            </a:r>
            <a:endParaRPr sz="2000" dirty="0">
              <a:latin typeface="Arial"/>
              <a:cs typeface="Arial"/>
            </a:endParaRPr>
          </a:p>
          <a:p>
            <a:pPr marL="697865" lvl="1" indent="-227965">
              <a:lnSpc>
                <a:spcPct val="100000"/>
              </a:lnSpc>
              <a:spcBef>
                <a:spcPts val="985"/>
              </a:spcBef>
              <a:buSzPct val="125000"/>
              <a:buFont typeface="Microsoft Sans Serif"/>
              <a:buChar char="•"/>
              <a:tabLst>
                <a:tab pos="697865" algn="l"/>
              </a:tabLst>
            </a:pPr>
            <a:r>
              <a:rPr sz="2000" b="1" spc="-130" dirty="0">
                <a:solidFill>
                  <a:srgbClr val="0D3553"/>
                </a:solidFill>
                <a:latin typeface="Arial"/>
                <a:cs typeface="Arial"/>
              </a:rPr>
              <a:t>Module</a:t>
            </a:r>
            <a:r>
              <a:rPr sz="2000" b="1" spc="-2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90" dirty="0">
                <a:solidFill>
                  <a:srgbClr val="0D3553"/>
                </a:solidFill>
                <a:latin typeface="Arial"/>
                <a:cs typeface="Arial"/>
              </a:rPr>
              <a:t>8:</a:t>
            </a:r>
            <a:r>
              <a:rPr sz="2000" b="1" spc="-50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75" dirty="0">
                <a:solidFill>
                  <a:srgbClr val="0D3553"/>
                </a:solidFill>
                <a:latin typeface="Arial"/>
                <a:cs typeface="Arial"/>
              </a:rPr>
              <a:t>VMware</a:t>
            </a:r>
            <a:r>
              <a:rPr sz="2000" b="1" spc="-2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85" dirty="0">
                <a:solidFill>
                  <a:srgbClr val="0D3553"/>
                </a:solidFill>
                <a:latin typeface="Arial"/>
                <a:cs typeface="Arial"/>
              </a:rPr>
              <a:t>Virtualization</a:t>
            </a:r>
            <a:r>
              <a:rPr sz="2000" b="1" spc="5" dirty="0">
                <a:solidFill>
                  <a:srgbClr val="0D3553"/>
                </a:solidFill>
                <a:latin typeface="Arial"/>
                <a:cs typeface="Arial"/>
              </a:rPr>
              <a:t> </a:t>
            </a:r>
            <a:r>
              <a:rPr sz="2000" b="1" spc="-55" dirty="0" smtClean="0">
                <a:solidFill>
                  <a:srgbClr val="0D3553"/>
                </a:solidFill>
                <a:latin typeface="Arial"/>
                <a:cs typeface="Arial"/>
              </a:rPr>
              <a:t>Solutions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838688" y="0"/>
              <a:ext cx="1353820" cy="1353820"/>
            </a:xfrm>
            <a:custGeom>
              <a:avLst/>
              <a:gdLst/>
              <a:ahLst/>
              <a:cxnLst/>
              <a:rect l="l" t="t" r="r" b="b"/>
              <a:pathLst>
                <a:path w="1353820" h="1353820">
                  <a:moveTo>
                    <a:pt x="1353311" y="0"/>
                  </a:moveTo>
                  <a:lnTo>
                    <a:pt x="0" y="0"/>
                  </a:lnTo>
                  <a:lnTo>
                    <a:pt x="0" y="1353312"/>
                  </a:lnTo>
                  <a:lnTo>
                    <a:pt x="1353311" y="1353312"/>
                  </a:lnTo>
                  <a:lnTo>
                    <a:pt x="1353311" y="0"/>
                  </a:lnTo>
                  <a:close/>
                </a:path>
              </a:pathLst>
            </a:custGeom>
            <a:solidFill>
              <a:srgbClr val="9ACD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85376" y="0"/>
              <a:ext cx="1353820" cy="1353820"/>
            </a:xfrm>
            <a:custGeom>
              <a:avLst/>
              <a:gdLst/>
              <a:ahLst/>
              <a:cxnLst/>
              <a:rect l="l" t="t" r="r" b="b"/>
              <a:pathLst>
                <a:path w="1353820" h="1353820">
                  <a:moveTo>
                    <a:pt x="1353312" y="0"/>
                  </a:moveTo>
                  <a:lnTo>
                    <a:pt x="0" y="1353312"/>
                  </a:lnTo>
                  <a:lnTo>
                    <a:pt x="1353312" y="1353312"/>
                  </a:lnTo>
                  <a:lnTo>
                    <a:pt x="1353312" y="0"/>
                  </a:lnTo>
                  <a:close/>
                </a:path>
              </a:pathLst>
            </a:custGeom>
            <a:solidFill>
              <a:srgbClr val="F9A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85376" y="0"/>
              <a:ext cx="1353820" cy="1353820"/>
            </a:xfrm>
            <a:custGeom>
              <a:avLst/>
              <a:gdLst/>
              <a:ahLst/>
              <a:cxnLst/>
              <a:rect l="l" t="t" r="r" b="b"/>
              <a:pathLst>
                <a:path w="1353820" h="1353820">
                  <a:moveTo>
                    <a:pt x="1353312" y="0"/>
                  </a:moveTo>
                  <a:lnTo>
                    <a:pt x="0" y="0"/>
                  </a:lnTo>
                  <a:lnTo>
                    <a:pt x="0" y="1353312"/>
                  </a:lnTo>
                  <a:lnTo>
                    <a:pt x="1353312" y="0"/>
                  </a:lnTo>
                  <a:close/>
                </a:path>
              </a:pathLst>
            </a:custGeom>
            <a:solidFill>
              <a:srgbClr val="89C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30540" y="0"/>
              <a:ext cx="1355090" cy="1353820"/>
            </a:xfrm>
            <a:custGeom>
              <a:avLst/>
              <a:gdLst/>
              <a:ahLst/>
              <a:cxnLst/>
              <a:rect l="l" t="t" r="r" b="b"/>
              <a:pathLst>
                <a:path w="1355090" h="1353820">
                  <a:moveTo>
                    <a:pt x="1354835" y="0"/>
                  </a:moveTo>
                  <a:lnTo>
                    <a:pt x="0" y="0"/>
                  </a:lnTo>
                  <a:lnTo>
                    <a:pt x="1354835" y="1353312"/>
                  </a:lnTo>
                  <a:lnTo>
                    <a:pt x="1354835" y="0"/>
                  </a:lnTo>
                  <a:close/>
                </a:path>
              </a:pathLst>
            </a:custGeom>
            <a:solidFill>
              <a:srgbClr val="9ACD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838688" y="1353311"/>
              <a:ext cx="1353820" cy="1355090"/>
            </a:xfrm>
            <a:custGeom>
              <a:avLst/>
              <a:gdLst/>
              <a:ahLst/>
              <a:cxnLst/>
              <a:rect l="l" t="t" r="r" b="b"/>
              <a:pathLst>
                <a:path w="1353820" h="1355089">
                  <a:moveTo>
                    <a:pt x="1353311" y="0"/>
                  </a:moveTo>
                  <a:lnTo>
                    <a:pt x="0" y="0"/>
                  </a:lnTo>
                  <a:lnTo>
                    <a:pt x="1353311" y="1354836"/>
                  </a:lnTo>
                  <a:lnTo>
                    <a:pt x="1353311" y="0"/>
                  </a:lnTo>
                  <a:close/>
                </a:path>
              </a:pathLst>
            </a:custGeom>
            <a:solidFill>
              <a:srgbClr val="89C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633473" y="2475738"/>
            <a:ext cx="2926080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>
                <a:solidFill>
                  <a:srgbClr val="FFFFFF"/>
                </a:solidFill>
              </a:rPr>
              <a:t>WHAT</a:t>
            </a:r>
            <a:r>
              <a:rPr spc="-290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IS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554480" y="3319271"/>
            <a:ext cx="8757285" cy="901065"/>
          </a:xfrm>
          <a:prstGeom prst="rect">
            <a:avLst/>
          </a:prstGeom>
          <a:solidFill>
            <a:srgbClr val="0D3553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6230"/>
              </a:lnSpc>
            </a:pPr>
            <a:r>
              <a:rPr sz="5600" spc="-10" dirty="0">
                <a:solidFill>
                  <a:srgbClr val="FFFFFF"/>
                </a:solidFill>
                <a:latin typeface="Arial MT"/>
                <a:cs typeface="Arial MT"/>
              </a:rPr>
              <a:t>VIRTUALIZATION?</a:t>
            </a:r>
            <a:endParaRPr sz="5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3510" y="700532"/>
            <a:ext cx="5421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0" dirty="0">
                <a:solidFill>
                  <a:srgbClr val="0D3553"/>
                </a:solidFill>
              </a:rPr>
              <a:t>HARDWARE</a:t>
            </a:r>
            <a:r>
              <a:rPr sz="3600" spc="-15" dirty="0">
                <a:solidFill>
                  <a:srgbClr val="0D3553"/>
                </a:solidFill>
              </a:rPr>
              <a:t> </a:t>
            </a:r>
            <a:r>
              <a:rPr sz="3600" spc="-305" dirty="0">
                <a:solidFill>
                  <a:srgbClr val="0D3553"/>
                </a:solidFill>
              </a:rPr>
              <a:t>AND</a:t>
            </a:r>
            <a:r>
              <a:rPr sz="3600" spc="-5" dirty="0">
                <a:solidFill>
                  <a:srgbClr val="0D3553"/>
                </a:solidFill>
              </a:rPr>
              <a:t> </a:t>
            </a:r>
            <a:r>
              <a:rPr sz="3600" spc="-505" dirty="0">
                <a:solidFill>
                  <a:srgbClr val="0D3553"/>
                </a:solidFill>
              </a:rPr>
              <a:t>SOFTWARE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4891" y="3122676"/>
            <a:ext cx="4738116" cy="37353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9832" y="1665858"/>
            <a:ext cx="869124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Do</a:t>
            </a:r>
            <a:r>
              <a:rPr sz="2000" spc="-3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you</a:t>
            </a:r>
            <a:r>
              <a:rPr sz="2000" spc="-2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use</a:t>
            </a:r>
            <a:r>
              <a:rPr sz="2000" spc="-3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a</a:t>
            </a:r>
            <a:r>
              <a:rPr sz="2000" spc="-3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smartphone,</a:t>
            </a:r>
            <a:r>
              <a:rPr sz="2000" spc="-5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laptop</a:t>
            </a:r>
            <a:r>
              <a:rPr sz="2000" spc="-3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or</a:t>
            </a:r>
            <a:r>
              <a:rPr sz="2000" spc="-3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home</a:t>
            </a:r>
            <a:r>
              <a:rPr sz="2000" spc="-4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C96DE"/>
                </a:solidFill>
                <a:latin typeface="Arial MT"/>
                <a:cs typeface="Arial MT"/>
              </a:rPr>
              <a:t>computer?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3C96DE"/>
              </a:buClr>
              <a:buFont typeface="Microsoft Sans Serif"/>
              <a:buChar char="•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Smartphones,</a:t>
            </a:r>
            <a:r>
              <a:rPr sz="2000" spc="-6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laptops</a:t>
            </a:r>
            <a:r>
              <a:rPr sz="2000" spc="-1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or</a:t>
            </a:r>
            <a:r>
              <a:rPr sz="2000" spc="-2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home</a:t>
            </a:r>
            <a:r>
              <a:rPr sz="2000" spc="-1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computers</a:t>
            </a:r>
            <a:r>
              <a:rPr sz="2000" spc="-4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are</a:t>
            </a:r>
            <a:r>
              <a:rPr sz="2000" spc="-3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C96DE"/>
                </a:solidFill>
                <a:latin typeface="Arial MT"/>
                <a:cs typeface="Arial MT"/>
              </a:rPr>
              <a:t>hardware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3C96DE"/>
              </a:buClr>
              <a:buFont typeface="Microsoft Sans Serif"/>
              <a:buChar char="•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Similar</a:t>
            </a:r>
            <a:r>
              <a:rPr sz="2000" spc="-1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how</a:t>
            </a:r>
            <a:r>
              <a:rPr sz="2000" spc="-3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your</a:t>
            </a:r>
            <a:r>
              <a:rPr sz="2000" spc="-2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brain</a:t>
            </a:r>
            <a:r>
              <a:rPr sz="2000" spc="-4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controls</a:t>
            </a:r>
            <a:r>
              <a:rPr sz="2000" spc="-4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your</a:t>
            </a:r>
            <a:r>
              <a:rPr sz="2000" spc="-2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actions,</a:t>
            </a:r>
            <a:r>
              <a:rPr sz="2000" spc="-4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software</a:t>
            </a:r>
            <a:r>
              <a:rPr sz="2000" spc="-5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controls</a:t>
            </a:r>
            <a:r>
              <a:rPr sz="2000" spc="-4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C96DE"/>
                </a:solidFill>
                <a:latin typeface="Arial MT"/>
                <a:cs typeface="Arial MT"/>
              </a:rPr>
              <a:t>hardware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3C96DE"/>
              </a:buClr>
              <a:buFont typeface="Microsoft Sans Serif"/>
              <a:buChar char="•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Microsoft Sans Serif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There</a:t>
            </a:r>
            <a:r>
              <a:rPr sz="2000" spc="-4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are</a:t>
            </a:r>
            <a:r>
              <a:rPr sz="2000" spc="-2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different</a:t>
            </a:r>
            <a:r>
              <a:rPr sz="2000" spc="-4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types</a:t>
            </a:r>
            <a:r>
              <a:rPr sz="2000" spc="-3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software</a:t>
            </a:r>
            <a:r>
              <a:rPr sz="2000" spc="-5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that</a:t>
            </a:r>
            <a:r>
              <a:rPr sz="2000" spc="-3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control</a:t>
            </a:r>
            <a:r>
              <a:rPr sz="2000" spc="-5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C96DE"/>
                </a:solidFill>
                <a:latin typeface="Arial MT"/>
                <a:cs typeface="Arial MT"/>
              </a:rPr>
              <a:t>computer</a:t>
            </a:r>
            <a:r>
              <a:rPr sz="2000" spc="-5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C96DE"/>
                </a:solidFill>
                <a:latin typeface="Arial MT"/>
                <a:cs typeface="Arial MT"/>
              </a:rPr>
              <a:t>actions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641094" y="1782445"/>
          <a:ext cx="9283065" cy="4391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2320"/>
                <a:gridCol w="7230745"/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Leelawadee UI"/>
                          <a:cs typeface="Leelawadee UI"/>
                        </a:rPr>
                        <a:t>Processor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Also</a:t>
                      </a:r>
                      <a:r>
                        <a:rPr sz="2000" spc="3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called</a:t>
                      </a:r>
                      <a:r>
                        <a:rPr sz="2000" spc="5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CPU</a:t>
                      </a:r>
                      <a:r>
                        <a:rPr sz="2000" spc="27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(Central</a:t>
                      </a:r>
                      <a:r>
                        <a:rPr sz="2000" spc="114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Processing</a:t>
                      </a:r>
                      <a:r>
                        <a:rPr sz="2000" spc="6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Unit)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25" dirty="0">
                          <a:latin typeface="Leelawadee UI"/>
                          <a:cs typeface="Leelawadee UI"/>
                        </a:rPr>
                        <a:t>RAM</a:t>
                      </a:r>
                      <a:endParaRPr sz="2800">
                        <a:latin typeface="Leelawadee UI"/>
                        <a:cs typeface="Leelawadee U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Random</a:t>
                      </a:r>
                      <a:r>
                        <a:rPr sz="2000" spc="-17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6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Access</a:t>
                      </a:r>
                      <a:r>
                        <a:rPr sz="2000" spc="15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Memory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</a:tr>
              <a:tr h="1005205">
                <a:tc>
                  <a:txBody>
                    <a:bodyPr/>
                    <a:lstStyle/>
                    <a:p>
                      <a:pPr marL="91440" marR="75946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Leelawadee UI"/>
                          <a:cs typeface="Leelawadee UI"/>
                        </a:rPr>
                        <a:t>Read-</a:t>
                      </a:r>
                      <a:r>
                        <a:rPr sz="2000" spc="-20" dirty="0">
                          <a:latin typeface="Leelawadee UI"/>
                          <a:cs typeface="Leelawadee UI"/>
                        </a:rPr>
                        <a:t>Only </a:t>
                      </a:r>
                      <a:r>
                        <a:rPr sz="2000" spc="-10" dirty="0">
                          <a:latin typeface="Leelawadee UI"/>
                          <a:cs typeface="Leelawadee UI"/>
                        </a:rPr>
                        <a:t>Memory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3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Non-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volatile</a:t>
                      </a:r>
                      <a:r>
                        <a:rPr sz="2000" spc="-1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memory</a:t>
                      </a:r>
                      <a:r>
                        <a:rPr sz="2000" spc="-6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that</a:t>
                      </a:r>
                      <a:r>
                        <a:rPr sz="2000" spc="-13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stores</a:t>
                      </a:r>
                      <a:r>
                        <a:rPr sz="2000" spc="1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BIOS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  <a:p>
                      <a:pPr marL="16192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*BIOS</a:t>
                      </a:r>
                      <a:r>
                        <a:rPr sz="2000" spc="26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is</a:t>
                      </a:r>
                      <a:r>
                        <a:rPr sz="2000" spc="114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a</a:t>
                      </a:r>
                      <a:r>
                        <a:rPr sz="2000" spc="4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type</a:t>
                      </a:r>
                      <a:r>
                        <a:rPr sz="2000" spc="2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of</a:t>
                      </a:r>
                      <a:r>
                        <a:rPr sz="2000" spc="-1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software</a:t>
                      </a:r>
                      <a:r>
                        <a:rPr sz="2000" spc="-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responsible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3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for</a:t>
                      </a:r>
                      <a:r>
                        <a:rPr sz="2000" spc="-6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4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turning</a:t>
                      </a:r>
                      <a:r>
                        <a:rPr sz="2000" spc="-9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on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4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(booting)</a:t>
                      </a:r>
                      <a:r>
                        <a:rPr sz="2000" spc="-9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computer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Leelawadee UI"/>
                          <a:cs typeface="Leelawadee UI"/>
                        </a:rPr>
                        <a:t>Motherboard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057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Printed</a:t>
                      </a:r>
                      <a:r>
                        <a:rPr sz="2000" spc="-9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Circuit</a:t>
                      </a:r>
                      <a:r>
                        <a:rPr sz="2000" spc="-9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Board</a:t>
                      </a:r>
                      <a:r>
                        <a:rPr sz="2000" spc="-2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(PCB</a:t>
                      </a:r>
                      <a:r>
                        <a:rPr sz="2000" spc="-37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)</a:t>
                      </a:r>
                      <a:r>
                        <a:rPr sz="2000" spc="4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that</a:t>
                      </a:r>
                      <a:r>
                        <a:rPr sz="2000" spc="-15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holds</a:t>
                      </a:r>
                      <a:r>
                        <a:rPr sz="2000" spc="13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the</a:t>
                      </a:r>
                      <a:r>
                        <a:rPr sz="2000" spc="4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processor,</a:t>
                      </a:r>
                      <a:r>
                        <a:rPr sz="2000" spc="7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RAM,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ROM,</a:t>
                      </a:r>
                      <a:r>
                        <a:rPr sz="2000" spc="9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network</a:t>
                      </a:r>
                      <a:r>
                        <a:rPr sz="2000" spc="-4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and</a:t>
                      </a:r>
                      <a:r>
                        <a:rPr sz="2000" spc="-9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5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Input/Output</a:t>
                      </a:r>
                      <a:r>
                        <a:rPr sz="2000" spc="-14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(I/O)</a:t>
                      </a:r>
                      <a:r>
                        <a:rPr sz="2000" spc="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and</a:t>
                      </a:r>
                      <a:r>
                        <a:rPr sz="2000" spc="-9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other</a:t>
                      </a:r>
                      <a:r>
                        <a:rPr sz="2000" spc="-6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components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spc="-10" dirty="0">
                          <a:latin typeface="Leelawadee UI"/>
                          <a:cs typeface="Leelawadee UI"/>
                        </a:rPr>
                        <a:t>Chipset</a:t>
                      </a:r>
                      <a:endParaRPr sz="2800">
                        <a:latin typeface="Leelawadee UI"/>
                        <a:cs typeface="Leelawadee U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A</a:t>
                      </a:r>
                      <a:r>
                        <a:rPr sz="2000" spc="-14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collection</a:t>
                      </a:r>
                      <a:r>
                        <a:rPr sz="2000" spc="-114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of</a:t>
                      </a:r>
                      <a:r>
                        <a:rPr sz="2000" spc="-12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microchips</a:t>
                      </a:r>
                      <a:r>
                        <a:rPr sz="2000" spc="7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on</a:t>
                      </a:r>
                      <a:r>
                        <a:rPr sz="2000" spc="-6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4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motherboard</a:t>
                      </a:r>
                      <a:r>
                        <a:rPr sz="2000" spc="-1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that</a:t>
                      </a:r>
                      <a:r>
                        <a:rPr sz="2000" spc="-15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manage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specific</a:t>
                      </a:r>
                      <a:r>
                        <a:rPr sz="2000" spc="9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functions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800" spc="-10" dirty="0">
                          <a:latin typeface="Leelawadee UI"/>
                          <a:cs typeface="Leelawadee UI"/>
                        </a:rPr>
                        <a:t>Storage</a:t>
                      </a:r>
                      <a:endParaRPr sz="2800">
                        <a:latin typeface="Leelawadee UI"/>
                        <a:cs typeface="Leelawadee U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27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A</a:t>
                      </a:r>
                      <a:r>
                        <a:rPr sz="2000" spc="-9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persistent</a:t>
                      </a:r>
                      <a:r>
                        <a:rPr sz="2000" spc="-14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3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(non-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volatile)</a:t>
                      </a:r>
                      <a:r>
                        <a:rPr sz="2000" spc="5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storage</a:t>
                      </a:r>
                      <a:r>
                        <a:rPr sz="2000" spc="5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device</a:t>
                      </a:r>
                      <a:r>
                        <a:rPr sz="2000" spc="13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such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as</a:t>
                      </a:r>
                      <a:r>
                        <a:rPr sz="2000" spc="18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a</a:t>
                      </a:r>
                      <a:r>
                        <a:rPr sz="2000" spc="13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Hard</a:t>
                      </a:r>
                      <a:r>
                        <a:rPr sz="2000" spc="-3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1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Drive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Disk</a:t>
                      </a:r>
                      <a:r>
                        <a:rPr sz="2000" spc="-5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or</a:t>
                      </a:r>
                      <a:r>
                        <a:rPr sz="2000" spc="-5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S</a:t>
                      </a:r>
                      <a:r>
                        <a:rPr sz="2000" spc="-285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4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olid</a:t>
                      </a:r>
                      <a:r>
                        <a:rPr sz="2000" spc="-9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S</a:t>
                      </a:r>
                      <a:r>
                        <a:rPr sz="2000" spc="-28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tate</a:t>
                      </a:r>
                      <a:r>
                        <a:rPr sz="2000" spc="4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 </a:t>
                      </a:r>
                      <a:r>
                        <a:rPr sz="2000" spc="-20" dirty="0">
                          <a:solidFill>
                            <a:srgbClr val="0D3553"/>
                          </a:solidFill>
                          <a:latin typeface="Leelawadee UI"/>
                          <a:cs typeface="Leelawadee UI"/>
                        </a:rPr>
                        <a:t>Drive</a:t>
                      </a:r>
                      <a:endParaRPr sz="2000">
                        <a:latin typeface="Leelawadee UI"/>
                        <a:cs typeface="Leelawade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6478" rIns="0" bIns="0" rtlCol="0">
            <a:spAutoFit/>
          </a:bodyPr>
          <a:lstStyle/>
          <a:p>
            <a:pPr marL="1542415">
              <a:lnSpc>
                <a:spcPct val="100000"/>
              </a:lnSpc>
              <a:spcBef>
                <a:spcPts val="105"/>
              </a:spcBef>
            </a:pPr>
            <a:r>
              <a:rPr sz="4400" spc="-620" dirty="0">
                <a:solidFill>
                  <a:srgbClr val="0D3553"/>
                </a:solidFill>
              </a:rPr>
              <a:t>HARDWARE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9439" y="2174748"/>
            <a:ext cx="438912" cy="4404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6767" y="2703576"/>
            <a:ext cx="440435" cy="4389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1716" y="3354323"/>
            <a:ext cx="475487" cy="4754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68979" y="4259579"/>
            <a:ext cx="402336" cy="4023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39439" y="4869179"/>
            <a:ext cx="438912" cy="44043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39439" y="5526023"/>
            <a:ext cx="473963" cy="473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0636" rIns="0" bIns="0" rtlCol="0">
            <a:spAutoFit/>
          </a:bodyPr>
          <a:lstStyle/>
          <a:p>
            <a:pPr marL="1301115">
              <a:lnSpc>
                <a:spcPct val="100000"/>
              </a:lnSpc>
              <a:spcBef>
                <a:spcPts val="100"/>
              </a:spcBef>
            </a:pPr>
            <a:r>
              <a:rPr sz="3600" spc="-500" dirty="0">
                <a:solidFill>
                  <a:srgbClr val="0D3553"/>
                </a:solidFill>
              </a:rPr>
              <a:t>SOFTWARE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71778" y="2166315"/>
            <a:ext cx="8859520" cy="258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800" spc="65" dirty="0">
                <a:solidFill>
                  <a:srgbClr val="3C96DE"/>
                </a:solidFill>
                <a:latin typeface="Leelawadee UI"/>
                <a:cs typeface="Leelawadee UI"/>
              </a:rPr>
              <a:t>System</a:t>
            </a:r>
            <a:r>
              <a:rPr sz="2800" spc="-3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software</a:t>
            </a:r>
            <a:r>
              <a:rPr sz="2800" spc="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is</a:t>
            </a:r>
            <a:r>
              <a:rPr sz="2800" spc="1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75" dirty="0">
                <a:solidFill>
                  <a:srgbClr val="3C96DE"/>
                </a:solidFill>
                <a:latin typeface="Leelawadee UI"/>
                <a:cs typeface="Leelawadee UI"/>
              </a:rPr>
              <a:t>necessary</a:t>
            </a:r>
            <a:r>
              <a:rPr sz="2800" spc="-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for</a:t>
            </a:r>
            <a:r>
              <a:rPr sz="2800" spc="-8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hardware</a:t>
            </a:r>
            <a:r>
              <a:rPr sz="2800" spc="-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to</a:t>
            </a:r>
            <a:r>
              <a:rPr sz="2800" spc="-1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function</a:t>
            </a:r>
            <a:endParaRPr sz="2800">
              <a:latin typeface="Leelawadee UI"/>
              <a:cs typeface="Leelawadee UI"/>
            </a:endParaRPr>
          </a:p>
          <a:p>
            <a:pPr marL="299085" indent="-286385">
              <a:lnSpc>
                <a:spcPct val="100000"/>
              </a:lnSpc>
              <a:spcBef>
                <a:spcPts val="3365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800" spc="-25" dirty="0">
                <a:solidFill>
                  <a:srgbClr val="3C96DE"/>
                </a:solidFill>
                <a:latin typeface="Leelawadee UI"/>
                <a:cs typeface="Leelawadee UI"/>
              </a:rPr>
              <a:t>Operating</a:t>
            </a:r>
            <a:r>
              <a:rPr sz="2800" spc="-9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system</a:t>
            </a:r>
            <a:r>
              <a:rPr sz="2800" spc="-2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65" dirty="0">
                <a:solidFill>
                  <a:srgbClr val="3C96DE"/>
                </a:solidFill>
                <a:latin typeface="Leelawadee UI"/>
                <a:cs typeface="Leelawadee UI"/>
              </a:rPr>
              <a:t>(OS)</a:t>
            </a:r>
            <a:r>
              <a:rPr sz="2800" spc="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20" dirty="0">
                <a:solidFill>
                  <a:srgbClr val="3C96DE"/>
                </a:solidFill>
                <a:latin typeface="Leelawadee UI"/>
                <a:cs typeface="Leelawadee UI"/>
              </a:rPr>
              <a:t>controls</a:t>
            </a:r>
            <a:r>
              <a:rPr sz="2800" spc="5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2800" spc="5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hardware</a:t>
            </a:r>
            <a:endParaRPr sz="2800">
              <a:latin typeface="Leelawadee UI"/>
              <a:cs typeface="Leelawadee UI"/>
            </a:endParaRPr>
          </a:p>
          <a:p>
            <a:pPr marL="299085" marR="621665" indent="-287020">
              <a:lnSpc>
                <a:spcPct val="100000"/>
              </a:lnSpc>
              <a:spcBef>
                <a:spcPts val="336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800" spc="-30" dirty="0">
                <a:solidFill>
                  <a:srgbClr val="3C96DE"/>
                </a:solidFill>
                <a:latin typeface="Leelawadee UI"/>
                <a:cs typeface="Leelawadee UI"/>
              </a:rPr>
              <a:t>Application</a:t>
            </a:r>
            <a:r>
              <a:rPr sz="2800" spc="-7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software</a:t>
            </a:r>
            <a:r>
              <a:rPr sz="2800" spc="-1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tells</a:t>
            </a:r>
            <a:r>
              <a:rPr sz="2800" spc="12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your</a:t>
            </a:r>
            <a:r>
              <a:rPr sz="2800" spc="-5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system</a:t>
            </a:r>
            <a:r>
              <a:rPr sz="2800" spc="-10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to</a:t>
            </a:r>
            <a:r>
              <a:rPr sz="2800" spc="-10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execute</a:t>
            </a:r>
            <a:r>
              <a:rPr sz="2800" spc="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50" dirty="0">
                <a:solidFill>
                  <a:srgbClr val="3C96DE"/>
                </a:solidFill>
                <a:latin typeface="Leelawadee UI"/>
                <a:cs typeface="Leelawadee UI"/>
              </a:rPr>
              <a:t>a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task</a:t>
            </a:r>
            <a:r>
              <a:rPr sz="2800" spc="6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you</a:t>
            </a:r>
            <a:r>
              <a:rPr sz="2800" spc="-5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want</a:t>
            </a:r>
            <a:r>
              <a:rPr sz="2800" spc="-9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20" dirty="0">
                <a:solidFill>
                  <a:srgbClr val="3C96DE"/>
                </a:solidFill>
                <a:latin typeface="Leelawadee UI"/>
                <a:cs typeface="Leelawadee UI"/>
              </a:rPr>
              <a:t>done</a:t>
            </a:r>
            <a:endParaRPr sz="2800">
              <a:latin typeface="Leelawadee UI"/>
              <a:cs typeface="Leelawade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04276" y="2699004"/>
            <a:ext cx="3230880" cy="1064260"/>
            <a:chOff x="8304276" y="2699004"/>
            <a:chExt cx="3230880" cy="10642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2895600"/>
              <a:ext cx="1414272" cy="8412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6836" y="2820924"/>
              <a:ext cx="687324" cy="8503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60736" y="2699004"/>
              <a:ext cx="1074420" cy="10637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2352" y="438912"/>
              <a:ext cx="7600188" cy="18089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8260" y="2322576"/>
              <a:ext cx="9354311" cy="37505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8520" y="5948170"/>
              <a:ext cx="4724400" cy="8549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2361" y="4859782"/>
            <a:ext cx="885444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144645" algn="l"/>
              </a:tabLst>
            </a:pP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Now</a:t>
            </a:r>
            <a:r>
              <a:rPr sz="2000" spc="-7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25" dirty="0">
                <a:solidFill>
                  <a:srgbClr val="3C96DE"/>
                </a:solidFill>
                <a:latin typeface="Leelawadee UI"/>
                <a:cs typeface="Leelawadee UI"/>
              </a:rPr>
              <a:t>that</a:t>
            </a:r>
            <a:r>
              <a:rPr sz="2000" spc="-1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you</a:t>
            </a:r>
            <a:r>
              <a:rPr sz="2000" spc="-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are</a:t>
            </a:r>
            <a:r>
              <a:rPr sz="2000" spc="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aware</a:t>
            </a:r>
            <a:r>
              <a:rPr sz="2000" spc="1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10" dirty="0">
                <a:solidFill>
                  <a:srgbClr val="3C96DE"/>
                </a:solidFill>
                <a:latin typeface="Leelawadee UI"/>
                <a:cs typeface="Leelawadee UI"/>
              </a:rPr>
              <a:t>of</a:t>
            </a:r>
            <a:r>
              <a:rPr sz="2000" spc="-10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2000" spc="2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roles</a:t>
            </a:r>
            <a:r>
              <a:rPr sz="2000" spc="9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20" dirty="0">
                <a:solidFill>
                  <a:srgbClr val="3C96DE"/>
                </a:solidFill>
                <a:latin typeface="Leelawadee UI"/>
                <a:cs typeface="Leelawadee UI"/>
              </a:rPr>
              <a:t>of</a:t>
            </a:r>
            <a:r>
              <a:rPr sz="2000" spc="-1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hardware and</a:t>
            </a:r>
            <a:r>
              <a:rPr sz="2000" spc="-10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software,</a:t>
            </a:r>
            <a:r>
              <a:rPr sz="2000" spc="5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2000" spc="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concept</a:t>
            </a:r>
            <a:r>
              <a:rPr sz="2000" spc="-16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25" dirty="0">
                <a:solidFill>
                  <a:srgbClr val="3C96DE"/>
                </a:solidFill>
                <a:latin typeface="Leelawadee UI"/>
                <a:cs typeface="Leelawadee UI"/>
              </a:rPr>
              <a:t>of </a:t>
            </a:r>
            <a:r>
              <a:rPr sz="2000" spc="-20" dirty="0">
                <a:solidFill>
                  <a:srgbClr val="3C96DE"/>
                </a:solidFill>
                <a:latin typeface="Leelawadee UI"/>
                <a:cs typeface="Leelawadee UI"/>
              </a:rPr>
              <a:t>virtualization</a:t>
            </a:r>
            <a:r>
              <a:rPr sz="2000" spc="-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10" dirty="0">
                <a:solidFill>
                  <a:srgbClr val="3C96DE"/>
                </a:solidFill>
                <a:latin typeface="Leelawadee UI"/>
                <a:cs typeface="Leelawadee UI"/>
              </a:rPr>
              <a:t>will</a:t>
            </a:r>
            <a:r>
              <a:rPr sz="2000" spc="-8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be</a:t>
            </a:r>
            <a:r>
              <a:rPr sz="2000" spc="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50" dirty="0">
                <a:solidFill>
                  <a:srgbClr val="3C96DE"/>
                </a:solidFill>
                <a:latin typeface="Leelawadee UI"/>
                <a:cs typeface="Leelawadee UI"/>
              </a:rPr>
              <a:t>easier</a:t>
            </a:r>
            <a:r>
              <a:rPr sz="2000" spc="-8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80" dirty="0">
                <a:solidFill>
                  <a:srgbClr val="3C96DE"/>
                </a:solidFill>
                <a:latin typeface="Leelawadee UI"/>
                <a:cs typeface="Leelawadee UI"/>
              </a:rPr>
              <a:t>to</a:t>
            </a:r>
            <a:r>
              <a:rPr sz="2000" spc="-7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10" dirty="0">
                <a:solidFill>
                  <a:srgbClr val="3C96DE"/>
                </a:solidFill>
                <a:latin typeface="Leelawadee UI"/>
                <a:cs typeface="Leelawadee UI"/>
              </a:rPr>
              <a:t>grasp.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	</a:t>
            </a:r>
            <a:r>
              <a:rPr sz="2000" spc="-20" dirty="0">
                <a:solidFill>
                  <a:srgbClr val="3C96DE"/>
                </a:solidFill>
                <a:latin typeface="Leelawadee UI"/>
                <a:cs typeface="Leelawadee UI"/>
              </a:rPr>
              <a:t>Virtualization</a:t>
            </a:r>
            <a:r>
              <a:rPr sz="2000" spc="-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is</a:t>
            </a:r>
            <a:r>
              <a:rPr sz="2000" spc="9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2000" spc="5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“layer”</a:t>
            </a:r>
            <a:r>
              <a:rPr sz="2000" spc="-5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20" dirty="0">
                <a:solidFill>
                  <a:srgbClr val="3C96DE"/>
                </a:solidFill>
                <a:latin typeface="Leelawadee UI"/>
                <a:cs typeface="Leelawadee UI"/>
              </a:rPr>
              <a:t>of</a:t>
            </a:r>
            <a:r>
              <a:rPr sz="2000" spc="-1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10" dirty="0">
                <a:solidFill>
                  <a:srgbClr val="3C96DE"/>
                </a:solidFill>
                <a:latin typeface="Leelawadee UI"/>
                <a:cs typeface="Leelawadee UI"/>
              </a:rPr>
              <a:t>technology </a:t>
            </a:r>
            <a:r>
              <a:rPr sz="2000" spc="-25" dirty="0">
                <a:solidFill>
                  <a:srgbClr val="3C96DE"/>
                </a:solidFill>
                <a:latin typeface="Leelawadee UI"/>
                <a:cs typeface="Leelawadee UI"/>
              </a:rPr>
              <a:t>that</a:t>
            </a:r>
            <a:r>
              <a:rPr sz="2000" spc="-1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goes</a:t>
            </a:r>
            <a:r>
              <a:rPr sz="2000" spc="7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between</a:t>
            </a:r>
            <a:r>
              <a:rPr sz="2000" spc="-6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2000" spc="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physical</a:t>
            </a:r>
            <a:r>
              <a:rPr sz="2000" spc="-9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hardware</a:t>
            </a:r>
            <a:r>
              <a:rPr sz="2000" spc="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20" dirty="0">
                <a:solidFill>
                  <a:srgbClr val="3C96DE"/>
                </a:solidFill>
                <a:latin typeface="Leelawadee UI"/>
                <a:cs typeface="Leelawadee UI"/>
              </a:rPr>
              <a:t>of</a:t>
            </a:r>
            <a:r>
              <a:rPr sz="2000" spc="-9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a</a:t>
            </a:r>
            <a:r>
              <a:rPr sz="2000" spc="7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device</a:t>
            </a:r>
            <a:r>
              <a:rPr sz="2000" spc="7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and</a:t>
            </a:r>
            <a:r>
              <a:rPr sz="2000" spc="-9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2000" spc="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30" dirty="0">
                <a:solidFill>
                  <a:srgbClr val="3C96DE"/>
                </a:solidFill>
                <a:latin typeface="Leelawadee UI"/>
                <a:cs typeface="Leelawadee UI"/>
              </a:rPr>
              <a:t>operating</a:t>
            </a:r>
            <a:r>
              <a:rPr sz="2000" spc="-8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10" dirty="0">
                <a:solidFill>
                  <a:srgbClr val="3C96DE"/>
                </a:solidFill>
                <a:latin typeface="Leelawadee UI"/>
                <a:cs typeface="Leelawadee UI"/>
              </a:rPr>
              <a:t>system </a:t>
            </a:r>
            <a:r>
              <a:rPr sz="2000" spc="-80" dirty="0">
                <a:solidFill>
                  <a:srgbClr val="3C96DE"/>
                </a:solidFill>
                <a:latin typeface="Leelawadee UI"/>
                <a:cs typeface="Leelawadee UI"/>
              </a:rPr>
              <a:t>to</a:t>
            </a:r>
            <a:r>
              <a:rPr sz="2000" spc="-7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create</a:t>
            </a:r>
            <a:r>
              <a:rPr sz="2000" spc="-114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one</a:t>
            </a:r>
            <a:r>
              <a:rPr sz="2000" spc="-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or</a:t>
            </a:r>
            <a:r>
              <a:rPr sz="2000" spc="-1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more</a:t>
            </a:r>
            <a:r>
              <a:rPr sz="2000" spc="-3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copies</a:t>
            </a:r>
            <a:r>
              <a:rPr sz="2000" spc="6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20" dirty="0">
                <a:solidFill>
                  <a:srgbClr val="3C96DE"/>
                </a:solidFill>
                <a:latin typeface="Leelawadee UI"/>
                <a:cs typeface="Leelawadee UI"/>
              </a:rPr>
              <a:t>of</a:t>
            </a:r>
            <a:r>
              <a:rPr sz="2000" spc="-114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2000" spc="-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000" spc="-10" dirty="0">
                <a:solidFill>
                  <a:srgbClr val="3C96DE"/>
                </a:solidFill>
                <a:latin typeface="Leelawadee UI"/>
                <a:cs typeface="Leelawadee UI"/>
              </a:rPr>
              <a:t>device.</a:t>
            </a:r>
            <a:endParaRPr sz="2000">
              <a:latin typeface="Leelawadee UI"/>
              <a:cs typeface="Leelawade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804" y="1321307"/>
            <a:ext cx="6998208" cy="34991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3473" y="3226765"/>
            <a:ext cx="537654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>
                <a:solidFill>
                  <a:srgbClr val="FFFFFF"/>
                </a:solidFill>
              </a:rPr>
              <a:t>WHAT</a:t>
            </a:r>
            <a:r>
              <a:rPr spc="-16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IS</a:t>
            </a:r>
            <a:r>
              <a:rPr spc="-37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</a:t>
            </a:r>
            <a:r>
              <a:rPr spc="-37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VM</a:t>
            </a:r>
            <a:r>
              <a:rPr spc="-55" dirty="0">
                <a:solidFill>
                  <a:srgbClr val="FFFFFF"/>
                </a:solidFill>
              </a:rPr>
              <a:t> </a:t>
            </a:r>
            <a:r>
              <a:rPr spc="-50" dirty="0">
                <a:solidFill>
                  <a:srgbClr val="FFFFFF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00123" y="4624628"/>
            <a:ext cx="1812289" cy="408940"/>
          </a:xfrm>
          <a:custGeom>
            <a:avLst/>
            <a:gdLst/>
            <a:ahLst/>
            <a:cxnLst/>
            <a:rect l="l" t="t" r="r" b="b"/>
            <a:pathLst>
              <a:path w="1812289" h="408939">
                <a:moveTo>
                  <a:pt x="1812034" y="0"/>
                </a:moveTo>
                <a:lnTo>
                  <a:pt x="0" y="0"/>
                </a:lnTo>
                <a:lnTo>
                  <a:pt x="0" y="408355"/>
                </a:lnTo>
                <a:lnTo>
                  <a:pt x="1812034" y="408355"/>
                </a:lnTo>
                <a:lnTo>
                  <a:pt x="1812034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3717671" y="2482773"/>
              <a:ext cx="2447290" cy="408940"/>
            </a:xfrm>
            <a:custGeom>
              <a:avLst/>
              <a:gdLst/>
              <a:ahLst/>
              <a:cxnLst/>
              <a:rect l="l" t="t" r="r" b="b"/>
              <a:pathLst>
                <a:path w="2447290" h="408939">
                  <a:moveTo>
                    <a:pt x="2446926" y="0"/>
                  </a:moveTo>
                  <a:lnTo>
                    <a:pt x="0" y="0"/>
                  </a:lnTo>
                  <a:lnTo>
                    <a:pt x="0" y="408355"/>
                  </a:lnTo>
                  <a:lnTo>
                    <a:pt x="2446926" y="408355"/>
                  </a:lnTo>
                  <a:lnTo>
                    <a:pt x="2446926" y="0"/>
                  </a:lnTo>
                  <a:close/>
                </a:path>
              </a:pathLst>
            </a:custGeom>
            <a:solidFill>
              <a:srgbClr val="FFE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1134" rIns="0" bIns="0" rtlCol="0">
            <a:spAutoFit/>
          </a:bodyPr>
          <a:lstStyle/>
          <a:p>
            <a:pPr marL="879475">
              <a:lnSpc>
                <a:spcPct val="100000"/>
              </a:lnSpc>
              <a:spcBef>
                <a:spcPts val="100"/>
              </a:spcBef>
            </a:pPr>
            <a:r>
              <a:rPr sz="6600" spc="-1285" dirty="0">
                <a:solidFill>
                  <a:srgbClr val="0D3553"/>
                </a:solidFill>
                <a:latin typeface="Trebuchet MS"/>
                <a:cs typeface="Trebuchet MS"/>
              </a:rPr>
              <a:t>WHAT</a:t>
            </a:r>
            <a:r>
              <a:rPr sz="6600" spc="-1100" dirty="0">
                <a:solidFill>
                  <a:srgbClr val="0D3553"/>
                </a:solidFill>
                <a:latin typeface="Trebuchet MS"/>
                <a:cs typeface="Trebuchet MS"/>
              </a:rPr>
              <a:t> </a:t>
            </a:r>
            <a:r>
              <a:rPr sz="6600" spc="-805" dirty="0">
                <a:solidFill>
                  <a:srgbClr val="0D3553"/>
                </a:solidFill>
                <a:latin typeface="Trebuchet MS"/>
                <a:cs typeface="Trebuchet MS"/>
              </a:rPr>
              <a:t>IS</a:t>
            </a:r>
            <a:r>
              <a:rPr sz="6600" spc="-1095" dirty="0">
                <a:solidFill>
                  <a:srgbClr val="0D3553"/>
                </a:solidFill>
                <a:latin typeface="Trebuchet MS"/>
                <a:cs typeface="Trebuchet MS"/>
              </a:rPr>
              <a:t> </a:t>
            </a:r>
            <a:r>
              <a:rPr sz="6600" spc="-1050" dirty="0">
                <a:solidFill>
                  <a:srgbClr val="0D3553"/>
                </a:solidFill>
                <a:latin typeface="Trebuchet MS"/>
                <a:cs typeface="Trebuchet MS"/>
              </a:rPr>
              <a:t>A</a:t>
            </a:r>
            <a:r>
              <a:rPr sz="6600" spc="-1100" dirty="0">
                <a:solidFill>
                  <a:srgbClr val="0D3553"/>
                </a:solidFill>
                <a:latin typeface="Trebuchet MS"/>
                <a:cs typeface="Trebuchet MS"/>
              </a:rPr>
              <a:t> </a:t>
            </a:r>
            <a:r>
              <a:rPr sz="6600" spc="-944" dirty="0">
                <a:solidFill>
                  <a:srgbClr val="0D3553"/>
                </a:solidFill>
                <a:latin typeface="Trebuchet MS"/>
                <a:cs typeface="Trebuchet MS"/>
              </a:rPr>
              <a:t>VM?</a:t>
            </a:r>
            <a:endParaRPr sz="6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7348" y="2416810"/>
            <a:ext cx="9155430" cy="3020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VM</a:t>
            </a:r>
            <a:r>
              <a:rPr sz="2800" spc="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stands</a:t>
            </a:r>
            <a:r>
              <a:rPr sz="2800" spc="3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for</a:t>
            </a:r>
            <a:r>
              <a:rPr sz="2800" spc="-10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Arial MT"/>
                <a:cs typeface="Arial MT"/>
              </a:rPr>
              <a:t>“</a:t>
            </a:r>
            <a:r>
              <a:rPr sz="2800" b="1" dirty="0">
                <a:solidFill>
                  <a:srgbClr val="3C96DE"/>
                </a:solidFill>
                <a:latin typeface="Trebuchet MS"/>
                <a:cs typeface="Trebuchet MS"/>
              </a:rPr>
              <a:t>V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irtual</a:t>
            </a:r>
            <a:r>
              <a:rPr sz="2800" spc="-9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b="1" spc="50" dirty="0">
                <a:solidFill>
                  <a:srgbClr val="3C96DE"/>
                </a:solidFill>
                <a:latin typeface="Trebuchet MS"/>
                <a:cs typeface="Trebuchet MS"/>
              </a:rPr>
              <a:t>M</a:t>
            </a:r>
            <a:r>
              <a:rPr sz="2800" spc="50" dirty="0">
                <a:solidFill>
                  <a:srgbClr val="3C96DE"/>
                </a:solidFill>
                <a:latin typeface="Leelawadee UI"/>
                <a:cs typeface="Leelawadee UI"/>
              </a:rPr>
              <a:t>achine</a:t>
            </a:r>
            <a:r>
              <a:rPr sz="2800" spc="50" dirty="0">
                <a:solidFill>
                  <a:srgbClr val="3C96DE"/>
                </a:solidFill>
                <a:latin typeface="Arial MT"/>
                <a:cs typeface="Arial MT"/>
              </a:rPr>
              <a:t>”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Clr>
                <a:srgbClr val="3C96DE"/>
              </a:buClr>
              <a:buFont typeface="Microsoft Sans Serif"/>
              <a:buChar char="•"/>
            </a:pPr>
            <a:endParaRPr sz="2800">
              <a:latin typeface="Arial MT"/>
              <a:cs typeface="Arial MT"/>
            </a:endParaRPr>
          </a:p>
          <a:p>
            <a:pPr marL="299085" marR="1204595" indent="-287020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800" spc="-20" dirty="0">
                <a:solidFill>
                  <a:srgbClr val="3C96DE"/>
                </a:solidFill>
                <a:latin typeface="Leelawadee UI"/>
                <a:cs typeface="Leelawadee UI"/>
              </a:rPr>
              <a:t>Virtualization</a:t>
            </a:r>
            <a:r>
              <a:rPr sz="2800" spc="-6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creates</a:t>
            </a:r>
            <a:r>
              <a:rPr sz="2800" spc="20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virtual</a:t>
            </a:r>
            <a:r>
              <a:rPr sz="2800" spc="-5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hardware</a:t>
            </a:r>
            <a:r>
              <a:rPr sz="2800" spc="1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by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 cloning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physical</a:t>
            </a:r>
            <a:r>
              <a:rPr sz="2800" spc="2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hardware</a:t>
            </a:r>
            <a:endParaRPr sz="2800">
              <a:latin typeface="Leelawadee UI"/>
              <a:cs typeface="Leelawadee UI"/>
            </a:endParaRPr>
          </a:p>
          <a:p>
            <a:pPr marL="299085" marR="5080" indent="-287020">
              <a:lnSpc>
                <a:spcPct val="100000"/>
              </a:lnSpc>
              <a:spcBef>
                <a:spcPts val="336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800" spc="5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2800" spc="17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b="1" dirty="0">
                <a:solidFill>
                  <a:srgbClr val="3C96DE"/>
                </a:solidFill>
                <a:latin typeface="Trebuchet MS"/>
                <a:cs typeface="Trebuchet MS"/>
              </a:rPr>
              <a:t>hypervisor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uses</a:t>
            </a:r>
            <a:r>
              <a:rPr sz="2800" spc="30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virtual</a:t>
            </a:r>
            <a:r>
              <a:rPr sz="2800" spc="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hardware</a:t>
            </a:r>
            <a:r>
              <a:rPr sz="2800" spc="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to</a:t>
            </a:r>
            <a:r>
              <a:rPr sz="2800" spc="-1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create</a:t>
            </a:r>
            <a:r>
              <a:rPr sz="2800" spc="1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a</a:t>
            </a:r>
            <a:r>
              <a:rPr sz="2800" spc="16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virtual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machine</a:t>
            </a:r>
            <a:r>
              <a:rPr sz="2800" spc="8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20" dirty="0">
                <a:solidFill>
                  <a:srgbClr val="3C96DE"/>
                </a:solidFill>
                <a:latin typeface="Leelawadee UI"/>
                <a:cs typeface="Leelawadee UI"/>
              </a:rPr>
              <a:t>(VM)</a:t>
            </a:r>
            <a:endParaRPr sz="2800">
              <a:latin typeface="Leelawadee UI"/>
              <a:cs typeface="Leelawadee U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06409" y="5704684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060" y="138682"/>
            <a:ext cx="9992868" cy="66629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8071" y="5134025"/>
            <a:ext cx="2743200" cy="329565"/>
          </a:xfrm>
          <a:custGeom>
            <a:avLst/>
            <a:gdLst/>
            <a:ahLst/>
            <a:cxnLst/>
            <a:rect l="l" t="t" r="r" b="b"/>
            <a:pathLst>
              <a:path w="2743200" h="329564">
                <a:moveTo>
                  <a:pt x="2743200" y="0"/>
                </a:moveTo>
                <a:lnTo>
                  <a:pt x="0" y="0"/>
                </a:lnTo>
                <a:lnTo>
                  <a:pt x="0" y="329488"/>
                </a:lnTo>
                <a:lnTo>
                  <a:pt x="2743200" y="329488"/>
                </a:lnTo>
                <a:lnTo>
                  <a:pt x="2743200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3215509" y="4595540"/>
              <a:ext cx="1080770" cy="330200"/>
            </a:xfrm>
            <a:custGeom>
              <a:avLst/>
              <a:gdLst/>
              <a:ahLst/>
              <a:cxnLst/>
              <a:rect l="l" t="t" r="r" b="b"/>
              <a:pathLst>
                <a:path w="1080770" h="330200">
                  <a:moveTo>
                    <a:pt x="1080201" y="0"/>
                  </a:moveTo>
                  <a:lnTo>
                    <a:pt x="0" y="0"/>
                  </a:lnTo>
                  <a:lnTo>
                    <a:pt x="0" y="329839"/>
                  </a:lnTo>
                  <a:lnTo>
                    <a:pt x="1080201" y="329839"/>
                  </a:lnTo>
                  <a:lnTo>
                    <a:pt x="1080201" y="0"/>
                  </a:lnTo>
                  <a:close/>
                </a:path>
              </a:pathLst>
            </a:custGeom>
            <a:solidFill>
              <a:srgbClr val="FFE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965198" y="4597730"/>
            <a:ext cx="8578850" cy="1388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SzPct val="125000"/>
              <a:buFont typeface="Microsoft Sans Serif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A</a:t>
            </a:r>
            <a:r>
              <a:rPr sz="1800" spc="-9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VM</a:t>
            </a:r>
            <a:r>
              <a:rPr sz="1800" spc="2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is</a:t>
            </a:r>
            <a:r>
              <a:rPr sz="1800" spc="1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a</a:t>
            </a:r>
            <a:r>
              <a:rPr sz="1800" spc="7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set</a:t>
            </a:r>
            <a:r>
              <a:rPr sz="1800" spc="-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of</a:t>
            </a:r>
            <a:r>
              <a:rPr sz="1800" spc="-9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20" dirty="0">
                <a:solidFill>
                  <a:srgbClr val="3C96DE"/>
                </a:solidFill>
                <a:latin typeface="Leelawadee UI"/>
                <a:cs typeface="Leelawadee UI"/>
              </a:rPr>
              <a:t>files</a:t>
            </a:r>
            <a:endParaRPr sz="1800">
              <a:latin typeface="Leelawadee UI"/>
              <a:cs typeface="Leelawadee UI"/>
            </a:endParaRPr>
          </a:p>
          <a:p>
            <a:pPr marL="299085" indent="-286385">
              <a:lnSpc>
                <a:spcPct val="100000"/>
              </a:lnSpc>
              <a:spcBef>
                <a:spcPts val="2080"/>
              </a:spcBef>
              <a:buSzPct val="125000"/>
              <a:buFont typeface="Microsoft Sans Serif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With</a:t>
            </a:r>
            <a:r>
              <a:rPr sz="1800" spc="-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a</a:t>
            </a:r>
            <a:r>
              <a:rPr sz="1800" spc="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hypervisor</a:t>
            </a:r>
            <a:r>
              <a:rPr sz="1800" spc="-3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20" dirty="0">
                <a:solidFill>
                  <a:srgbClr val="3C96DE"/>
                </a:solidFill>
                <a:latin typeface="Leelawadee UI"/>
                <a:cs typeface="Leelawadee UI"/>
              </a:rPr>
              <a:t>running</a:t>
            </a:r>
            <a:r>
              <a:rPr sz="1800" spc="-6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VMs,</a:t>
            </a:r>
            <a:r>
              <a:rPr sz="1800" spc="9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one</a:t>
            </a:r>
            <a:r>
              <a:rPr sz="1800" spc="3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25" dirty="0">
                <a:solidFill>
                  <a:srgbClr val="3C96DE"/>
                </a:solidFill>
                <a:latin typeface="Leelawadee UI"/>
                <a:cs typeface="Leelawadee UI"/>
              </a:rPr>
              <a:t>computer</a:t>
            </a:r>
            <a:r>
              <a:rPr sz="1800" spc="-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can</a:t>
            </a:r>
            <a:r>
              <a:rPr sz="1800" spc="3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run</a:t>
            </a:r>
            <a:r>
              <a:rPr sz="1800" spc="-6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35" dirty="0">
                <a:solidFill>
                  <a:srgbClr val="3C96DE"/>
                </a:solidFill>
                <a:latin typeface="Leelawadee UI"/>
                <a:cs typeface="Leelawadee UI"/>
              </a:rPr>
              <a:t>multiple</a:t>
            </a:r>
            <a:r>
              <a:rPr sz="1800" spc="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OS</a:t>
            </a:r>
            <a:r>
              <a:rPr sz="1800" spc="2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simultaneously</a:t>
            </a:r>
            <a:endParaRPr sz="1800">
              <a:latin typeface="Leelawadee UI"/>
              <a:cs typeface="Leelawadee UI"/>
            </a:endParaRPr>
          </a:p>
          <a:p>
            <a:pPr marL="299085" indent="-286385">
              <a:lnSpc>
                <a:spcPct val="100000"/>
              </a:lnSpc>
              <a:spcBef>
                <a:spcPts val="2075"/>
              </a:spcBef>
              <a:buSzPct val="125000"/>
              <a:buFont typeface="Microsoft Sans Serif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A</a:t>
            </a:r>
            <a:r>
              <a:rPr sz="1800" spc="-9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VM</a:t>
            </a:r>
            <a:r>
              <a:rPr sz="1800" spc="8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can</a:t>
            </a:r>
            <a:r>
              <a:rPr sz="1800" spc="3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run</a:t>
            </a:r>
            <a:r>
              <a:rPr sz="1800" spc="-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applications</a:t>
            </a:r>
            <a:r>
              <a:rPr sz="1800" spc="3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like</a:t>
            </a:r>
            <a:r>
              <a:rPr sz="1800" spc="2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a</a:t>
            </a:r>
            <a:r>
              <a:rPr sz="1800" spc="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physical</a:t>
            </a:r>
            <a:r>
              <a:rPr sz="1800" spc="-1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machine</a:t>
            </a:r>
            <a:endParaRPr sz="1800">
              <a:latin typeface="Leelawadee UI"/>
              <a:cs typeface="Leelawadee U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2879" y="361188"/>
            <a:ext cx="10677144" cy="38587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84422" y="3662298"/>
            <a:ext cx="606425" cy="438150"/>
          </a:xfrm>
          <a:custGeom>
            <a:avLst/>
            <a:gdLst/>
            <a:ahLst/>
            <a:cxnLst/>
            <a:rect l="l" t="t" r="r" b="b"/>
            <a:pathLst>
              <a:path w="606425" h="438150">
                <a:moveTo>
                  <a:pt x="606247" y="0"/>
                </a:moveTo>
                <a:lnTo>
                  <a:pt x="0" y="0"/>
                </a:lnTo>
                <a:lnTo>
                  <a:pt x="0" y="438150"/>
                </a:lnTo>
                <a:lnTo>
                  <a:pt x="606247" y="438150"/>
                </a:lnTo>
                <a:lnTo>
                  <a:pt x="606247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87094" y="3662298"/>
            <a:ext cx="737870" cy="438150"/>
          </a:xfrm>
          <a:custGeom>
            <a:avLst/>
            <a:gdLst/>
            <a:ahLst/>
            <a:cxnLst/>
            <a:rect l="l" t="t" r="r" b="b"/>
            <a:pathLst>
              <a:path w="737869" h="438150">
                <a:moveTo>
                  <a:pt x="737311" y="0"/>
                </a:moveTo>
                <a:lnTo>
                  <a:pt x="0" y="0"/>
                </a:lnTo>
                <a:lnTo>
                  <a:pt x="0" y="438150"/>
                </a:lnTo>
                <a:lnTo>
                  <a:pt x="737311" y="438150"/>
                </a:lnTo>
                <a:lnTo>
                  <a:pt x="737311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87094" y="4666996"/>
            <a:ext cx="690245" cy="438150"/>
          </a:xfrm>
          <a:custGeom>
            <a:avLst/>
            <a:gdLst/>
            <a:ahLst/>
            <a:cxnLst/>
            <a:rect l="l" t="t" r="r" b="b"/>
            <a:pathLst>
              <a:path w="690244" h="438150">
                <a:moveTo>
                  <a:pt x="689762" y="0"/>
                </a:moveTo>
                <a:lnTo>
                  <a:pt x="0" y="0"/>
                </a:lnTo>
                <a:lnTo>
                  <a:pt x="0" y="438149"/>
                </a:lnTo>
                <a:lnTo>
                  <a:pt x="689762" y="438149"/>
                </a:lnTo>
                <a:lnTo>
                  <a:pt x="689762" y="0"/>
                </a:lnTo>
                <a:close/>
              </a:path>
            </a:pathLst>
          </a:custGeom>
          <a:solidFill>
            <a:srgbClr val="FFE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object 6"/>
            <p:cNvSpPr/>
            <p:nvPr/>
          </p:nvSpPr>
          <p:spPr>
            <a:xfrm>
              <a:off x="1387094" y="4163435"/>
              <a:ext cx="521334" cy="438784"/>
            </a:xfrm>
            <a:custGeom>
              <a:avLst/>
              <a:gdLst/>
              <a:ahLst/>
              <a:cxnLst/>
              <a:rect l="l" t="t" r="r" b="b"/>
              <a:pathLst>
                <a:path w="521335" h="438785">
                  <a:moveTo>
                    <a:pt x="521239" y="0"/>
                  </a:moveTo>
                  <a:lnTo>
                    <a:pt x="0" y="0"/>
                  </a:lnTo>
                  <a:lnTo>
                    <a:pt x="0" y="438500"/>
                  </a:lnTo>
                  <a:lnTo>
                    <a:pt x="521239" y="438500"/>
                  </a:lnTo>
                  <a:lnTo>
                    <a:pt x="521239" y="0"/>
                  </a:lnTo>
                  <a:close/>
                </a:path>
              </a:pathLst>
            </a:custGeom>
            <a:solidFill>
              <a:srgbClr val="FFE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88340" y="1584007"/>
            <a:ext cx="10114915" cy="34963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80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3C96DE"/>
                </a:solidFill>
                <a:latin typeface="Arial MT"/>
                <a:cs typeface="Arial MT"/>
              </a:rPr>
              <a:t>A</a:t>
            </a:r>
            <a:r>
              <a:rPr sz="2400" spc="-17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60" dirty="0">
                <a:solidFill>
                  <a:srgbClr val="3C96DE"/>
                </a:solidFill>
                <a:latin typeface="Arial MT"/>
                <a:cs typeface="Arial MT"/>
              </a:rPr>
              <a:t>pool </a:t>
            </a:r>
            <a:r>
              <a:rPr sz="2400" dirty="0">
                <a:solidFill>
                  <a:srgbClr val="3C96DE"/>
                </a:solidFill>
                <a:latin typeface="Arial MT"/>
                <a:cs typeface="Arial MT"/>
              </a:rPr>
              <a:t>of</a:t>
            </a:r>
            <a:r>
              <a:rPr sz="2400" spc="3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210" dirty="0">
                <a:solidFill>
                  <a:srgbClr val="3C96DE"/>
                </a:solidFill>
                <a:latin typeface="Arial MT"/>
                <a:cs typeface="Arial MT"/>
              </a:rPr>
              <a:t>resources</a:t>
            </a:r>
            <a:r>
              <a:rPr sz="2400" spc="-2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3C96DE"/>
                </a:solidFill>
                <a:latin typeface="Arial MT"/>
                <a:cs typeface="Arial MT"/>
              </a:rPr>
              <a:t>that</a:t>
            </a:r>
            <a:r>
              <a:rPr sz="2400" spc="-5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204" dirty="0">
                <a:solidFill>
                  <a:srgbClr val="3C96DE"/>
                </a:solidFill>
                <a:latin typeface="Arial MT"/>
                <a:cs typeface="Arial MT"/>
              </a:rPr>
              <a:t>can</a:t>
            </a:r>
            <a:r>
              <a:rPr sz="2400" spc="-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C96DE"/>
                </a:solidFill>
                <a:latin typeface="Arial MT"/>
                <a:cs typeface="Arial MT"/>
              </a:rPr>
              <a:t>be</a:t>
            </a:r>
            <a:r>
              <a:rPr sz="2400" spc="-4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C96DE"/>
                </a:solidFill>
                <a:latin typeface="Arial MT"/>
                <a:cs typeface="Arial MT"/>
              </a:rPr>
              <a:t>rapidly</a:t>
            </a:r>
            <a:r>
              <a:rPr sz="2400" spc="-3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30" dirty="0">
                <a:solidFill>
                  <a:srgbClr val="3C96DE"/>
                </a:solidFill>
                <a:latin typeface="Arial MT"/>
                <a:cs typeface="Arial MT"/>
              </a:rPr>
              <a:t>provisioned</a:t>
            </a:r>
            <a:r>
              <a:rPr sz="2400" spc="-4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55" dirty="0">
                <a:solidFill>
                  <a:srgbClr val="3C96DE"/>
                </a:solidFill>
                <a:latin typeface="Arial MT"/>
                <a:cs typeface="Arial MT"/>
              </a:rPr>
              <a:t>in</a:t>
            </a:r>
            <a:r>
              <a:rPr sz="2400" spc="-1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70" dirty="0">
                <a:solidFill>
                  <a:srgbClr val="3C96DE"/>
                </a:solidFill>
                <a:latin typeface="Arial MT"/>
                <a:cs typeface="Arial MT"/>
              </a:rPr>
              <a:t>an</a:t>
            </a:r>
            <a:r>
              <a:rPr sz="2400" spc="-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25" dirty="0">
                <a:solidFill>
                  <a:srgbClr val="3C96DE"/>
                </a:solidFill>
                <a:latin typeface="Arial MT"/>
                <a:cs typeface="Arial MT"/>
              </a:rPr>
              <a:t>automated,</a:t>
            </a:r>
            <a:r>
              <a:rPr sz="2400" spc="-2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45" dirty="0">
                <a:solidFill>
                  <a:srgbClr val="3C96DE"/>
                </a:solidFill>
                <a:latin typeface="Arial MT"/>
                <a:cs typeface="Arial MT"/>
              </a:rPr>
              <a:t>on-</a:t>
            </a:r>
            <a:r>
              <a:rPr sz="2400" spc="-75" dirty="0">
                <a:solidFill>
                  <a:srgbClr val="3C96DE"/>
                </a:solidFill>
                <a:latin typeface="Arial MT"/>
                <a:cs typeface="Arial MT"/>
              </a:rPr>
              <a:t>demand</a:t>
            </a:r>
            <a:endParaRPr sz="24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80"/>
              </a:spcBef>
            </a:pPr>
            <a:r>
              <a:rPr sz="2400" spc="-75" dirty="0">
                <a:solidFill>
                  <a:srgbClr val="3C96DE"/>
                </a:solidFill>
                <a:latin typeface="Arial MT"/>
                <a:cs typeface="Arial MT"/>
              </a:rPr>
              <a:t>manner.</a:t>
            </a:r>
            <a:endParaRPr sz="24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570"/>
              </a:spcBef>
              <a:buSzPct val="125000"/>
              <a:buFont typeface="Microsoft Sans Serif"/>
              <a:buChar char="•"/>
              <a:tabLst>
                <a:tab pos="241300" algn="l"/>
              </a:tabLst>
            </a:pPr>
            <a:r>
              <a:rPr sz="2400" spc="-160" dirty="0">
                <a:solidFill>
                  <a:srgbClr val="3C96DE"/>
                </a:solidFill>
                <a:latin typeface="Arial MT"/>
                <a:cs typeface="Arial MT"/>
              </a:rPr>
              <a:t>Value</a:t>
            </a:r>
            <a:r>
              <a:rPr sz="2400" spc="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C96DE"/>
                </a:solidFill>
                <a:latin typeface="Arial MT"/>
                <a:cs typeface="Arial MT"/>
              </a:rPr>
              <a:t>of</a:t>
            </a:r>
            <a:r>
              <a:rPr sz="2400" spc="8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50" dirty="0">
                <a:solidFill>
                  <a:srgbClr val="3C96DE"/>
                </a:solidFill>
                <a:latin typeface="Arial MT"/>
                <a:cs typeface="Arial MT"/>
              </a:rPr>
              <a:t>cloud</a:t>
            </a:r>
            <a:r>
              <a:rPr sz="2400" spc="1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75" dirty="0">
                <a:solidFill>
                  <a:srgbClr val="3C96DE"/>
                </a:solidFill>
                <a:latin typeface="Arial MT"/>
                <a:cs typeface="Arial MT"/>
              </a:rPr>
              <a:t>computing</a:t>
            </a:r>
            <a:r>
              <a:rPr sz="240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215" dirty="0">
                <a:solidFill>
                  <a:srgbClr val="3C96DE"/>
                </a:solidFill>
                <a:latin typeface="Arial MT"/>
                <a:cs typeface="Arial MT"/>
              </a:rPr>
              <a:t>is</a:t>
            </a:r>
            <a:r>
              <a:rPr sz="2400" spc="1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3C96DE"/>
                </a:solidFill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085"/>
              </a:spcBef>
              <a:buSzPct val="125000"/>
              <a:buFont typeface="Microsoft Sans Serif"/>
              <a:buChar char="•"/>
              <a:tabLst>
                <a:tab pos="698500" algn="l"/>
              </a:tabLst>
            </a:pPr>
            <a:r>
              <a:rPr sz="2400" spc="-265" dirty="0">
                <a:solidFill>
                  <a:srgbClr val="3C96DE"/>
                </a:solidFill>
                <a:latin typeface="Arial MT"/>
                <a:cs typeface="Arial MT"/>
              </a:rPr>
              <a:t>Economies</a:t>
            </a:r>
            <a:r>
              <a:rPr sz="2400" spc="-1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C96DE"/>
                </a:solidFill>
                <a:latin typeface="Arial MT"/>
                <a:cs typeface="Arial MT"/>
              </a:rPr>
              <a:t>of</a:t>
            </a:r>
            <a:r>
              <a:rPr sz="2400" spc="8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C96DE"/>
                </a:solidFill>
                <a:latin typeface="Arial MT"/>
                <a:cs typeface="Arial MT"/>
              </a:rPr>
              <a:t>scale</a:t>
            </a:r>
            <a:endParaRPr sz="24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080"/>
              </a:spcBef>
              <a:buSzPct val="125000"/>
              <a:buFont typeface="Microsoft Sans Serif"/>
              <a:buChar char="•"/>
              <a:tabLst>
                <a:tab pos="698500" algn="l"/>
              </a:tabLst>
            </a:pPr>
            <a:r>
              <a:rPr sz="2400" spc="-195" dirty="0">
                <a:solidFill>
                  <a:srgbClr val="3C96DE"/>
                </a:solidFill>
                <a:latin typeface="Arial MT"/>
                <a:cs typeface="Arial MT"/>
              </a:rPr>
              <a:t>Elastic</a:t>
            </a:r>
            <a:r>
              <a:rPr sz="2400" spc="-1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204" dirty="0">
                <a:solidFill>
                  <a:srgbClr val="3C96DE"/>
                </a:solidFill>
                <a:latin typeface="Arial MT"/>
                <a:cs typeface="Arial MT"/>
              </a:rPr>
              <a:t>enough</a:t>
            </a:r>
            <a:r>
              <a:rPr sz="2400" spc="-2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C96DE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70" dirty="0">
                <a:solidFill>
                  <a:srgbClr val="3C96DE"/>
                </a:solidFill>
                <a:latin typeface="Arial MT"/>
                <a:cs typeface="Arial MT"/>
              </a:rPr>
              <a:t>scale</a:t>
            </a:r>
            <a:r>
              <a:rPr sz="2400" spc="-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14" dirty="0">
                <a:solidFill>
                  <a:srgbClr val="3C96DE"/>
                </a:solidFill>
                <a:latin typeface="Arial MT"/>
                <a:cs typeface="Arial MT"/>
              </a:rPr>
              <a:t>with</a:t>
            </a:r>
            <a:r>
              <a:rPr sz="2400" spc="-1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55" dirty="0">
                <a:solidFill>
                  <a:srgbClr val="3C96DE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210" dirty="0">
                <a:solidFill>
                  <a:srgbClr val="3C96DE"/>
                </a:solidFill>
                <a:latin typeface="Arial MT"/>
                <a:cs typeface="Arial MT"/>
              </a:rPr>
              <a:t>needs</a:t>
            </a:r>
            <a:r>
              <a:rPr sz="2400" spc="-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C96DE"/>
                </a:solidFill>
                <a:latin typeface="Arial MT"/>
                <a:cs typeface="Arial MT"/>
              </a:rPr>
              <a:t>of</a:t>
            </a:r>
            <a:r>
              <a:rPr sz="2400" spc="5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35" dirty="0">
                <a:solidFill>
                  <a:srgbClr val="3C96DE"/>
                </a:solidFill>
                <a:latin typeface="Arial MT"/>
                <a:cs typeface="Arial MT"/>
              </a:rPr>
              <a:t>your</a:t>
            </a:r>
            <a:r>
              <a:rPr sz="2400" spc="-2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C96DE"/>
                </a:solidFill>
                <a:latin typeface="Arial MT"/>
                <a:cs typeface="Arial MT"/>
              </a:rPr>
              <a:t>organization.</a:t>
            </a:r>
            <a:endParaRPr sz="24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065"/>
              </a:spcBef>
              <a:buSzPct val="125000"/>
              <a:buFont typeface="Microsoft Sans Serif"/>
              <a:buChar char="•"/>
              <a:tabLst>
                <a:tab pos="698500" algn="l"/>
              </a:tabLst>
            </a:pPr>
            <a:r>
              <a:rPr sz="2400" spc="-225" dirty="0">
                <a:solidFill>
                  <a:srgbClr val="3C96DE"/>
                </a:solidFill>
                <a:latin typeface="Arial MT"/>
                <a:cs typeface="Arial MT"/>
              </a:rPr>
              <a:t>Cost</a:t>
            </a:r>
            <a:r>
              <a:rPr sz="2400" spc="-1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95" dirty="0">
                <a:solidFill>
                  <a:srgbClr val="3C96DE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80" dirty="0">
                <a:solidFill>
                  <a:srgbClr val="3C96DE"/>
                </a:solidFill>
                <a:latin typeface="Arial MT"/>
                <a:cs typeface="Arial MT"/>
              </a:rPr>
              <a:t>operational</a:t>
            </a:r>
            <a:r>
              <a:rPr sz="240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C96DE"/>
                </a:solidFill>
                <a:latin typeface="Arial MT"/>
                <a:cs typeface="Arial MT"/>
              </a:rPr>
              <a:t>benefits</a:t>
            </a:r>
            <a:endParaRPr sz="24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085"/>
              </a:spcBef>
              <a:buSzPct val="125000"/>
              <a:buFont typeface="Microsoft Sans Serif"/>
              <a:buChar char="•"/>
              <a:tabLst>
                <a:tab pos="698500" algn="l"/>
              </a:tabLst>
            </a:pPr>
            <a:r>
              <a:rPr sz="2400" spc="-175" dirty="0">
                <a:solidFill>
                  <a:srgbClr val="3C96DE"/>
                </a:solidFill>
                <a:latin typeface="Arial MT"/>
                <a:cs typeface="Arial MT"/>
              </a:rPr>
              <a:t>Easily</a:t>
            </a:r>
            <a:r>
              <a:rPr sz="2400" spc="-2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225" dirty="0">
                <a:solidFill>
                  <a:srgbClr val="3C96DE"/>
                </a:solidFill>
                <a:latin typeface="Arial MT"/>
                <a:cs typeface="Arial MT"/>
              </a:rPr>
              <a:t>accessed</a:t>
            </a:r>
            <a:r>
              <a:rPr sz="2400" dirty="0">
                <a:solidFill>
                  <a:srgbClr val="3C96DE"/>
                </a:solidFill>
                <a:latin typeface="Arial MT"/>
                <a:cs typeface="Arial MT"/>
              </a:rPr>
              <a:t> by</a:t>
            </a:r>
            <a:r>
              <a:rPr sz="2400" spc="-5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254" dirty="0">
                <a:solidFill>
                  <a:srgbClr val="3C96DE"/>
                </a:solidFill>
                <a:latin typeface="Arial MT"/>
                <a:cs typeface="Arial MT"/>
              </a:rPr>
              <a:t>users</a:t>
            </a:r>
            <a:r>
              <a:rPr sz="2400" spc="-2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220" dirty="0">
                <a:solidFill>
                  <a:srgbClr val="3C96DE"/>
                </a:solidFill>
                <a:latin typeface="Arial MT"/>
                <a:cs typeface="Arial MT"/>
              </a:rPr>
              <a:t>no</a:t>
            </a:r>
            <a:r>
              <a:rPr sz="2400" spc="-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95" dirty="0">
                <a:solidFill>
                  <a:srgbClr val="3C96DE"/>
                </a:solidFill>
                <a:latin typeface="Arial MT"/>
                <a:cs typeface="Arial MT"/>
              </a:rPr>
              <a:t>matter</a:t>
            </a:r>
            <a:r>
              <a:rPr sz="2400" spc="-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40" dirty="0">
                <a:solidFill>
                  <a:srgbClr val="3C96DE"/>
                </a:solidFill>
                <a:latin typeface="Arial MT"/>
                <a:cs typeface="Arial MT"/>
              </a:rPr>
              <a:t>where</a:t>
            </a:r>
            <a:r>
              <a:rPr sz="2400" spc="-15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45" dirty="0">
                <a:solidFill>
                  <a:srgbClr val="3C96DE"/>
                </a:solidFill>
                <a:latin typeface="Arial MT"/>
                <a:cs typeface="Arial MT"/>
              </a:rPr>
              <a:t>they</a:t>
            </a:r>
            <a:r>
              <a:rPr sz="2400" spc="-20" dirty="0">
                <a:solidFill>
                  <a:srgbClr val="3C96D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C96DE"/>
                </a:solidFill>
                <a:latin typeface="Arial MT"/>
                <a:cs typeface="Arial MT"/>
              </a:rPr>
              <a:t>reside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298194" y="557529"/>
            <a:ext cx="3947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0" dirty="0"/>
              <a:t>CLOUD</a:t>
            </a:r>
            <a:r>
              <a:rPr sz="3600" spc="10" dirty="0"/>
              <a:t> </a:t>
            </a:r>
            <a:r>
              <a:rPr sz="3600" spc="-340" dirty="0">
                <a:solidFill>
                  <a:srgbClr val="0D3553"/>
                </a:solidFill>
              </a:rPr>
              <a:t>COMPUTING</a:t>
            </a:r>
            <a:endParaRPr sz="3600"/>
          </a:p>
        </p:txBody>
      </p:sp>
      <p:grpSp>
        <p:nvGrpSpPr>
          <p:cNvPr id="18" name="object 18"/>
          <p:cNvGrpSpPr/>
          <p:nvPr/>
        </p:nvGrpSpPr>
        <p:grpSpPr>
          <a:xfrm>
            <a:off x="2420602" y="5535981"/>
            <a:ext cx="3931920" cy="467359"/>
            <a:chOff x="2420602" y="5535981"/>
            <a:chExt cx="3931920" cy="467359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20602" y="5850893"/>
              <a:ext cx="152400" cy="1524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99546" y="5535981"/>
              <a:ext cx="1524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9829" y="407034"/>
            <a:ext cx="60585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90" dirty="0">
                <a:solidFill>
                  <a:srgbClr val="0D3553"/>
                </a:solidFill>
              </a:rPr>
              <a:t>virtualization</a:t>
            </a:r>
            <a:r>
              <a:rPr sz="2800" spc="-80" dirty="0">
                <a:solidFill>
                  <a:srgbClr val="0D3553"/>
                </a:solidFill>
              </a:rPr>
              <a:t> </a:t>
            </a:r>
            <a:r>
              <a:rPr sz="3200" spc="-155" dirty="0">
                <a:solidFill>
                  <a:srgbClr val="0D3553"/>
                </a:solidFill>
              </a:rPr>
              <a:t>benefits</a:t>
            </a:r>
            <a:r>
              <a:rPr sz="3200" spc="-130" dirty="0">
                <a:solidFill>
                  <a:srgbClr val="0D3553"/>
                </a:solidFill>
              </a:rPr>
              <a:t> </a:t>
            </a:r>
            <a:r>
              <a:rPr sz="2800" dirty="0">
                <a:solidFill>
                  <a:srgbClr val="0D3553"/>
                </a:solidFill>
              </a:rPr>
              <a:t>for</a:t>
            </a:r>
            <a:r>
              <a:rPr sz="2800" spc="-50" dirty="0">
                <a:solidFill>
                  <a:srgbClr val="0D3553"/>
                </a:solidFill>
              </a:rPr>
              <a:t> </a:t>
            </a:r>
            <a:r>
              <a:rPr sz="2800" spc="-175" dirty="0">
                <a:solidFill>
                  <a:srgbClr val="0D3553"/>
                </a:solidFill>
              </a:rPr>
              <a:t>our</a:t>
            </a:r>
            <a:r>
              <a:rPr sz="2800" spc="-20" dirty="0">
                <a:solidFill>
                  <a:srgbClr val="0D3553"/>
                </a:solidFill>
              </a:rPr>
              <a:t> </a:t>
            </a:r>
            <a:r>
              <a:rPr sz="2800" spc="-185" dirty="0">
                <a:solidFill>
                  <a:srgbClr val="0D3553"/>
                </a:solidFill>
              </a:rPr>
              <a:t>environment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933094" y="1436067"/>
            <a:ext cx="8940165" cy="1967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835" indent="-28638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Microsoft Sans Serif"/>
              <a:buChar char="•"/>
              <a:tabLst>
                <a:tab pos="330835" algn="l"/>
              </a:tabLst>
            </a:pP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Using</a:t>
            </a:r>
            <a:r>
              <a:rPr sz="1800" spc="-6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virtual</a:t>
            </a:r>
            <a:r>
              <a:rPr sz="1800" spc="-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machines</a:t>
            </a:r>
            <a:r>
              <a:rPr sz="1800" spc="12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results</a:t>
            </a:r>
            <a:r>
              <a:rPr sz="1800" spc="3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in</a:t>
            </a:r>
            <a:r>
              <a:rPr sz="1800" spc="-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more</a:t>
            </a:r>
            <a:r>
              <a:rPr sz="1800" spc="1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25" dirty="0">
                <a:solidFill>
                  <a:srgbClr val="3C96DE"/>
                </a:solidFill>
                <a:latin typeface="Leelawadee UI"/>
                <a:cs typeface="Leelawadee UI"/>
              </a:rPr>
              <a:t>compute</a:t>
            </a:r>
            <a:r>
              <a:rPr sz="1800" spc="-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power</a:t>
            </a:r>
            <a:r>
              <a:rPr sz="1800" spc="-1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20" dirty="0">
                <a:solidFill>
                  <a:srgbClr val="3C96DE"/>
                </a:solidFill>
                <a:latin typeface="Leelawadee UI"/>
                <a:cs typeface="Leelawadee UI"/>
              </a:rPr>
              <a:t>from</a:t>
            </a:r>
            <a:r>
              <a:rPr sz="1800" spc="-9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a</a:t>
            </a:r>
            <a:r>
              <a:rPr sz="1800" spc="6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single</a:t>
            </a:r>
            <a:r>
              <a:rPr sz="1800" spc="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server.</a:t>
            </a:r>
            <a:endParaRPr sz="1800" dirty="0">
              <a:latin typeface="Leelawadee UI"/>
              <a:cs typeface="Leelawadee UI"/>
            </a:endParaRPr>
          </a:p>
          <a:p>
            <a:pPr marL="330835" indent="-286385">
              <a:lnSpc>
                <a:spcPct val="100000"/>
              </a:lnSpc>
              <a:spcBef>
                <a:spcPts val="2160"/>
              </a:spcBef>
              <a:buClr>
                <a:srgbClr val="000000"/>
              </a:buClr>
              <a:buFont typeface="Microsoft Sans Serif"/>
              <a:buChar char="•"/>
              <a:tabLst>
                <a:tab pos="330835" algn="l"/>
              </a:tabLst>
            </a:pP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When</a:t>
            </a:r>
            <a:r>
              <a:rPr sz="1800" spc="5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fewer</a:t>
            </a:r>
            <a:r>
              <a:rPr sz="1800" spc="10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servers</a:t>
            </a:r>
            <a:r>
              <a:rPr sz="1800" spc="23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are</a:t>
            </a:r>
            <a:r>
              <a:rPr sz="1800" spc="1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used,</a:t>
            </a:r>
            <a:r>
              <a:rPr sz="1800" spc="1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it</a:t>
            </a:r>
            <a:r>
              <a:rPr sz="1800" spc="-3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results</a:t>
            </a:r>
            <a:r>
              <a:rPr sz="1800" spc="9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in</a:t>
            </a:r>
            <a:r>
              <a:rPr sz="1800" spc="7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b="1" dirty="0">
                <a:solidFill>
                  <a:srgbClr val="3C96DE"/>
                </a:solidFill>
                <a:latin typeface="Trebuchet MS"/>
                <a:cs typeface="Trebuchet MS"/>
              </a:rPr>
              <a:t>less</a:t>
            </a:r>
            <a:r>
              <a:rPr sz="1800" b="1" spc="280" dirty="0">
                <a:solidFill>
                  <a:srgbClr val="3C96DE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96DE"/>
                </a:solidFill>
                <a:latin typeface="Trebuchet MS"/>
                <a:cs typeface="Trebuchet MS"/>
              </a:rPr>
              <a:t>energy</a:t>
            </a:r>
            <a:r>
              <a:rPr sz="1800" b="1" spc="70" dirty="0">
                <a:solidFill>
                  <a:srgbClr val="3C96DE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96DE"/>
                </a:solidFill>
                <a:latin typeface="Trebuchet MS"/>
                <a:cs typeface="Trebuchet MS"/>
              </a:rPr>
              <a:t>cons</a:t>
            </a:r>
            <a:r>
              <a:rPr sz="1800" b="1" spc="-325" dirty="0">
                <a:solidFill>
                  <a:srgbClr val="3C96DE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3C96DE"/>
                </a:solidFill>
                <a:latin typeface="Trebuchet MS"/>
                <a:cs typeface="Trebuchet MS"/>
              </a:rPr>
              <a:t>umption</a:t>
            </a: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.</a:t>
            </a:r>
            <a:endParaRPr sz="1800" dirty="0">
              <a:latin typeface="Leelawadee UI"/>
              <a:cs typeface="Leelawadee UI"/>
            </a:endParaRPr>
          </a:p>
          <a:p>
            <a:pPr marL="330835" indent="-286385">
              <a:lnSpc>
                <a:spcPct val="100000"/>
              </a:lnSpc>
              <a:spcBef>
                <a:spcPts val="2160"/>
              </a:spcBef>
              <a:buClr>
                <a:srgbClr val="000000"/>
              </a:buClr>
              <a:buFont typeface="Microsoft Sans Serif"/>
              <a:buChar char="•"/>
              <a:tabLst>
                <a:tab pos="330835" algn="l"/>
              </a:tabLst>
            </a:pP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1800" spc="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20" dirty="0">
                <a:solidFill>
                  <a:srgbClr val="3C96DE"/>
                </a:solidFill>
                <a:latin typeface="Leelawadee UI"/>
                <a:cs typeface="Leelawadee UI"/>
              </a:rPr>
              <a:t>long</a:t>
            </a:r>
            <a:r>
              <a:rPr sz="1800" spc="-8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term</a:t>
            </a:r>
            <a:r>
              <a:rPr sz="1800" spc="-3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20" dirty="0">
                <a:solidFill>
                  <a:srgbClr val="3C96DE"/>
                </a:solidFill>
                <a:latin typeface="Leelawadee UI"/>
                <a:cs typeface="Leelawadee UI"/>
              </a:rPr>
              <a:t>outcome</a:t>
            </a:r>
            <a:r>
              <a:rPr sz="1800" spc="1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of</a:t>
            </a:r>
            <a:r>
              <a:rPr sz="1800" spc="-1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20" dirty="0">
                <a:solidFill>
                  <a:srgbClr val="3C96DE"/>
                </a:solidFill>
                <a:latin typeface="Leelawadee UI"/>
                <a:cs typeface="Leelawadee UI"/>
              </a:rPr>
              <a:t>virtualization</a:t>
            </a:r>
            <a:r>
              <a:rPr sz="1800" spc="-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is</a:t>
            </a:r>
            <a:r>
              <a:rPr sz="1800" spc="6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less</a:t>
            </a:r>
            <a:r>
              <a:rPr sz="1800" spc="204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space</a:t>
            </a:r>
            <a:r>
              <a:rPr sz="1800" spc="13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and</a:t>
            </a: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power</a:t>
            </a:r>
            <a:r>
              <a:rPr sz="1800" spc="3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used</a:t>
            </a:r>
            <a:r>
              <a:rPr sz="1800" spc="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in</a:t>
            </a:r>
            <a:r>
              <a:rPr sz="1800" spc="-3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data</a:t>
            </a:r>
            <a:r>
              <a:rPr sz="1800" spc="8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centers.</a:t>
            </a:r>
            <a:endParaRPr sz="1800" dirty="0">
              <a:latin typeface="Leelawadee UI"/>
              <a:cs typeface="Leelawadee UI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Clr>
                <a:srgbClr val="000000"/>
              </a:buClr>
              <a:buFont typeface="Microsoft Sans Serif"/>
              <a:buChar char="•"/>
              <a:tabLst>
                <a:tab pos="299085" algn="l"/>
              </a:tabLst>
            </a:pPr>
            <a:r>
              <a:rPr sz="1800" spc="-10" dirty="0" smtClean="0">
                <a:solidFill>
                  <a:srgbClr val="3C96DE"/>
                </a:solidFill>
                <a:latin typeface="Leelawadee UI"/>
                <a:cs typeface="Leelawadee UI"/>
              </a:rPr>
              <a:t>Knowing</a:t>
            </a:r>
            <a:r>
              <a:rPr sz="1800" spc="-85" dirty="0" smtClean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your</a:t>
            </a:r>
            <a:r>
              <a:rPr sz="1800" spc="-7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carbon</a:t>
            </a:r>
            <a:r>
              <a:rPr sz="1800" spc="-6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55" dirty="0">
                <a:solidFill>
                  <a:srgbClr val="3C96DE"/>
                </a:solidFill>
                <a:latin typeface="Leelawadee UI"/>
                <a:cs typeface="Leelawadee UI"/>
              </a:rPr>
              <a:t>footprint</a:t>
            </a:r>
            <a:r>
              <a:rPr sz="1800" spc="-7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has</a:t>
            </a:r>
            <a:r>
              <a:rPr sz="1800" spc="16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environmental</a:t>
            </a:r>
            <a:r>
              <a:rPr sz="1800" spc="-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and</a:t>
            </a:r>
            <a:r>
              <a:rPr sz="1800" spc="-1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C96DE"/>
                </a:solidFill>
                <a:latin typeface="Leelawadee UI"/>
                <a:cs typeface="Leelawadee UI"/>
              </a:rPr>
              <a:t>cost</a:t>
            </a:r>
            <a:r>
              <a:rPr sz="1800" spc="-3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C96DE"/>
                </a:solidFill>
                <a:latin typeface="Leelawadee UI"/>
                <a:cs typeface="Leelawadee UI"/>
              </a:rPr>
              <a:t>benefits</a:t>
            </a:r>
            <a:r>
              <a:rPr sz="1800" spc="-10" dirty="0" smtClean="0">
                <a:solidFill>
                  <a:srgbClr val="3C96DE"/>
                </a:solidFill>
                <a:latin typeface="Leelawadee UI"/>
                <a:cs typeface="Leelawadee UI"/>
              </a:rPr>
              <a:t>.</a:t>
            </a:r>
            <a:endParaRPr sz="1800" dirty="0">
              <a:latin typeface="Leelawadee UI"/>
              <a:cs typeface="Leelawadee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3473" y="3226765"/>
            <a:ext cx="630237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THE </a:t>
            </a:r>
            <a:r>
              <a:rPr spc="-10" dirty="0">
                <a:solidFill>
                  <a:srgbClr val="FFFFFF"/>
                </a:solidFill>
              </a:rPr>
              <a:t>HYPERVISOR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7300" y="2476500"/>
              <a:ext cx="9906000" cy="276301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9188" rIns="0" bIns="0" rtlCol="0">
            <a:spAutoFit/>
          </a:bodyPr>
          <a:lstStyle/>
          <a:p>
            <a:pPr marL="1261110">
              <a:lnSpc>
                <a:spcPct val="100000"/>
              </a:lnSpc>
              <a:spcBef>
                <a:spcPts val="100"/>
              </a:spcBef>
            </a:pPr>
            <a:r>
              <a:rPr sz="3600" spc="-330" dirty="0">
                <a:solidFill>
                  <a:srgbClr val="0D3553"/>
                </a:solidFill>
              </a:rPr>
              <a:t>WHAT</a:t>
            </a:r>
            <a:r>
              <a:rPr sz="3600" spc="-5" dirty="0">
                <a:solidFill>
                  <a:srgbClr val="0D3553"/>
                </a:solidFill>
              </a:rPr>
              <a:t> </a:t>
            </a:r>
            <a:r>
              <a:rPr sz="3600" spc="-409" dirty="0">
                <a:solidFill>
                  <a:srgbClr val="0D3553"/>
                </a:solidFill>
              </a:rPr>
              <a:t>IS</a:t>
            </a:r>
            <a:r>
              <a:rPr sz="3600" spc="-5" dirty="0">
                <a:solidFill>
                  <a:srgbClr val="0D3553"/>
                </a:solidFill>
              </a:rPr>
              <a:t> </a:t>
            </a:r>
            <a:r>
              <a:rPr sz="3600" spc="-240" dirty="0">
                <a:solidFill>
                  <a:srgbClr val="0D3553"/>
                </a:solidFill>
              </a:rPr>
              <a:t>A</a:t>
            </a:r>
            <a:r>
              <a:rPr sz="3600" spc="-10" dirty="0">
                <a:solidFill>
                  <a:srgbClr val="0D3553"/>
                </a:solidFill>
              </a:rPr>
              <a:t> </a:t>
            </a:r>
            <a:r>
              <a:rPr sz="3600" spc="-530" dirty="0">
                <a:solidFill>
                  <a:srgbClr val="0D3553"/>
                </a:solidFill>
              </a:rPr>
              <a:t>HYPERVISOR?</a:t>
            </a:r>
            <a:endParaRPr sz="3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00" y="1270762"/>
            <a:ext cx="9271635" cy="4483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815" marR="158750" indent="-285750">
              <a:lnSpc>
                <a:spcPct val="100000"/>
              </a:lnSpc>
              <a:spcBef>
                <a:spcPts val="105"/>
              </a:spcBef>
              <a:buFont typeface="Microsoft Sans Serif"/>
              <a:buChar char="•"/>
              <a:tabLst>
                <a:tab pos="299085" algn="l"/>
                <a:tab pos="2464435" algn="l"/>
              </a:tabLst>
            </a:pPr>
            <a:r>
              <a:rPr sz="3200" spc="-10" dirty="0">
                <a:solidFill>
                  <a:srgbClr val="3C96DE"/>
                </a:solidFill>
                <a:latin typeface="Leelawadee UI"/>
                <a:cs typeface="Leelawadee UI"/>
              </a:rPr>
              <a:t>Hypervisor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	is</a:t>
            </a:r>
            <a:r>
              <a:rPr sz="3200" spc="229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spc="345" dirty="0">
                <a:solidFill>
                  <a:srgbClr val="3C96DE"/>
                </a:solidFill>
                <a:latin typeface="Leelawadee UI"/>
                <a:cs typeface="Leelawadee UI"/>
              </a:rPr>
              <a:t>S</a:t>
            </a:r>
            <a:r>
              <a:rPr sz="3200" spc="-80" dirty="0">
                <a:solidFill>
                  <a:srgbClr val="3C96DE"/>
                </a:solidFill>
                <a:latin typeface="Leelawadee UI"/>
                <a:cs typeface="Leelawadee UI"/>
              </a:rPr>
              <a:t>o</a:t>
            </a:r>
            <a:r>
              <a:rPr sz="3200" spc="-140" dirty="0">
                <a:solidFill>
                  <a:srgbClr val="3C96DE"/>
                </a:solidFill>
                <a:latin typeface="Leelawadee UI"/>
                <a:cs typeface="Leelawadee UI"/>
              </a:rPr>
              <a:t>f</a:t>
            </a:r>
            <a:r>
              <a:rPr sz="3200" spc="-155" dirty="0">
                <a:solidFill>
                  <a:srgbClr val="3C96DE"/>
                </a:solidFill>
                <a:latin typeface="Leelawadee UI"/>
                <a:cs typeface="Leelawadee UI"/>
              </a:rPr>
              <a:t>t</a:t>
            </a:r>
            <a:r>
              <a:rPr sz="3200" spc="-5" dirty="0">
                <a:solidFill>
                  <a:srgbClr val="3C96DE"/>
                </a:solidFill>
                <a:latin typeface="Leelawadee UI"/>
                <a:cs typeface="Leelawadee UI"/>
              </a:rPr>
              <a:t>w</a:t>
            </a:r>
            <a:r>
              <a:rPr sz="3200" spc="20" dirty="0">
                <a:solidFill>
                  <a:srgbClr val="3C96DE"/>
                </a:solidFill>
                <a:latin typeface="Leelawadee UI"/>
                <a:cs typeface="Leelawadee UI"/>
              </a:rPr>
              <a:t>a</a:t>
            </a:r>
            <a:r>
              <a:rPr sz="3200" spc="-5" dirty="0">
                <a:solidFill>
                  <a:srgbClr val="3C96DE"/>
                </a:solidFill>
                <a:latin typeface="Leelawadee UI"/>
                <a:cs typeface="Leelawadee UI"/>
              </a:rPr>
              <a:t>r</a:t>
            </a:r>
            <a:r>
              <a:rPr sz="3200" spc="-15" dirty="0">
                <a:solidFill>
                  <a:srgbClr val="3C96DE"/>
                </a:solidFill>
                <a:latin typeface="Leelawadee UI"/>
                <a:cs typeface="Leelawadee UI"/>
              </a:rPr>
              <a:t>e</a:t>
            </a:r>
            <a:r>
              <a:rPr sz="3200" spc="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installed</a:t>
            </a:r>
            <a:r>
              <a:rPr sz="3200" spc="-5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on</a:t>
            </a:r>
            <a:r>
              <a:rPr sz="3200" spc="-1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spc="-85" dirty="0">
                <a:solidFill>
                  <a:srgbClr val="3C96DE"/>
                </a:solidFill>
                <a:latin typeface="Leelawadee UI"/>
                <a:cs typeface="Leelawadee UI"/>
              </a:rPr>
              <a:t>top</a:t>
            </a:r>
            <a:r>
              <a:rPr sz="3200" spc="-13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spc="-25" dirty="0">
                <a:solidFill>
                  <a:srgbClr val="3C96DE"/>
                </a:solidFill>
                <a:latin typeface="Leelawadee UI"/>
                <a:cs typeface="Leelawadee UI"/>
              </a:rPr>
              <a:t>of 	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hardware</a:t>
            </a:r>
            <a:r>
              <a:rPr sz="3200" spc="12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(a</a:t>
            </a:r>
            <a:r>
              <a:rPr sz="3200" spc="17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server)</a:t>
            </a:r>
            <a:r>
              <a:rPr sz="3200" spc="-3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that creates</a:t>
            </a:r>
            <a:r>
              <a:rPr sz="3200" spc="23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3200" spc="10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spc="-10" dirty="0">
                <a:solidFill>
                  <a:srgbClr val="3C96DE"/>
                </a:solidFill>
                <a:latin typeface="Leelawadee UI"/>
                <a:cs typeface="Leelawadee UI"/>
              </a:rPr>
              <a:t>virtualization 	layer</a:t>
            </a:r>
            <a:endParaRPr sz="3200">
              <a:latin typeface="Leelawadee UI"/>
              <a:cs typeface="Leelawadee UI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Clr>
                <a:srgbClr val="3C96DE"/>
              </a:buClr>
              <a:buFont typeface="Microsoft Sans Serif"/>
              <a:buChar char="•"/>
            </a:pPr>
            <a:endParaRPr sz="3200">
              <a:latin typeface="Leelawadee UI"/>
              <a:cs typeface="Leelawadee UI"/>
            </a:endParaRPr>
          </a:p>
          <a:p>
            <a:pPr marL="298450" indent="-285750">
              <a:lnSpc>
                <a:spcPct val="100000"/>
              </a:lnSpc>
              <a:buFont typeface="Microsoft Sans Serif"/>
              <a:buChar char="•"/>
              <a:tabLst>
                <a:tab pos="298450" algn="l"/>
              </a:tabLst>
            </a:pP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Hosts</a:t>
            </a:r>
            <a:r>
              <a:rPr sz="3200" spc="18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spc="-25" dirty="0">
                <a:solidFill>
                  <a:srgbClr val="3C96DE"/>
                </a:solidFill>
                <a:latin typeface="Leelawadee UI"/>
                <a:cs typeface="Leelawadee UI"/>
              </a:rPr>
              <a:t>VMs</a:t>
            </a:r>
            <a:endParaRPr sz="3200">
              <a:latin typeface="Leelawadee UI"/>
              <a:cs typeface="Leelawadee UI"/>
            </a:endParaRPr>
          </a:p>
          <a:p>
            <a:pPr marL="297815" marR="5080" indent="-285750">
              <a:lnSpc>
                <a:spcPct val="99100"/>
              </a:lnSpc>
              <a:spcBef>
                <a:spcPts val="3875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3200" spc="7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3200" spc="17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hypervisor</a:t>
            </a:r>
            <a:r>
              <a:rPr sz="3200" spc="-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pulls</a:t>
            </a:r>
            <a:r>
              <a:rPr sz="3200" spc="18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physical</a:t>
            </a:r>
            <a:r>
              <a:rPr sz="3200" spc="2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resources</a:t>
            </a:r>
            <a:r>
              <a:rPr sz="3200" spc="35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(i.e.,</a:t>
            </a:r>
            <a:r>
              <a:rPr sz="3200" spc="3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spc="60" dirty="0">
                <a:solidFill>
                  <a:srgbClr val="3C96DE"/>
                </a:solidFill>
                <a:latin typeface="Leelawadee UI"/>
                <a:cs typeface="Leelawadee UI"/>
              </a:rPr>
              <a:t>CPU, 	</a:t>
            </a:r>
            <a:r>
              <a:rPr sz="3200" spc="-35" dirty="0">
                <a:solidFill>
                  <a:srgbClr val="3C96DE"/>
                </a:solidFill>
                <a:latin typeface="Leelawadee UI"/>
                <a:cs typeface="Leelawadee UI"/>
              </a:rPr>
              <a:t>RAM)</a:t>
            </a:r>
            <a:r>
              <a:rPr sz="3200" spc="-18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spc="-60" dirty="0">
                <a:solidFill>
                  <a:srgbClr val="3C96DE"/>
                </a:solidFill>
                <a:latin typeface="Leelawadee UI"/>
                <a:cs typeface="Leelawadee UI"/>
              </a:rPr>
              <a:t>from</a:t>
            </a:r>
            <a:r>
              <a:rPr sz="3200" spc="-16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3200" spc="-2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spc="55" dirty="0">
                <a:solidFill>
                  <a:srgbClr val="3C96DE"/>
                </a:solidFill>
                <a:latin typeface="Leelawadee UI"/>
                <a:cs typeface="Leelawadee UI"/>
              </a:rPr>
              <a:t>server</a:t>
            </a:r>
            <a:r>
              <a:rPr sz="3200" spc="-5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and</a:t>
            </a:r>
            <a:r>
              <a:rPr sz="3200" spc="-19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turns</a:t>
            </a:r>
            <a:r>
              <a:rPr sz="3200" spc="-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dirty="0">
                <a:solidFill>
                  <a:srgbClr val="3C96DE"/>
                </a:solidFill>
                <a:latin typeface="Leelawadee UI"/>
                <a:cs typeface="Leelawadee UI"/>
              </a:rPr>
              <a:t>them</a:t>
            </a:r>
            <a:r>
              <a:rPr sz="3200" spc="-13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spc="-55" dirty="0">
                <a:solidFill>
                  <a:srgbClr val="3C96DE"/>
                </a:solidFill>
                <a:latin typeface="Leelawadee UI"/>
                <a:cs typeface="Leelawadee UI"/>
              </a:rPr>
              <a:t>into</a:t>
            </a:r>
            <a:r>
              <a:rPr sz="3200" spc="-16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3200" spc="-10" dirty="0">
                <a:solidFill>
                  <a:srgbClr val="3C96DE"/>
                </a:solidFill>
                <a:latin typeface="Leelawadee UI"/>
                <a:cs typeface="Leelawadee UI"/>
              </a:rPr>
              <a:t>virtual 	hardware</a:t>
            </a:r>
            <a:endParaRPr sz="3200">
              <a:latin typeface="Leelawadee UI"/>
              <a:cs typeface="Leelawadee U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508" y="708659"/>
            <a:ext cx="9918192" cy="54437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1521" y="803909"/>
            <a:ext cx="6171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Type</a:t>
            </a:r>
            <a:r>
              <a:rPr sz="1800" spc="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1</a:t>
            </a:r>
            <a:r>
              <a:rPr sz="18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Hypervisor</a:t>
            </a:r>
            <a:r>
              <a:rPr sz="18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–</a:t>
            </a:r>
            <a:r>
              <a:rPr sz="1800" spc="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Bare</a:t>
            </a:r>
            <a:r>
              <a:rPr sz="1800" spc="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metal</a:t>
            </a:r>
            <a:r>
              <a:rPr sz="18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hypervisor</a:t>
            </a:r>
            <a:r>
              <a:rPr sz="18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(VMware</a:t>
            </a:r>
            <a:r>
              <a:rPr sz="1800" spc="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86E52"/>
                </a:solidFill>
                <a:latin typeface="Leelawadee UI"/>
                <a:cs typeface="Leelawadee UI"/>
              </a:rPr>
              <a:t>ESXi)</a:t>
            </a:r>
            <a:endParaRPr sz="1800">
              <a:latin typeface="Leelawadee UI"/>
              <a:cs typeface="Leelawadee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01521" y="3815842"/>
            <a:ext cx="6550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Type</a:t>
            </a:r>
            <a:r>
              <a:rPr sz="18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2</a:t>
            </a:r>
            <a:r>
              <a:rPr sz="1800" spc="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Hypervisor</a:t>
            </a:r>
            <a:r>
              <a:rPr sz="18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–</a:t>
            </a:r>
            <a:r>
              <a:rPr sz="18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Hosted</a:t>
            </a:r>
            <a:r>
              <a:rPr sz="18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hypervisor</a:t>
            </a:r>
            <a:r>
              <a:rPr sz="18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(VMware</a:t>
            </a:r>
            <a:r>
              <a:rPr sz="1800" spc="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86E52"/>
                </a:solidFill>
                <a:latin typeface="Leelawadee UI"/>
                <a:cs typeface="Leelawadee UI"/>
              </a:rPr>
              <a:t>Workstation)</a:t>
            </a:r>
            <a:endParaRPr sz="1800">
              <a:latin typeface="Leelawadee UI"/>
              <a:cs typeface="Leelawade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143000"/>
            <a:ext cx="12192000" cy="5715000"/>
            <a:chOff x="0" y="1143000"/>
            <a:chExt cx="12192000" cy="5715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645407"/>
              <a:ext cx="12192000" cy="321259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5407" y="1143000"/>
              <a:ext cx="7459980" cy="267919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5391" y="196341"/>
            <a:ext cx="4488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9" dirty="0">
                <a:solidFill>
                  <a:srgbClr val="0D3553"/>
                </a:solidFill>
              </a:rPr>
              <a:t>VIRTUAL</a:t>
            </a:r>
            <a:r>
              <a:rPr sz="3600" spc="25" dirty="0">
                <a:solidFill>
                  <a:srgbClr val="0D3553"/>
                </a:solidFill>
              </a:rPr>
              <a:t> </a:t>
            </a:r>
            <a:r>
              <a:rPr sz="3600" spc="-400" dirty="0">
                <a:solidFill>
                  <a:srgbClr val="0D3553"/>
                </a:solidFill>
              </a:rPr>
              <a:t>MACHINE</a:t>
            </a:r>
            <a:r>
              <a:rPr sz="3600" spc="10" dirty="0">
                <a:solidFill>
                  <a:srgbClr val="0D3553"/>
                </a:solidFill>
              </a:rPr>
              <a:t> </a:t>
            </a:r>
            <a:r>
              <a:rPr sz="3600" spc="-605" dirty="0">
                <a:solidFill>
                  <a:srgbClr val="0D3553"/>
                </a:solidFill>
              </a:rPr>
              <a:t>FILES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152650" y="921003"/>
            <a:ext cx="6299835" cy="12604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VMs</a:t>
            </a:r>
            <a:r>
              <a:rPr sz="1800" spc="14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can</a:t>
            </a:r>
            <a:r>
              <a:rPr sz="1800" spc="-2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be</a:t>
            </a:r>
            <a:r>
              <a:rPr sz="1800" spc="10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spc="-20" dirty="0">
                <a:solidFill>
                  <a:srgbClr val="0D3553"/>
                </a:solidFill>
                <a:latin typeface="Leelawadee UI"/>
                <a:cs typeface="Leelawadee UI"/>
              </a:rPr>
              <a:t>exported</a:t>
            </a:r>
            <a:r>
              <a:rPr sz="1800" spc="-5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and</a:t>
            </a:r>
            <a:r>
              <a:rPr sz="1800" spc="-3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moved</a:t>
            </a:r>
            <a:r>
              <a:rPr sz="1800" spc="-6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0D3553"/>
                </a:solidFill>
                <a:latin typeface="Leelawadee UI"/>
                <a:cs typeface="Leelawadee UI"/>
              </a:rPr>
              <a:t>to</a:t>
            </a:r>
            <a:r>
              <a:rPr sz="1800" spc="-110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spc="-20" dirty="0">
                <a:solidFill>
                  <a:srgbClr val="0D3553"/>
                </a:solidFill>
                <a:latin typeface="Leelawadee UI"/>
                <a:cs typeface="Leelawadee UI"/>
              </a:rPr>
              <a:t>other</a:t>
            </a:r>
            <a:r>
              <a:rPr sz="1800" spc="-30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0D3553"/>
                </a:solidFill>
                <a:latin typeface="Leelawadee UI"/>
                <a:cs typeface="Leelawadee UI"/>
              </a:rPr>
              <a:t>hosts</a:t>
            </a:r>
            <a:endParaRPr sz="1800">
              <a:latin typeface="Leelawadee UI"/>
              <a:cs typeface="Leelawadee UI"/>
            </a:endParaRPr>
          </a:p>
          <a:p>
            <a:pPr marL="299085" indent="-286385">
              <a:lnSpc>
                <a:spcPct val="100000"/>
              </a:lnSpc>
              <a:spcBef>
                <a:spcPts val="1085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Files</a:t>
            </a:r>
            <a:r>
              <a:rPr sz="1800" spc="13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are</a:t>
            </a:r>
            <a:r>
              <a:rPr sz="1800" spc="70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created</a:t>
            </a:r>
            <a:r>
              <a:rPr sz="1800" spc="-30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by</a:t>
            </a:r>
            <a:r>
              <a:rPr sz="1800" spc="-5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the</a:t>
            </a:r>
            <a:r>
              <a:rPr sz="1800" spc="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hypervisor</a:t>
            </a:r>
            <a:r>
              <a:rPr sz="1800" spc="-20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and</a:t>
            </a:r>
            <a:r>
              <a:rPr sz="1800" spc="-1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stored</a:t>
            </a:r>
            <a:r>
              <a:rPr sz="1800" spc="-50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in</a:t>
            </a:r>
            <a:r>
              <a:rPr sz="1800" spc="-5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a</a:t>
            </a:r>
            <a:r>
              <a:rPr sz="1800" spc="1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0D3553"/>
                </a:solidFill>
                <a:latin typeface="Leelawadee UI"/>
                <a:cs typeface="Leelawadee UI"/>
              </a:rPr>
              <a:t>directory</a:t>
            </a:r>
            <a:endParaRPr sz="1800">
              <a:latin typeface="Leelawadee UI"/>
              <a:cs typeface="Leelawadee UI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Example</a:t>
            </a:r>
            <a:r>
              <a:rPr sz="1800" spc="-10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for</a:t>
            </a:r>
            <a:r>
              <a:rPr sz="1800" spc="-125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0D3553"/>
                </a:solidFill>
                <a:latin typeface="Leelawadee UI"/>
                <a:cs typeface="Leelawadee UI"/>
              </a:rPr>
              <a:t>VM</a:t>
            </a:r>
            <a:r>
              <a:rPr sz="1800" spc="-60" dirty="0">
                <a:solidFill>
                  <a:srgbClr val="0D3553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0D3553"/>
                </a:solidFill>
                <a:latin typeface="Leelawadee UI"/>
                <a:cs typeface="Leelawadee UI"/>
              </a:rPr>
              <a:t>files:</a:t>
            </a:r>
            <a:endParaRPr sz="1800">
              <a:latin typeface="Leelawadee UI"/>
              <a:cs typeface="Leelawadee U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39596" y="2858897"/>
          <a:ext cx="8604250" cy="2390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985"/>
                <a:gridCol w="2800350"/>
                <a:gridCol w="3637915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File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0C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File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0C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0C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50" dirty="0">
                          <a:latin typeface="Arial MT"/>
                          <a:cs typeface="Arial MT"/>
                        </a:rPr>
                        <a:t>Log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File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&lt;vmname&gt;.log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60" dirty="0">
                          <a:latin typeface="Arial MT"/>
                          <a:cs typeface="Arial MT"/>
                        </a:rPr>
                        <a:t>Keeps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log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VM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activity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65" dirty="0">
                          <a:latin typeface="Arial MT"/>
                          <a:cs typeface="Arial MT"/>
                        </a:rPr>
                        <a:t>Disk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File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40" dirty="0">
                          <a:latin typeface="Arial MT"/>
                          <a:cs typeface="Arial MT"/>
                        </a:rPr>
                        <a:t>&lt;vmname&gt;.vmdk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45" dirty="0">
                          <a:latin typeface="Arial MT"/>
                          <a:cs typeface="Arial MT"/>
                        </a:rPr>
                        <a:t>Stores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30" dirty="0">
                          <a:latin typeface="Arial MT"/>
                          <a:cs typeface="Arial MT"/>
                        </a:rPr>
                        <a:t>content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of</a:t>
                      </a:r>
                      <a:r>
                        <a:rPr sz="18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55" dirty="0">
                          <a:latin typeface="Arial MT"/>
                          <a:cs typeface="Arial MT"/>
                        </a:rPr>
                        <a:t>VM’s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10" dirty="0">
                          <a:latin typeface="Arial MT"/>
                          <a:cs typeface="Arial MT"/>
                        </a:rPr>
                        <a:t>disk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drive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55" dirty="0">
                          <a:latin typeface="Arial MT"/>
                          <a:cs typeface="Arial MT"/>
                        </a:rPr>
                        <a:t>Snapshot</a:t>
                      </a:r>
                      <a:r>
                        <a:rPr sz="18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Files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30" dirty="0">
                          <a:latin typeface="Arial MT"/>
                          <a:cs typeface="Arial MT"/>
                        </a:rPr>
                        <a:t>&lt;vmname&gt;.vmsd</a:t>
                      </a:r>
                      <a:r>
                        <a:rPr sz="1800" spc="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and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70" dirty="0">
                          <a:latin typeface="Arial MT"/>
                          <a:cs typeface="Arial MT"/>
                        </a:rPr>
                        <a:t>&lt;vmname&gt;.vmsn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2836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45" dirty="0">
                          <a:latin typeface="Arial MT"/>
                          <a:cs typeface="Arial MT"/>
                        </a:rPr>
                        <a:t>Stores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80" dirty="0">
                          <a:latin typeface="Arial MT"/>
                          <a:cs typeface="Arial MT"/>
                        </a:rPr>
                        <a:t>information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70" dirty="0">
                          <a:latin typeface="Arial MT"/>
                          <a:cs typeface="Arial MT"/>
                        </a:rPr>
                        <a:t>about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80" dirty="0">
                          <a:latin typeface="Arial MT"/>
                          <a:cs typeface="Arial MT"/>
                        </a:rPr>
                        <a:t>VM </a:t>
                      </a:r>
                      <a:r>
                        <a:rPr sz="1800" spc="-170" dirty="0">
                          <a:latin typeface="Arial MT"/>
                          <a:cs typeface="Arial MT"/>
                        </a:rPr>
                        <a:t>snapshots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(saved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VM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D0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80" dirty="0">
                          <a:latin typeface="Arial MT"/>
                          <a:cs typeface="Arial MT"/>
                        </a:rPr>
                        <a:t>Configuration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File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30" dirty="0">
                          <a:latin typeface="Arial MT"/>
                          <a:cs typeface="Arial MT"/>
                        </a:rPr>
                        <a:t>&lt;vmname&gt;.vmx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45" dirty="0">
                          <a:latin typeface="Arial MT"/>
                          <a:cs typeface="Arial MT"/>
                        </a:rPr>
                        <a:t>Stores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80" dirty="0">
                          <a:latin typeface="Arial MT"/>
                          <a:cs typeface="Arial MT"/>
                        </a:rPr>
                        <a:t>information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70" dirty="0">
                          <a:latin typeface="Arial MT"/>
                          <a:cs typeface="Arial MT"/>
                        </a:rPr>
                        <a:t>about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VM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name,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85" dirty="0">
                          <a:latin typeface="Arial MT"/>
                          <a:cs typeface="Arial MT"/>
                        </a:rPr>
                        <a:t>BIOS,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35" dirty="0">
                          <a:latin typeface="Arial MT"/>
                          <a:cs typeface="Arial MT"/>
                        </a:rPr>
                        <a:t>guest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65" dirty="0">
                          <a:latin typeface="Arial MT"/>
                          <a:cs typeface="Arial MT"/>
                        </a:rPr>
                        <a:t>OS,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7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memory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F6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522" y="554228"/>
            <a:ext cx="4459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25" dirty="0">
                <a:solidFill>
                  <a:srgbClr val="0D3553"/>
                </a:solidFill>
              </a:rPr>
              <a:t>WHAT</a:t>
            </a:r>
            <a:r>
              <a:rPr sz="3600" spc="-10" dirty="0">
                <a:solidFill>
                  <a:srgbClr val="0D3553"/>
                </a:solidFill>
              </a:rPr>
              <a:t> </a:t>
            </a:r>
            <a:r>
              <a:rPr sz="3600" spc="-409" dirty="0">
                <a:solidFill>
                  <a:srgbClr val="0D3553"/>
                </a:solidFill>
              </a:rPr>
              <a:t>IS</a:t>
            </a:r>
            <a:r>
              <a:rPr sz="3600" spc="-10" dirty="0">
                <a:solidFill>
                  <a:srgbClr val="0D3553"/>
                </a:solidFill>
              </a:rPr>
              <a:t> </a:t>
            </a:r>
            <a:r>
              <a:rPr sz="3600" dirty="0">
                <a:solidFill>
                  <a:srgbClr val="0D3553"/>
                </a:solidFill>
              </a:rPr>
              <a:t>A</a:t>
            </a:r>
            <a:r>
              <a:rPr sz="3600" spc="-245" dirty="0">
                <a:solidFill>
                  <a:srgbClr val="0D3553"/>
                </a:solidFill>
              </a:rPr>
              <a:t> </a:t>
            </a:r>
            <a:r>
              <a:rPr sz="3600" spc="-475" dirty="0">
                <a:solidFill>
                  <a:srgbClr val="0D3553"/>
                </a:solidFill>
              </a:rPr>
              <a:t>SNAPSHOT?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40688" y="1352549"/>
            <a:ext cx="10329545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800" spc="-35" dirty="0">
                <a:solidFill>
                  <a:srgbClr val="3C96DE"/>
                </a:solidFill>
                <a:latin typeface="Leelawadee UI"/>
                <a:cs typeface="Leelawadee UI"/>
              </a:rPr>
              <a:t>Working</a:t>
            </a:r>
            <a:r>
              <a:rPr sz="2800" spc="-14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on</a:t>
            </a:r>
            <a:r>
              <a:rPr sz="2800" spc="-5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a</a:t>
            </a:r>
            <a:r>
              <a:rPr sz="2800" spc="6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VM</a:t>
            </a:r>
            <a:r>
              <a:rPr sz="2800" spc="5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and</a:t>
            </a:r>
            <a:r>
              <a:rPr sz="2800" spc="-8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need</a:t>
            </a:r>
            <a:r>
              <a:rPr sz="2800" spc="-1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to</a:t>
            </a:r>
            <a:r>
              <a:rPr sz="2800" spc="-1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65" dirty="0">
                <a:solidFill>
                  <a:srgbClr val="3C96DE"/>
                </a:solidFill>
                <a:latin typeface="Leelawadee UI"/>
                <a:cs typeface="Leelawadee UI"/>
              </a:rPr>
              <a:t>save</a:t>
            </a:r>
            <a:r>
              <a:rPr sz="2800" spc="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progress</a:t>
            </a:r>
            <a:r>
              <a:rPr sz="2800" spc="15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or</a:t>
            </a:r>
            <a:r>
              <a:rPr sz="2800" spc="-8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state?</a:t>
            </a:r>
            <a:endParaRPr sz="2800">
              <a:latin typeface="Leelawadee UI"/>
              <a:cs typeface="Leelawadee UI"/>
            </a:endParaRPr>
          </a:p>
          <a:p>
            <a:pPr marL="299085" indent="-286385">
              <a:lnSpc>
                <a:spcPct val="100000"/>
              </a:lnSpc>
              <a:spcBef>
                <a:spcPts val="3165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Snapshots</a:t>
            </a:r>
            <a:r>
              <a:rPr sz="2800" spc="15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are</a:t>
            </a:r>
            <a:r>
              <a:rPr sz="2800" spc="9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70" dirty="0">
                <a:solidFill>
                  <a:srgbClr val="3C96DE"/>
                </a:solidFill>
                <a:latin typeface="Leelawadee UI"/>
                <a:cs typeface="Leelawadee UI"/>
              </a:rPr>
              <a:t>saved</a:t>
            </a:r>
            <a:r>
              <a:rPr sz="2800" spc="-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as</a:t>
            </a:r>
            <a:r>
              <a:rPr sz="2800" spc="15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files</a:t>
            </a:r>
            <a:r>
              <a:rPr sz="2800" spc="17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in</a:t>
            </a:r>
            <a:r>
              <a:rPr sz="2800" spc="-1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the</a:t>
            </a:r>
            <a:r>
              <a:rPr sz="2800" spc="4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VM</a:t>
            </a:r>
            <a:r>
              <a:rPr sz="2800" spc="-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folder</a:t>
            </a:r>
            <a:r>
              <a:rPr sz="2800" spc="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(</a:t>
            </a:r>
            <a:r>
              <a:rPr sz="2800" spc="-10" dirty="0">
                <a:solidFill>
                  <a:srgbClr val="3C96DE"/>
                </a:solidFill>
                <a:latin typeface="Courier New"/>
                <a:cs typeface="Courier New"/>
              </a:rPr>
              <a:t>&lt;vmname&gt;.vmx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)</a:t>
            </a:r>
            <a:endParaRPr sz="2800">
              <a:latin typeface="Leelawadee UI"/>
              <a:cs typeface="Leelawadee UI"/>
            </a:endParaRPr>
          </a:p>
          <a:p>
            <a:pPr marL="299085" indent="-286385">
              <a:lnSpc>
                <a:spcPct val="100000"/>
              </a:lnSpc>
              <a:spcBef>
                <a:spcPts val="3554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What</a:t>
            </a:r>
            <a:r>
              <a:rPr sz="2800" spc="-7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is</a:t>
            </a:r>
            <a:r>
              <a:rPr sz="2800" spc="16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70" dirty="0">
                <a:solidFill>
                  <a:srgbClr val="3C96DE"/>
                </a:solidFill>
                <a:latin typeface="Leelawadee UI"/>
                <a:cs typeface="Leelawadee UI"/>
              </a:rPr>
              <a:t>saved</a:t>
            </a:r>
            <a:r>
              <a:rPr sz="2800" spc="-5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by</a:t>
            </a:r>
            <a:r>
              <a:rPr sz="2800" spc="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a</a:t>
            </a:r>
            <a:r>
              <a:rPr sz="2800" spc="114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snapshot?</a:t>
            </a:r>
            <a:endParaRPr sz="2800">
              <a:latin typeface="Leelawadee UI"/>
              <a:cs typeface="Leelawadee UI"/>
            </a:endParaRPr>
          </a:p>
          <a:p>
            <a:pPr marL="1167765" lvl="1" indent="-241300">
              <a:lnSpc>
                <a:spcPct val="100000"/>
              </a:lnSpc>
              <a:buChar char="-"/>
              <a:tabLst>
                <a:tab pos="1167765" algn="l"/>
              </a:tabLst>
            </a:pP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State</a:t>
            </a:r>
            <a:r>
              <a:rPr sz="2800" spc="-3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of</a:t>
            </a:r>
            <a:r>
              <a:rPr sz="2800" spc="-9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VM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20" dirty="0">
                <a:solidFill>
                  <a:srgbClr val="3C96DE"/>
                </a:solidFill>
                <a:latin typeface="Leelawadee UI"/>
                <a:cs typeface="Leelawadee UI"/>
              </a:rPr>
              <a:t>disks</a:t>
            </a:r>
            <a:endParaRPr sz="2800">
              <a:latin typeface="Leelawadee UI"/>
              <a:cs typeface="Leelawadee UI"/>
            </a:endParaRPr>
          </a:p>
          <a:p>
            <a:pPr marL="1167765" lvl="1" indent="-241300">
              <a:lnSpc>
                <a:spcPct val="100000"/>
              </a:lnSpc>
              <a:spcBef>
                <a:spcPts val="5"/>
              </a:spcBef>
              <a:buChar char="-"/>
              <a:tabLst>
                <a:tab pos="1167765" algn="l"/>
              </a:tabLst>
            </a:pP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Contents</a:t>
            </a:r>
            <a:r>
              <a:rPr sz="2800" spc="-3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of</a:t>
            </a:r>
            <a:r>
              <a:rPr sz="2800" spc="-16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VM</a:t>
            </a:r>
            <a:r>
              <a:rPr sz="2800" spc="-90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memory</a:t>
            </a:r>
            <a:endParaRPr sz="2800">
              <a:latin typeface="Leelawadee UI"/>
              <a:cs typeface="Leelawadee UI"/>
            </a:endParaRPr>
          </a:p>
          <a:p>
            <a:pPr marL="1167765" lvl="1" indent="-241300">
              <a:lnSpc>
                <a:spcPct val="100000"/>
              </a:lnSpc>
              <a:buChar char="-"/>
              <a:tabLst>
                <a:tab pos="1167765" algn="l"/>
              </a:tabLst>
            </a:pPr>
            <a:r>
              <a:rPr sz="2800" dirty="0">
                <a:solidFill>
                  <a:srgbClr val="3C96DE"/>
                </a:solidFill>
                <a:latin typeface="Leelawadee UI"/>
                <a:cs typeface="Leelawadee UI"/>
              </a:rPr>
              <a:t>VM</a:t>
            </a:r>
            <a:r>
              <a:rPr sz="2800" spc="-75" dirty="0">
                <a:solidFill>
                  <a:srgbClr val="3C96DE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C96DE"/>
                </a:solidFill>
                <a:latin typeface="Leelawadee UI"/>
                <a:cs typeface="Leelawadee UI"/>
              </a:rPr>
              <a:t>settings</a:t>
            </a:r>
            <a:endParaRPr sz="28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1364" y="3025139"/>
            <a:ext cx="4575047" cy="3179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0004" y="2976829"/>
            <a:ext cx="620712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>
                <a:solidFill>
                  <a:srgbClr val="FFFFFF"/>
                </a:solidFill>
              </a:rPr>
              <a:t>INSTALL</a:t>
            </a:r>
            <a:r>
              <a:rPr spc="-33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VMWARE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0004" y="2209038"/>
            <a:ext cx="7945120" cy="16478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marR="5080">
              <a:lnSpc>
                <a:spcPts val="6050"/>
              </a:lnSpc>
              <a:spcBef>
                <a:spcPts val="865"/>
              </a:spcBef>
            </a:pPr>
            <a:r>
              <a:rPr spc="-50" dirty="0">
                <a:solidFill>
                  <a:srgbClr val="FFFFFF"/>
                </a:solidFill>
              </a:rPr>
              <a:t>CREATE</a:t>
            </a:r>
            <a:r>
              <a:rPr spc="-29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VIRTUAL </a:t>
            </a:r>
            <a:r>
              <a:rPr dirty="0">
                <a:solidFill>
                  <a:srgbClr val="FFFFFF"/>
                </a:solidFill>
              </a:rPr>
              <a:t>MACHINE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ON</a:t>
            </a:r>
            <a:r>
              <a:rPr spc="-30" dirty="0">
                <a:solidFill>
                  <a:srgbClr val="FFFFFF"/>
                </a:solidFill>
              </a:rPr>
              <a:t> VMWARE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37759" y="2834639"/>
              <a:ext cx="614680" cy="1371600"/>
            </a:xfrm>
            <a:custGeom>
              <a:avLst/>
              <a:gdLst/>
              <a:ahLst/>
              <a:cxnLst/>
              <a:rect l="l" t="t" r="r" b="b"/>
              <a:pathLst>
                <a:path w="614679" h="1371600">
                  <a:moveTo>
                    <a:pt x="307086" y="0"/>
                  </a:moveTo>
                  <a:lnTo>
                    <a:pt x="0" y="307086"/>
                  </a:lnTo>
                  <a:lnTo>
                    <a:pt x="153542" y="307086"/>
                  </a:lnTo>
                  <a:lnTo>
                    <a:pt x="153542" y="1371600"/>
                  </a:lnTo>
                  <a:lnTo>
                    <a:pt x="460628" y="1371600"/>
                  </a:lnTo>
                  <a:lnTo>
                    <a:pt x="460628" y="307086"/>
                  </a:lnTo>
                  <a:lnTo>
                    <a:pt x="614172" y="307086"/>
                  </a:lnTo>
                  <a:lnTo>
                    <a:pt x="307086" y="0"/>
                  </a:lnTo>
                  <a:close/>
                </a:path>
              </a:pathLst>
            </a:custGeom>
            <a:solidFill>
              <a:srgbClr val="9ACD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37759" y="2834639"/>
              <a:ext cx="614680" cy="1371600"/>
            </a:xfrm>
            <a:custGeom>
              <a:avLst/>
              <a:gdLst/>
              <a:ahLst/>
              <a:cxnLst/>
              <a:rect l="l" t="t" r="r" b="b"/>
              <a:pathLst>
                <a:path w="614679" h="1371600">
                  <a:moveTo>
                    <a:pt x="0" y="307086"/>
                  </a:moveTo>
                  <a:lnTo>
                    <a:pt x="307086" y="0"/>
                  </a:lnTo>
                  <a:lnTo>
                    <a:pt x="614172" y="307086"/>
                  </a:lnTo>
                  <a:lnTo>
                    <a:pt x="460628" y="307086"/>
                  </a:lnTo>
                  <a:lnTo>
                    <a:pt x="460628" y="1371600"/>
                  </a:lnTo>
                  <a:lnTo>
                    <a:pt x="153542" y="1371600"/>
                  </a:lnTo>
                  <a:lnTo>
                    <a:pt x="153542" y="307086"/>
                  </a:lnTo>
                  <a:lnTo>
                    <a:pt x="0" y="307086"/>
                  </a:lnTo>
                  <a:close/>
                </a:path>
              </a:pathLst>
            </a:custGeom>
            <a:ln w="15240">
              <a:solidFill>
                <a:srgbClr val="6F95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20900" y="486663"/>
              <a:ext cx="2127250" cy="2600325"/>
            </a:xfrm>
            <a:custGeom>
              <a:avLst/>
              <a:gdLst/>
              <a:ahLst/>
              <a:cxnLst/>
              <a:rect l="l" t="t" r="r" b="b"/>
              <a:pathLst>
                <a:path w="2127250" h="2600325">
                  <a:moveTo>
                    <a:pt x="56261" y="0"/>
                  </a:moveTo>
                  <a:lnTo>
                    <a:pt x="0" y="449072"/>
                  </a:lnTo>
                  <a:lnTo>
                    <a:pt x="126364" y="350900"/>
                  </a:lnTo>
                  <a:lnTo>
                    <a:pt x="1874520" y="2600325"/>
                  </a:lnTo>
                  <a:lnTo>
                    <a:pt x="2127250" y="2403983"/>
                  </a:lnTo>
                  <a:lnTo>
                    <a:pt x="378968" y="154559"/>
                  </a:lnTo>
                  <a:lnTo>
                    <a:pt x="505332" y="56387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9ACD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20900" y="486663"/>
              <a:ext cx="2127250" cy="2600325"/>
            </a:xfrm>
            <a:custGeom>
              <a:avLst/>
              <a:gdLst/>
              <a:ahLst/>
              <a:cxnLst/>
              <a:rect l="l" t="t" r="r" b="b"/>
              <a:pathLst>
                <a:path w="2127250" h="2600325">
                  <a:moveTo>
                    <a:pt x="0" y="449072"/>
                  </a:moveTo>
                  <a:lnTo>
                    <a:pt x="56261" y="0"/>
                  </a:lnTo>
                  <a:lnTo>
                    <a:pt x="505332" y="56387"/>
                  </a:lnTo>
                  <a:lnTo>
                    <a:pt x="378968" y="154559"/>
                  </a:lnTo>
                  <a:lnTo>
                    <a:pt x="2127250" y="2403983"/>
                  </a:lnTo>
                  <a:lnTo>
                    <a:pt x="1874520" y="2600325"/>
                  </a:lnTo>
                  <a:lnTo>
                    <a:pt x="126364" y="350900"/>
                  </a:lnTo>
                  <a:lnTo>
                    <a:pt x="0" y="449072"/>
                  </a:lnTo>
                  <a:close/>
                </a:path>
              </a:pathLst>
            </a:custGeom>
            <a:ln w="15875">
              <a:solidFill>
                <a:srgbClr val="6F95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0004" y="2209038"/>
            <a:ext cx="5595620" cy="16478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marR="5080">
              <a:lnSpc>
                <a:spcPts val="6050"/>
              </a:lnSpc>
              <a:spcBef>
                <a:spcPts val="865"/>
              </a:spcBef>
            </a:pPr>
            <a:r>
              <a:rPr dirty="0">
                <a:solidFill>
                  <a:srgbClr val="FFFFFF"/>
                </a:solidFill>
              </a:rPr>
              <a:t>BOOTING</a:t>
            </a:r>
            <a:r>
              <a:rPr spc="-50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FROM </a:t>
            </a:r>
            <a:r>
              <a:rPr spc="-10" dirty="0">
                <a:solidFill>
                  <a:srgbClr val="FFFFFF"/>
                </a:solidFill>
              </a:rPr>
              <a:t>VMWARE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0004" y="2209038"/>
            <a:ext cx="7616190" cy="16478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marR="5080">
              <a:lnSpc>
                <a:spcPts val="6050"/>
              </a:lnSpc>
              <a:spcBef>
                <a:spcPts val="865"/>
              </a:spcBef>
            </a:pPr>
            <a:r>
              <a:rPr spc="-50" dirty="0">
                <a:solidFill>
                  <a:srgbClr val="FFFFFF"/>
                </a:solidFill>
              </a:rPr>
              <a:t>INSTALL</a:t>
            </a:r>
            <a:r>
              <a:rPr spc="-26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WINDOWS</a:t>
            </a:r>
            <a:r>
              <a:rPr spc="-80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10 </a:t>
            </a:r>
            <a:r>
              <a:rPr dirty="0">
                <a:solidFill>
                  <a:srgbClr val="FFFFFF"/>
                </a:solidFill>
              </a:rPr>
              <a:t>ON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VMWARE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0004" y="2976829"/>
            <a:ext cx="652145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THE</a:t>
            </a:r>
            <a:r>
              <a:rPr spc="15" dirty="0">
                <a:solidFill>
                  <a:srgbClr val="FFFFFF"/>
                </a:solidFill>
              </a:rPr>
              <a:t> </a:t>
            </a:r>
            <a:r>
              <a:rPr spc="-235" dirty="0">
                <a:solidFill>
                  <a:srgbClr val="FFFFFF"/>
                </a:solidFill>
              </a:rPr>
              <a:t>DATA</a:t>
            </a:r>
            <a:r>
              <a:rPr spc="-28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CENTER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2019" y="690117"/>
            <a:ext cx="4892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0" dirty="0">
                <a:solidFill>
                  <a:srgbClr val="386E52"/>
                </a:solidFill>
              </a:rPr>
              <a:t>WHAT</a:t>
            </a:r>
            <a:r>
              <a:rPr sz="3600" spc="-5" dirty="0">
                <a:solidFill>
                  <a:srgbClr val="386E52"/>
                </a:solidFill>
              </a:rPr>
              <a:t> </a:t>
            </a:r>
            <a:r>
              <a:rPr sz="3600" spc="-409" dirty="0">
                <a:solidFill>
                  <a:srgbClr val="386E52"/>
                </a:solidFill>
              </a:rPr>
              <a:t>IS</a:t>
            </a:r>
            <a:r>
              <a:rPr sz="3600" spc="-5" dirty="0">
                <a:solidFill>
                  <a:srgbClr val="386E52"/>
                </a:solidFill>
              </a:rPr>
              <a:t> </a:t>
            </a:r>
            <a:r>
              <a:rPr sz="3600" spc="-240" dirty="0">
                <a:solidFill>
                  <a:srgbClr val="386E52"/>
                </a:solidFill>
              </a:rPr>
              <a:t>A</a:t>
            </a:r>
            <a:r>
              <a:rPr sz="3600" spc="-15" dirty="0">
                <a:solidFill>
                  <a:srgbClr val="386E52"/>
                </a:solidFill>
              </a:rPr>
              <a:t> </a:t>
            </a:r>
            <a:r>
              <a:rPr sz="3600" spc="-475" dirty="0">
                <a:solidFill>
                  <a:srgbClr val="386E52"/>
                </a:solidFill>
              </a:rPr>
              <a:t>DATA</a:t>
            </a:r>
            <a:r>
              <a:rPr sz="3600" spc="-5" dirty="0">
                <a:solidFill>
                  <a:srgbClr val="386E52"/>
                </a:solidFill>
              </a:rPr>
              <a:t> </a:t>
            </a:r>
            <a:r>
              <a:rPr sz="3600" spc="-645" dirty="0">
                <a:solidFill>
                  <a:srgbClr val="386E52"/>
                </a:solidFill>
              </a:rPr>
              <a:t>CENTER?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6492" y="1626489"/>
            <a:ext cx="4283710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b="1" u="heavy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Trebuchet MS"/>
                <a:cs typeface="Trebuchet MS"/>
              </a:rPr>
              <a:t>Hardware</a:t>
            </a:r>
            <a:r>
              <a:rPr sz="2400" b="1" spc="-10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infrastructure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that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supports</a:t>
            </a:r>
            <a:r>
              <a:rPr sz="2400" spc="-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virtualization</a:t>
            </a:r>
            <a:endParaRPr sz="2400">
              <a:latin typeface="Leelawadee UI"/>
              <a:cs typeface="Leelawadee UI"/>
            </a:endParaRPr>
          </a:p>
          <a:p>
            <a:pPr marL="393065" marR="51435" indent="-381000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Focus</a:t>
            </a:r>
            <a:r>
              <a:rPr sz="2400" spc="1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1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processing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large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amounts</a:t>
            </a:r>
            <a:r>
              <a:rPr sz="24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endParaRPr sz="2400">
              <a:latin typeface="Leelawadee UI"/>
              <a:cs typeface="Leelawadee UI"/>
            </a:endParaRPr>
          </a:p>
          <a:p>
            <a:pPr marL="393065" marR="614045" indent="-381000">
              <a:lnSpc>
                <a:spcPct val="100000"/>
              </a:lnSpc>
              <a:spcBef>
                <a:spcPts val="2885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What</a:t>
            </a:r>
            <a:r>
              <a:rPr sz="2400" spc="-1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4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three</a:t>
            </a:r>
            <a:r>
              <a:rPr sz="24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main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components?</a:t>
            </a:r>
            <a:endParaRPr sz="2400">
              <a:latin typeface="Leelawadee UI"/>
              <a:cs typeface="Leelawadee UI"/>
            </a:endParaRPr>
          </a:p>
          <a:p>
            <a:pPr marL="1132205" lvl="1" indent="-205740">
              <a:lnSpc>
                <a:spcPct val="100000"/>
              </a:lnSpc>
              <a:buChar char="-"/>
              <a:tabLst>
                <a:tab pos="1132205" algn="l"/>
              </a:tabLst>
            </a:pP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Compute</a:t>
            </a:r>
            <a:endParaRPr sz="2400">
              <a:latin typeface="Leelawadee UI"/>
              <a:cs typeface="Leelawadee UI"/>
            </a:endParaRPr>
          </a:p>
          <a:p>
            <a:pPr marL="1133475" lvl="1" indent="-207010">
              <a:lnSpc>
                <a:spcPct val="100000"/>
              </a:lnSpc>
              <a:buChar char="-"/>
              <a:tabLst>
                <a:tab pos="113347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</a:t>
            </a:r>
            <a:r>
              <a:rPr sz="2400" spc="-4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torage</a:t>
            </a:r>
            <a:endParaRPr sz="2400">
              <a:latin typeface="Leelawadee UI"/>
              <a:cs typeface="Leelawadee UI"/>
            </a:endParaRPr>
          </a:p>
          <a:p>
            <a:pPr marL="1132205" lvl="1" indent="-205740">
              <a:lnSpc>
                <a:spcPct val="100000"/>
              </a:lnSpc>
              <a:buChar char="-"/>
              <a:tabLst>
                <a:tab pos="1132205" algn="l"/>
              </a:tabLst>
            </a:pP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Networks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1808" y="2205227"/>
            <a:ext cx="6385560" cy="36758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9822" y="586485"/>
            <a:ext cx="37230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65" dirty="0">
                <a:solidFill>
                  <a:srgbClr val="386E52"/>
                </a:solidFill>
              </a:rPr>
              <a:t>COMPUTE</a:t>
            </a:r>
            <a:r>
              <a:rPr sz="3600" spc="15" dirty="0">
                <a:solidFill>
                  <a:srgbClr val="386E52"/>
                </a:solidFill>
              </a:rPr>
              <a:t> </a:t>
            </a:r>
            <a:r>
              <a:rPr sz="3600" spc="-585" dirty="0">
                <a:solidFill>
                  <a:srgbClr val="386E52"/>
                </a:solidFill>
              </a:rPr>
              <a:t>SYSTEMS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42873" y="1383029"/>
            <a:ext cx="11029950" cy="327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Hardware</a:t>
            </a:r>
            <a:r>
              <a:rPr sz="2400" spc="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operating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system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software</a:t>
            </a:r>
            <a:r>
              <a:rPr sz="2400" spc="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400" spc="-1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runs</a:t>
            </a:r>
            <a:r>
              <a:rPr sz="2400" spc="20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applications</a:t>
            </a:r>
            <a:endParaRPr sz="2400">
              <a:latin typeface="Leelawadee UI"/>
              <a:cs typeface="Leelawadee UI"/>
            </a:endParaRPr>
          </a:p>
          <a:p>
            <a:pPr marL="393700" indent="-381000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Difference</a:t>
            </a:r>
            <a:r>
              <a:rPr sz="2400" spc="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between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PC</a:t>
            </a:r>
            <a:r>
              <a:rPr sz="2400" spc="2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server</a:t>
            </a:r>
            <a:endParaRPr sz="2400">
              <a:latin typeface="Leelawadee UI"/>
              <a:cs typeface="Leelawadee UI"/>
            </a:endParaRPr>
          </a:p>
          <a:p>
            <a:pPr marL="1841500">
              <a:lnSpc>
                <a:spcPct val="100000"/>
              </a:lnSpc>
              <a:spcBef>
                <a:spcPts val="35"/>
              </a:spcBef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-</a:t>
            </a:r>
            <a:r>
              <a:rPr sz="2100" spc="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65" dirty="0">
                <a:solidFill>
                  <a:srgbClr val="386E52"/>
                </a:solidFill>
                <a:latin typeface="Leelawadee UI"/>
                <a:cs typeface="Leelawadee UI"/>
              </a:rPr>
              <a:t>PCs</a:t>
            </a:r>
            <a:r>
              <a:rPr sz="2100" spc="2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have</a:t>
            </a:r>
            <a:r>
              <a:rPr sz="2100" spc="1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100" spc="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user-friendly</a:t>
            </a:r>
            <a:r>
              <a:rPr sz="2100" spc="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interface</a:t>
            </a:r>
            <a:r>
              <a:rPr sz="2100" spc="1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while</a:t>
            </a:r>
            <a:r>
              <a:rPr sz="2100" spc="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45" dirty="0">
                <a:solidFill>
                  <a:srgbClr val="386E52"/>
                </a:solidFill>
                <a:latin typeface="Leelawadee UI"/>
                <a:cs typeface="Leelawadee UI"/>
              </a:rPr>
              <a:t>servers</a:t>
            </a:r>
            <a:r>
              <a:rPr sz="2100" spc="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focus</a:t>
            </a:r>
            <a:r>
              <a:rPr sz="2100" spc="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1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running</a:t>
            </a:r>
            <a:r>
              <a:rPr sz="21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programs</a:t>
            </a:r>
            <a:endParaRPr sz="2100">
              <a:latin typeface="Leelawadee UI"/>
              <a:cs typeface="Leelawadee U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100">
              <a:latin typeface="Leelawadee UI"/>
              <a:cs typeface="Leelawadee UI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Types</a:t>
            </a:r>
            <a:r>
              <a:rPr sz="2400" spc="1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10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40" dirty="0">
                <a:solidFill>
                  <a:srgbClr val="386E52"/>
                </a:solidFill>
                <a:latin typeface="Leelawadee UI"/>
                <a:cs typeface="Leelawadee UI"/>
              </a:rPr>
              <a:t>servers:</a:t>
            </a:r>
            <a:endParaRPr sz="2400">
              <a:latin typeface="Leelawadee UI"/>
              <a:cs typeface="Leelawadee UI"/>
            </a:endParaRPr>
          </a:p>
          <a:p>
            <a:pPr marL="1129665" lvl="1" indent="-202565">
              <a:lnSpc>
                <a:spcPct val="100000"/>
              </a:lnSpc>
              <a:buChar char="-"/>
              <a:tabLst>
                <a:tab pos="1129665" algn="l"/>
              </a:tabLst>
            </a:pP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Tower</a:t>
            </a:r>
            <a:endParaRPr sz="2400">
              <a:latin typeface="Leelawadee UI"/>
              <a:cs typeface="Leelawadee UI"/>
            </a:endParaRPr>
          </a:p>
          <a:p>
            <a:pPr marL="1132840" lvl="1" indent="-205740">
              <a:lnSpc>
                <a:spcPct val="100000"/>
              </a:lnSpc>
              <a:buChar char="-"/>
              <a:tabLst>
                <a:tab pos="113284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Blade</a:t>
            </a:r>
            <a:r>
              <a:rPr sz="2400" spc="2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40" dirty="0">
                <a:solidFill>
                  <a:srgbClr val="386E52"/>
                </a:solidFill>
                <a:latin typeface="Leelawadee UI"/>
                <a:cs typeface="Leelawadee UI"/>
              </a:rPr>
              <a:t>server</a:t>
            </a:r>
            <a:endParaRPr sz="2400">
              <a:latin typeface="Leelawadee UI"/>
              <a:cs typeface="Leelawadee UI"/>
            </a:endParaRPr>
          </a:p>
          <a:p>
            <a:pPr marL="1132840" lvl="1" indent="-205740">
              <a:lnSpc>
                <a:spcPct val="100000"/>
              </a:lnSpc>
              <a:buChar char="-"/>
              <a:tabLst>
                <a:tab pos="113284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Rack-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mounted</a:t>
            </a:r>
            <a:r>
              <a:rPr sz="2400" spc="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server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6859" y="3250692"/>
            <a:ext cx="5609844" cy="30388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4469" y="442976"/>
            <a:ext cx="37230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65" dirty="0">
                <a:solidFill>
                  <a:srgbClr val="386E52"/>
                </a:solidFill>
              </a:rPr>
              <a:t>COMPUTE</a:t>
            </a:r>
            <a:r>
              <a:rPr sz="3600" spc="15" dirty="0">
                <a:solidFill>
                  <a:srgbClr val="386E52"/>
                </a:solidFill>
              </a:rPr>
              <a:t> </a:t>
            </a:r>
            <a:r>
              <a:rPr sz="3600" spc="-585" dirty="0">
                <a:solidFill>
                  <a:srgbClr val="386E52"/>
                </a:solidFill>
              </a:rPr>
              <a:t>SYSTEMS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31900" y="1471676"/>
            <a:ext cx="923861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What</a:t>
            </a:r>
            <a:r>
              <a:rPr sz="2400" spc="-1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architecture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1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server?</a:t>
            </a:r>
            <a:endParaRPr sz="2400" dirty="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Architecture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means</a:t>
            </a:r>
            <a:r>
              <a:rPr sz="24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type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1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processor</a:t>
            </a:r>
            <a:r>
              <a:rPr sz="24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used</a:t>
            </a:r>
            <a:r>
              <a:rPr sz="2400" spc="-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by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server.</a:t>
            </a:r>
            <a:endParaRPr sz="2400" dirty="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centers</a:t>
            </a:r>
            <a:r>
              <a:rPr sz="2400" spc="2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typically</a:t>
            </a:r>
            <a:r>
              <a:rPr sz="24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use</a:t>
            </a:r>
            <a:r>
              <a:rPr sz="2400" spc="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servers</a:t>
            </a:r>
            <a:r>
              <a:rPr sz="2400" spc="2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with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x86</a:t>
            </a:r>
            <a:r>
              <a:rPr sz="24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architecture.</a:t>
            </a:r>
            <a:endParaRPr sz="2400" dirty="0">
              <a:latin typeface="Leelawadee UI"/>
              <a:cs typeface="Leelawadee UI"/>
            </a:endParaRPr>
          </a:p>
          <a:p>
            <a:pPr marL="393700" marR="5080" indent="-381000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spc="70" dirty="0">
                <a:solidFill>
                  <a:srgbClr val="386E52"/>
                </a:solidFill>
                <a:latin typeface="Leelawadee UI"/>
                <a:cs typeface="Leelawadee UI"/>
              </a:rPr>
              <a:t>Classic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architecture</a:t>
            </a:r>
            <a:r>
              <a:rPr sz="24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1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32-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bit</a:t>
            </a:r>
            <a:r>
              <a:rPr sz="2400" spc="-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1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2003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64-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bit</a:t>
            </a:r>
            <a:r>
              <a:rPr sz="2400" spc="-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extension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was </a:t>
            </a:r>
            <a:r>
              <a:rPr sz="2400" spc="45" dirty="0">
                <a:solidFill>
                  <a:srgbClr val="386E52"/>
                </a:solidFill>
                <a:latin typeface="Leelawadee UI"/>
                <a:cs typeface="Leelawadee UI"/>
              </a:rPr>
              <a:t>released</a:t>
            </a:r>
            <a:r>
              <a:rPr sz="24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for</a:t>
            </a:r>
            <a:r>
              <a:rPr sz="2400" spc="-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x86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architecture.</a:t>
            </a:r>
            <a:endParaRPr sz="2400" dirty="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2885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Virtualization</a:t>
            </a:r>
            <a:r>
              <a:rPr sz="2400" spc="-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technology</a:t>
            </a:r>
            <a:r>
              <a:rPr sz="24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10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compatible</a:t>
            </a:r>
            <a:r>
              <a:rPr sz="24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with</a:t>
            </a:r>
            <a:r>
              <a:rPr sz="24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64-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bit</a:t>
            </a:r>
            <a:r>
              <a:rPr sz="2400" spc="-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but</a:t>
            </a:r>
            <a:r>
              <a:rPr sz="2400" spc="-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not</a:t>
            </a:r>
            <a:r>
              <a:rPr sz="2400" spc="-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32-bit.</a:t>
            </a:r>
            <a:endParaRPr sz="2400" dirty="0">
              <a:latin typeface="Leelawadee UI"/>
              <a:cs typeface="Leelawade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0860" y="611885"/>
            <a:ext cx="2239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0" dirty="0">
                <a:solidFill>
                  <a:srgbClr val="386E52"/>
                </a:solidFill>
              </a:rPr>
              <a:t>NETWORKS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42873" y="1548129"/>
            <a:ext cx="9287510" cy="157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Transfer</a:t>
            </a:r>
            <a:r>
              <a:rPr sz="24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1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across</a:t>
            </a:r>
            <a:r>
              <a:rPr sz="2400" spc="2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center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80" dirty="0">
                <a:solidFill>
                  <a:srgbClr val="386E52"/>
                </a:solidFill>
                <a:latin typeface="Leelawadee UI"/>
                <a:cs typeface="Leelawadee UI"/>
              </a:rPr>
              <a:t>so</a:t>
            </a:r>
            <a:r>
              <a:rPr sz="24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devices</a:t>
            </a:r>
            <a:r>
              <a:rPr sz="2400" spc="2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can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communicate</a:t>
            </a:r>
            <a:endParaRPr sz="2400">
              <a:latin typeface="Leelawadee UI"/>
              <a:cs typeface="Leelawadee UI"/>
            </a:endParaRPr>
          </a:p>
          <a:p>
            <a:pPr marL="393700" indent="-381000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What</a:t>
            </a:r>
            <a:r>
              <a:rPr sz="2400" spc="-1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type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hardware</a:t>
            </a:r>
            <a:r>
              <a:rPr sz="24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used</a:t>
            </a:r>
            <a:r>
              <a:rPr sz="2400" spc="-1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for</a:t>
            </a:r>
            <a:r>
              <a:rPr sz="24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networking?</a:t>
            </a:r>
            <a:endParaRPr sz="2400">
              <a:latin typeface="Leelawadee UI"/>
              <a:cs typeface="Leelawadee UI"/>
            </a:endParaRPr>
          </a:p>
          <a:p>
            <a:pPr marL="1069975" lvl="1" indent="-380365">
              <a:lnSpc>
                <a:spcPct val="100000"/>
              </a:lnSpc>
              <a:spcBef>
                <a:spcPts val="1030"/>
              </a:spcBef>
              <a:buFont typeface="Microsoft Sans Serif"/>
              <a:buChar char="•"/>
              <a:tabLst>
                <a:tab pos="1069975" algn="l"/>
              </a:tabLst>
            </a:pPr>
            <a:r>
              <a:rPr sz="2100" spc="-165" dirty="0">
                <a:solidFill>
                  <a:srgbClr val="2C4177"/>
                </a:solidFill>
                <a:latin typeface="Arial MT"/>
                <a:cs typeface="Arial MT"/>
              </a:rPr>
              <a:t>Switches,</a:t>
            </a:r>
            <a:r>
              <a:rPr sz="2100" spc="1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100" spc="-70" dirty="0">
                <a:solidFill>
                  <a:srgbClr val="2C4177"/>
                </a:solidFill>
                <a:latin typeface="Arial MT"/>
                <a:cs typeface="Arial MT"/>
              </a:rPr>
              <a:t>Network</a:t>
            </a:r>
            <a:r>
              <a:rPr sz="210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100" spc="-75" dirty="0">
                <a:solidFill>
                  <a:srgbClr val="2C4177"/>
                </a:solidFill>
                <a:latin typeface="Arial MT"/>
                <a:cs typeface="Arial MT"/>
              </a:rPr>
              <a:t>Interface</a:t>
            </a:r>
            <a:r>
              <a:rPr sz="2100" spc="2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2C4177"/>
                </a:solidFill>
                <a:latin typeface="Arial MT"/>
                <a:cs typeface="Arial MT"/>
              </a:rPr>
              <a:t>Card</a:t>
            </a:r>
            <a:r>
              <a:rPr sz="2100" spc="-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100" spc="-140" dirty="0">
                <a:solidFill>
                  <a:srgbClr val="2C4177"/>
                </a:solidFill>
                <a:latin typeface="Arial MT"/>
                <a:cs typeface="Arial MT"/>
              </a:rPr>
              <a:t>(NIC),</a:t>
            </a:r>
            <a:r>
              <a:rPr sz="2100" spc="-15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100" spc="-185" dirty="0">
                <a:solidFill>
                  <a:srgbClr val="2C4177"/>
                </a:solidFill>
                <a:latin typeface="Arial MT"/>
                <a:cs typeface="Arial MT"/>
              </a:rPr>
              <a:t>Router,</a:t>
            </a:r>
            <a:r>
              <a:rPr sz="2100" spc="-1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100" spc="-145" dirty="0">
                <a:solidFill>
                  <a:srgbClr val="2C4177"/>
                </a:solidFill>
                <a:latin typeface="Arial MT"/>
                <a:cs typeface="Arial MT"/>
              </a:rPr>
              <a:t>Ethernet</a:t>
            </a:r>
            <a:r>
              <a:rPr sz="2100" dirty="0">
                <a:solidFill>
                  <a:srgbClr val="2C4177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2C4177"/>
                </a:solidFill>
                <a:latin typeface="Arial MT"/>
                <a:cs typeface="Arial MT"/>
              </a:rPr>
              <a:t>Cable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3307" y="3171444"/>
            <a:ext cx="8025383" cy="2650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8445" y="587755"/>
            <a:ext cx="1840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0" dirty="0">
                <a:solidFill>
                  <a:srgbClr val="386E52"/>
                </a:solidFill>
              </a:rPr>
              <a:t>STORAGE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31596" y="1646301"/>
            <a:ext cx="6108065" cy="319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63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-1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center</a:t>
            </a:r>
            <a:r>
              <a:rPr sz="24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needs</a:t>
            </a:r>
            <a:r>
              <a:rPr sz="2400" spc="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accommodate</a:t>
            </a:r>
            <a:r>
              <a:rPr sz="24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high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levels</a:t>
            </a:r>
            <a:r>
              <a:rPr sz="2400" spc="1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endParaRPr sz="2400">
              <a:latin typeface="Leelawadee UI"/>
              <a:cs typeface="Leelawadee UI"/>
            </a:endParaRPr>
          </a:p>
          <a:p>
            <a:pPr marL="393700" indent="-381000">
              <a:lnSpc>
                <a:spcPct val="100000"/>
              </a:lnSpc>
              <a:spcBef>
                <a:spcPts val="1595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Compute</a:t>
            </a:r>
            <a:r>
              <a:rPr sz="24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memory</a:t>
            </a:r>
            <a:r>
              <a:rPr sz="24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not</a:t>
            </a:r>
            <a:r>
              <a:rPr sz="2400" spc="-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adequate</a:t>
            </a:r>
            <a:endParaRPr sz="2400">
              <a:latin typeface="Leelawadee UI"/>
              <a:cs typeface="Leelawadee UI"/>
            </a:endParaRPr>
          </a:p>
          <a:p>
            <a:pPr marL="393700" marR="94615" indent="-381635">
              <a:lnSpc>
                <a:spcPct val="100000"/>
              </a:lnSpc>
              <a:spcBef>
                <a:spcPts val="16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centers</a:t>
            </a:r>
            <a:r>
              <a:rPr sz="2400" spc="2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use</a:t>
            </a:r>
            <a:r>
              <a:rPr sz="2400" spc="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devices</a:t>
            </a:r>
            <a:r>
              <a:rPr sz="2400" spc="2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built</a:t>
            </a:r>
            <a:r>
              <a:rPr sz="24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specifically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for</a:t>
            </a:r>
            <a:r>
              <a:rPr sz="2400" spc="-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storing</a:t>
            </a:r>
            <a:r>
              <a:rPr sz="2400" spc="-1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endParaRPr sz="2400">
              <a:latin typeface="Leelawadee UI"/>
              <a:cs typeface="Leelawadee UI"/>
            </a:endParaRPr>
          </a:p>
          <a:p>
            <a:pPr marL="393700" marR="504190" indent="-381635">
              <a:lnSpc>
                <a:spcPct val="100000"/>
              </a:lnSpc>
              <a:spcBef>
                <a:spcPts val="161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center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storage</a:t>
            </a:r>
            <a:r>
              <a:rPr sz="2400" spc="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should</a:t>
            </a:r>
            <a:r>
              <a:rPr sz="2400" spc="-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have</a:t>
            </a:r>
            <a:r>
              <a:rPr sz="24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two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features:</a:t>
            </a:r>
            <a:r>
              <a:rPr sz="2400" spc="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availability</a:t>
            </a:r>
            <a:r>
              <a:rPr sz="2400" b="1" spc="-2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spc="-10" dirty="0">
                <a:solidFill>
                  <a:srgbClr val="386E52"/>
                </a:solidFill>
                <a:latin typeface="Trebuchet MS"/>
                <a:cs typeface="Trebuchet MS"/>
              </a:rPr>
              <a:t>redundancy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0344" y="2898648"/>
            <a:ext cx="6391656" cy="3813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8541" y="384428"/>
            <a:ext cx="3126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90" dirty="0">
                <a:solidFill>
                  <a:srgbClr val="386E52"/>
                </a:solidFill>
              </a:rPr>
              <a:t>STORAGE</a:t>
            </a:r>
            <a:r>
              <a:rPr sz="3600" spc="-5" dirty="0">
                <a:solidFill>
                  <a:srgbClr val="386E52"/>
                </a:solidFill>
              </a:rPr>
              <a:t> </a:t>
            </a:r>
            <a:r>
              <a:rPr sz="3600" dirty="0">
                <a:solidFill>
                  <a:srgbClr val="386E52"/>
                </a:solidFill>
              </a:rPr>
              <a:t>-</a:t>
            </a:r>
            <a:r>
              <a:rPr sz="3600" spc="-10" dirty="0">
                <a:solidFill>
                  <a:srgbClr val="386E52"/>
                </a:solidFill>
              </a:rPr>
              <a:t> </a:t>
            </a:r>
            <a:r>
              <a:rPr sz="3600" spc="-450" dirty="0">
                <a:solidFill>
                  <a:srgbClr val="386E52"/>
                </a:solidFill>
              </a:rPr>
              <a:t>RAID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31900" y="1403731"/>
            <a:ext cx="8093075" cy="4902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35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100" b="1" dirty="0">
                <a:solidFill>
                  <a:srgbClr val="386E52"/>
                </a:solidFill>
                <a:latin typeface="Trebuchet MS"/>
                <a:cs typeface="Trebuchet MS"/>
              </a:rPr>
              <a:t>R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edundant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b="1" spc="50" dirty="0">
                <a:solidFill>
                  <a:srgbClr val="386E52"/>
                </a:solidFill>
                <a:latin typeface="Trebuchet MS"/>
                <a:cs typeface="Trebuchet MS"/>
              </a:rPr>
              <a:t>A</a:t>
            </a:r>
            <a:r>
              <a:rPr sz="2100" spc="50" dirty="0">
                <a:solidFill>
                  <a:srgbClr val="386E52"/>
                </a:solidFill>
                <a:latin typeface="Leelawadee UI"/>
                <a:cs typeface="Leelawadee UI"/>
              </a:rPr>
              <a:t>rray</a:t>
            </a:r>
            <a:r>
              <a:rPr sz="2100" spc="1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1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b="1" dirty="0">
                <a:solidFill>
                  <a:srgbClr val="386E52"/>
                </a:solidFill>
                <a:latin typeface="Trebuchet MS"/>
                <a:cs typeface="Trebuchet MS"/>
              </a:rPr>
              <a:t>I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ndependent</a:t>
            </a:r>
            <a:r>
              <a:rPr sz="21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b="1" spc="45" dirty="0">
                <a:solidFill>
                  <a:srgbClr val="386E52"/>
                </a:solidFill>
                <a:latin typeface="Trebuchet MS"/>
                <a:cs typeface="Trebuchet MS"/>
              </a:rPr>
              <a:t>D</a:t>
            </a:r>
            <a:r>
              <a:rPr sz="2100" spc="45" dirty="0">
                <a:solidFill>
                  <a:srgbClr val="386E52"/>
                </a:solidFill>
                <a:latin typeface="Leelawadee UI"/>
                <a:cs typeface="Leelawadee UI"/>
              </a:rPr>
              <a:t>isks</a:t>
            </a:r>
            <a:endParaRPr sz="210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2595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Hard</a:t>
            </a:r>
            <a:r>
              <a:rPr sz="21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drives</a:t>
            </a:r>
            <a:r>
              <a:rPr sz="2100" spc="2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linked</a:t>
            </a:r>
            <a:r>
              <a:rPr sz="21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0" dirty="0">
                <a:solidFill>
                  <a:srgbClr val="386E52"/>
                </a:solidFill>
                <a:latin typeface="Leelawadee UI"/>
                <a:cs typeface="Leelawadee UI"/>
              </a:rPr>
              <a:t>together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1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create</a:t>
            </a:r>
            <a:r>
              <a:rPr sz="21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100" spc="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large</a:t>
            </a:r>
            <a:r>
              <a:rPr sz="21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volume</a:t>
            </a:r>
            <a:r>
              <a:rPr sz="21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endParaRPr sz="2100">
              <a:latin typeface="Leelawadee UI"/>
              <a:cs typeface="Leelawadee UI"/>
            </a:endParaRPr>
          </a:p>
          <a:p>
            <a:pPr marL="393700">
              <a:lnSpc>
                <a:spcPct val="100000"/>
              </a:lnSpc>
              <a:spcBef>
                <a:spcPts val="45"/>
              </a:spcBef>
            </a:pPr>
            <a:r>
              <a:rPr sz="2100" b="1" dirty="0">
                <a:solidFill>
                  <a:srgbClr val="386E52"/>
                </a:solidFill>
                <a:latin typeface="Trebuchet MS"/>
                <a:cs typeface="Trebuchet MS"/>
              </a:rPr>
              <a:t>redundant</a:t>
            </a:r>
            <a:r>
              <a:rPr sz="2100" b="1" spc="14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storage</a:t>
            </a:r>
            <a:endParaRPr sz="210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2595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What</a:t>
            </a:r>
            <a:r>
              <a:rPr sz="21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1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three</a:t>
            </a:r>
            <a:r>
              <a:rPr sz="2100" spc="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methods</a:t>
            </a:r>
            <a:r>
              <a:rPr sz="2100" spc="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1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30" dirty="0">
                <a:solidFill>
                  <a:srgbClr val="386E52"/>
                </a:solidFill>
                <a:latin typeface="Leelawadee UI"/>
                <a:cs typeface="Leelawadee UI"/>
              </a:rPr>
              <a:t>writing</a:t>
            </a:r>
            <a:r>
              <a:rPr sz="2100" spc="-1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1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RAID?</a:t>
            </a:r>
            <a:endParaRPr sz="2100">
              <a:latin typeface="Leelawadee UI"/>
              <a:cs typeface="Leelawadee UI"/>
            </a:endParaRPr>
          </a:p>
          <a:p>
            <a:pPr marL="651510" lvl="1" indent="-182245">
              <a:lnSpc>
                <a:spcPct val="100000"/>
              </a:lnSpc>
              <a:spcBef>
                <a:spcPts val="50"/>
              </a:spcBef>
              <a:buChar char="-"/>
              <a:tabLst>
                <a:tab pos="651510" algn="l"/>
              </a:tabLst>
            </a:pP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Mirroring</a:t>
            </a:r>
            <a:endParaRPr sz="2100">
              <a:latin typeface="Leelawadee UI"/>
              <a:cs typeface="Leelawadee UI"/>
            </a:endParaRPr>
          </a:p>
          <a:p>
            <a:pPr marL="652780" lvl="1" indent="-183515">
              <a:lnSpc>
                <a:spcPct val="100000"/>
              </a:lnSpc>
              <a:spcBef>
                <a:spcPts val="35"/>
              </a:spcBef>
              <a:buChar char="-"/>
              <a:tabLst>
                <a:tab pos="652780" algn="l"/>
              </a:tabLst>
            </a:pP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Striping</a:t>
            </a:r>
            <a:endParaRPr sz="2100">
              <a:latin typeface="Leelawadee UI"/>
              <a:cs typeface="Leelawadee UI"/>
            </a:endParaRPr>
          </a:p>
          <a:p>
            <a:pPr marL="651510" lvl="1" indent="-182245">
              <a:lnSpc>
                <a:spcPct val="100000"/>
              </a:lnSpc>
              <a:spcBef>
                <a:spcPts val="35"/>
              </a:spcBef>
              <a:buChar char="-"/>
              <a:tabLst>
                <a:tab pos="651510" algn="l"/>
              </a:tabLst>
            </a:pP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Parity</a:t>
            </a:r>
            <a:endParaRPr sz="210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2605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What</a:t>
            </a:r>
            <a:r>
              <a:rPr sz="21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do</a:t>
            </a:r>
            <a:r>
              <a:rPr sz="21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RAID</a:t>
            </a:r>
            <a:r>
              <a:rPr sz="21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numbers</a:t>
            </a:r>
            <a:r>
              <a:rPr sz="2100" spc="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mean</a:t>
            </a:r>
            <a:r>
              <a:rPr sz="21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(i.e.,</a:t>
            </a:r>
            <a:r>
              <a:rPr sz="2100" spc="1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0,</a:t>
            </a:r>
            <a:r>
              <a:rPr sz="2100" spc="1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1,</a:t>
            </a:r>
            <a:r>
              <a:rPr sz="2100" spc="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5)?</a:t>
            </a:r>
            <a:endParaRPr sz="2100">
              <a:latin typeface="Leelawadee UI"/>
              <a:cs typeface="Leelawadee UI"/>
            </a:endParaRPr>
          </a:p>
          <a:p>
            <a:pPr marL="393700" marR="5080" indent="-381000">
              <a:lnSpc>
                <a:spcPct val="101699"/>
              </a:lnSpc>
              <a:spcBef>
                <a:spcPts val="255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Levels</a:t>
            </a:r>
            <a:r>
              <a:rPr sz="2100" spc="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RAID</a:t>
            </a:r>
            <a:r>
              <a:rPr sz="2100" spc="1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100" spc="1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used</a:t>
            </a:r>
            <a:r>
              <a:rPr sz="21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1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identify</a:t>
            </a:r>
            <a:r>
              <a:rPr sz="21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types</a:t>
            </a:r>
            <a:r>
              <a:rPr sz="2100" spc="1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RAID</a:t>
            </a:r>
            <a:r>
              <a:rPr sz="2100" spc="1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1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0" dirty="0">
                <a:solidFill>
                  <a:srgbClr val="386E52"/>
                </a:solidFill>
                <a:latin typeface="Leelawadee UI"/>
                <a:cs typeface="Leelawadee UI"/>
              </a:rPr>
              <a:t>what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storage</a:t>
            </a:r>
            <a:r>
              <a:rPr sz="2100" spc="10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availability</a:t>
            </a:r>
            <a:r>
              <a:rPr sz="21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and redundancy</a:t>
            </a:r>
            <a:r>
              <a:rPr sz="21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they</a:t>
            </a:r>
            <a:r>
              <a:rPr sz="2100" spc="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offer</a:t>
            </a:r>
            <a:r>
              <a:rPr sz="2100" spc="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(i.e.,</a:t>
            </a:r>
            <a:r>
              <a:rPr sz="2100" spc="1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1</a:t>
            </a:r>
            <a:r>
              <a:rPr sz="21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=</a:t>
            </a:r>
            <a:r>
              <a:rPr sz="2100" spc="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mirroring,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5</a:t>
            </a:r>
            <a:r>
              <a:rPr sz="21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=</a:t>
            </a:r>
            <a:r>
              <a:rPr sz="2100" spc="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parity)</a:t>
            </a:r>
            <a:endParaRPr sz="21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9316" y="2549651"/>
            <a:ext cx="5472683" cy="25618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00" rIns="0" bIns="0" rtlCol="0">
            <a:spAutoFit/>
          </a:bodyPr>
          <a:lstStyle/>
          <a:p>
            <a:pPr marL="822325">
              <a:lnSpc>
                <a:spcPct val="100000"/>
              </a:lnSpc>
              <a:spcBef>
                <a:spcPts val="100"/>
              </a:spcBef>
            </a:pPr>
            <a:r>
              <a:rPr sz="4800" spc="-650" dirty="0">
                <a:solidFill>
                  <a:srgbClr val="386E52"/>
                </a:solidFill>
              </a:rPr>
              <a:t>STORAGE</a:t>
            </a:r>
            <a:r>
              <a:rPr sz="4800" spc="-5" dirty="0">
                <a:solidFill>
                  <a:srgbClr val="386E52"/>
                </a:solidFill>
              </a:rPr>
              <a:t> </a:t>
            </a:r>
            <a:r>
              <a:rPr sz="4800" dirty="0">
                <a:solidFill>
                  <a:srgbClr val="386E52"/>
                </a:solidFill>
              </a:rPr>
              <a:t>-</a:t>
            </a:r>
            <a:r>
              <a:rPr sz="4800" spc="5" dirty="0">
                <a:solidFill>
                  <a:srgbClr val="386E52"/>
                </a:solidFill>
              </a:rPr>
              <a:t> </a:t>
            </a:r>
            <a:r>
              <a:rPr sz="4800" spc="-590" dirty="0">
                <a:solidFill>
                  <a:srgbClr val="386E52"/>
                </a:solidFill>
              </a:rPr>
              <a:t>BLOCK</a:t>
            </a:r>
            <a:r>
              <a:rPr sz="4800" spc="-5" dirty="0">
                <a:solidFill>
                  <a:srgbClr val="386E52"/>
                </a:solidFill>
              </a:rPr>
              <a:t> </a:t>
            </a:r>
            <a:r>
              <a:rPr sz="4800" spc="-520" dirty="0">
                <a:solidFill>
                  <a:srgbClr val="386E52"/>
                </a:solidFill>
              </a:rPr>
              <a:t>VS.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635" dirty="0">
                <a:solidFill>
                  <a:srgbClr val="386E52"/>
                </a:solidFill>
              </a:rPr>
              <a:t>FILE-</a:t>
            </a:r>
            <a:r>
              <a:rPr sz="4800" spc="-850" dirty="0">
                <a:solidFill>
                  <a:srgbClr val="386E52"/>
                </a:solidFill>
              </a:rPr>
              <a:t>LEVEL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78739" y="2282190"/>
            <a:ext cx="119665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Block-</a:t>
            </a:r>
            <a:r>
              <a:rPr sz="2400" b="1" spc="-10" dirty="0">
                <a:solidFill>
                  <a:srgbClr val="386E52"/>
                </a:solidFill>
                <a:latin typeface="Trebuchet MS"/>
                <a:cs typeface="Trebuchet MS"/>
              </a:rPr>
              <a:t>Level</a:t>
            </a:r>
            <a:r>
              <a:rPr sz="2400" b="1" spc="-9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Storage</a:t>
            </a:r>
            <a:r>
              <a:rPr sz="2400" b="1" spc="-3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–</a:t>
            </a:r>
            <a:r>
              <a:rPr sz="2400" spc="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1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written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to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90" dirty="0">
                <a:solidFill>
                  <a:srgbClr val="386E52"/>
                </a:solidFill>
                <a:latin typeface="Leelawadee UI"/>
                <a:cs typeface="Leelawadee UI"/>
              </a:rPr>
              <a:t>accessed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from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storage</a:t>
            </a:r>
            <a:r>
              <a:rPr sz="24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volumes</a:t>
            </a:r>
            <a:r>
              <a:rPr sz="2400" spc="2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(blocks)</a:t>
            </a:r>
            <a:endParaRPr sz="240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b="1" spc="-55" dirty="0">
                <a:solidFill>
                  <a:srgbClr val="386E52"/>
                </a:solidFill>
                <a:latin typeface="Trebuchet MS"/>
                <a:cs typeface="Trebuchet MS"/>
              </a:rPr>
              <a:t>File-</a:t>
            </a:r>
            <a:r>
              <a:rPr sz="2400" b="1" spc="-25" dirty="0">
                <a:solidFill>
                  <a:srgbClr val="386E52"/>
                </a:solidFill>
                <a:latin typeface="Trebuchet MS"/>
                <a:cs typeface="Trebuchet MS"/>
              </a:rPr>
              <a:t>Level</a:t>
            </a:r>
            <a:r>
              <a:rPr sz="2400" b="1" spc="-16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Storage</a:t>
            </a:r>
            <a:r>
              <a:rPr sz="2400" b="1" spc="-7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–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written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8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disks</a:t>
            </a:r>
            <a:r>
              <a:rPr sz="2400" spc="1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but</a:t>
            </a:r>
            <a:r>
              <a:rPr sz="2400" spc="-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90" dirty="0">
                <a:solidFill>
                  <a:srgbClr val="386E52"/>
                </a:solidFill>
                <a:latin typeface="Leelawadee UI"/>
                <a:cs typeface="Leelawadee UI"/>
              </a:rPr>
              <a:t>accessed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from</a:t>
            </a:r>
            <a:r>
              <a:rPr sz="24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default</a:t>
            </a:r>
            <a:r>
              <a:rPr sz="2400" spc="-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file</a:t>
            </a:r>
            <a:r>
              <a:rPr sz="2400" spc="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system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8196" y="3096767"/>
            <a:ext cx="8662416" cy="3761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3660" y="384175"/>
            <a:ext cx="9018270" cy="594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spc="-475" dirty="0">
                <a:solidFill>
                  <a:srgbClr val="386E52"/>
                </a:solidFill>
              </a:rPr>
              <a:t>STORAGE</a:t>
            </a:r>
            <a:r>
              <a:rPr sz="3700" spc="-35" dirty="0">
                <a:solidFill>
                  <a:srgbClr val="386E52"/>
                </a:solidFill>
              </a:rPr>
              <a:t> </a:t>
            </a:r>
            <a:r>
              <a:rPr sz="3700" dirty="0">
                <a:solidFill>
                  <a:srgbClr val="386E52"/>
                </a:solidFill>
              </a:rPr>
              <a:t>–</a:t>
            </a:r>
            <a:r>
              <a:rPr sz="3700" spc="-155" dirty="0">
                <a:solidFill>
                  <a:srgbClr val="386E52"/>
                </a:solidFill>
              </a:rPr>
              <a:t> </a:t>
            </a:r>
            <a:r>
              <a:rPr sz="3700" spc="-630" dirty="0">
                <a:solidFill>
                  <a:srgbClr val="386E52"/>
                </a:solidFill>
              </a:rPr>
              <a:t>TYPES</a:t>
            </a:r>
            <a:r>
              <a:rPr sz="3700" spc="-10" dirty="0">
                <a:solidFill>
                  <a:srgbClr val="386E52"/>
                </a:solidFill>
              </a:rPr>
              <a:t> </a:t>
            </a:r>
            <a:r>
              <a:rPr sz="3700" spc="-335" dirty="0">
                <a:solidFill>
                  <a:srgbClr val="386E52"/>
                </a:solidFill>
              </a:rPr>
              <a:t>OF</a:t>
            </a:r>
            <a:r>
              <a:rPr sz="3700" dirty="0">
                <a:solidFill>
                  <a:srgbClr val="386E52"/>
                </a:solidFill>
              </a:rPr>
              <a:t> </a:t>
            </a:r>
            <a:r>
              <a:rPr sz="3700" spc="-459" dirty="0">
                <a:solidFill>
                  <a:srgbClr val="386E52"/>
                </a:solidFill>
              </a:rPr>
              <a:t>DATA</a:t>
            </a:r>
            <a:r>
              <a:rPr sz="3700" spc="-35" dirty="0">
                <a:solidFill>
                  <a:srgbClr val="386E52"/>
                </a:solidFill>
              </a:rPr>
              <a:t> </a:t>
            </a:r>
            <a:r>
              <a:rPr sz="3700" spc="-645" dirty="0">
                <a:solidFill>
                  <a:srgbClr val="386E52"/>
                </a:solidFill>
              </a:rPr>
              <a:t>CENTER</a:t>
            </a:r>
            <a:r>
              <a:rPr sz="3700" dirty="0">
                <a:solidFill>
                  <a:srgbClr val="386E52"/>
                </a:solidFill>
              </a:rPr>
              <a:t> </a:t>
            </a:r>
            <a:r>
              <a:rPr sz="3700" spc="-484" dirty="0">
                <a:solidFill>
                  <a:srgbClr val="386E52"/>
                </a:solidFill>
              </a:rPr>
              <a:t>STORAGE</a:t>
            </a:r>
            <a:endParaRPr sz="37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617220" indent="-381000">
              <a:lnSpc>
                <a:spcPct val="1014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b="1" spc="160" dirty="0">
                <a:latin typeface="Trebuchet MS"/>
                <a:cs typeface="Trebuchet MS"/>
              </a:rPr>
              <a:t>DAS</a:t>
            </a:r>
            <a:r>
              <a:rPr b="1" spc="5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(Direct</a:t>
            </a:r>
            <a:r>
              <a:rPr b="1" spc="-6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Attached</a:t>
            </a:r>
            <a:r>
              <a:rPr b="1" spc="5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Storage)</a:t>
            </a:r>
            <a:r>
              <a:rPr b="1" spc="55" dirty="0">
                <a:latin typeface="Trebuchet MS"/>
                <a:cs typeface="Trebuchet MS"/>
              </a:rPr>
              <a:t> </a:t>
            </a:r>
            <a:r>
              <a:rPr dirty="0"/>
              <a:t>–</a:t>
            </a:r>
            <a:r>
              <a:rPr spc="90" dirty="0"/>
              <a:t> </a:t>
            </a:r>
            <a:r>
              <a:rPr dirty="0"/>
              <a:t>Storage</a:t>
            </a:r>
            <a:r>
              <a:rPr spc="90" dirty="0"/>
              <a:t> </a:t>
            </a:r>
            <a:r>
              <a:rPr dirty="0"/>
              <a:t>device</a:t>
            </a:r>
            <a:r>
              <a:rPr spc="165" dirty="0"/>
              <a:t> </a:t>
            </a:r>
            <a:r>
              <a:rPr dirty="0"/>
              <a:t>is</a:t>
            </a:r>
            <a:r>
              <a:rPr spc="145" dirty="0"/>
              <a:t> </a:t>
            </a:r>
            <a:r>
              <a:rPr dirty="0"/>
              <a:t>directly</a:t>
            </a:r>
            <a:r>
              <a:rPr spc="90" dirty="0"/>
              <a:t> </a:t>
            </a:r>
            <a:r>
              <a:rPr dirty="0"/>
              <a:t>attached</a:t>
            </a:r>
            <a:r>
              <a:rPr spc="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a</a:t>
            </a:r>
            <a:r>
              <a:rPr spc="185" dirty="0"/>
              <a:t> </a:t>
            </a:r>
            <a:r>
              <a:rPr spc="-10" dirty="0"/>
              <a:t>server </a:t>
            </a:r>
            <a:r>
              <a:rPr spc="-20" dirty="0"/>
              <a:t>(block-</a:t>
            </a:r>
            <a:r>
              <a:rPr spc="-10" dirty="0"/>
              <a:t>level)</a:t>
            </a:r>
          </a:p>
          <a:p>
            <a:pPr marL="393700" marR="5080" indent="-381000">
              <a:lnSpc>
                <a:spcPct val="101400"/>
              </a:lnSpc>
              <a:spcBef>
                <a:spcPts val="257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b="1" spc="190" dirty="0">
                <a:latin typeface="Trebuchet MS"/>
                <a:cs typeface="Trebuchet MS"/>
              </a:rPr>
              <a:t>NAS</a:t>
            </a:r>
            <a:r>
              <a:rPr b="1" spc="7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(Network</a:t>
            </a:r>
            <a:r>
              <a:rPr b="1" spc="-114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Attached</a:t>
            </a:r>
            <a:r>
              <a:rPr b="1" spc="7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Storage)</a:t>
            </a:r>
            <a:r>
              <a:rPr b="1" spc="60" dirty="0">
                <a:latin typeface="Trebuchet MS"/>
                <a:cs typeface="Trebuchet MS"/>
              </a:rPr>
              <a:t> </a:t>
            </a:r>
            <a:r>
              <a:rPr dirty="0"/>
              <a:t>–</a:t>
            </a:r>
            <a:r>
              <a:rPr spc="90" dirty="0"/>
              <a:t> </a:t>
            </a:r>
            <a:r>
              <a:rPr dirty="0"/>
              <a:t>Storage</a:t>
            </a:r>
            <a:r>
              <a:rPr spc="95" dirty="0"/>
              <a:t> </a:t>
            </a:r>
            <a:r>
              <a:rPr dirty="0"/>
              <a:t>device</a:t>
            </a:r>
            <a:r>
              <a:rPr spc="165" dirty="0"/>
              <a:t> </a:t>
            </a:r>
            <a:r>
              <a:rPr dirty="0"/>
              <a:t>is</a:t>
            </a:r>
            <a:r>
              <a:rPr spc="240" dirty="0"/>
              <a:t> </a:t>
            </a:r>
            <a:r>
              <a:rPr dirty="0"/>
              <a:t>attached</a:t>
            </a:r>
            <a:r>
              <a:rPr spc="3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a</a:t>
            </a:r>
            <a:r>
              <a:rPr spc="180" dirty="0"/>
              <a:t> </a:t>
            </a:r>
            <a:r>
              <a:rPr dirty="0"/>
              <a:t>network,</a:t>
            </a:r>
            <a:r>
              <a:rPr spc="204" dirty="0"/>
              <a:t> </a:t>
            </a:r>
            <a:r>
              <a:rPr spc="35" dirty="0"/>
              <a:t>servers </a:t>
            </a:r>
            <a:r>
              <a:rPr dirty="0"/>
              <a:t>on</a:t>
            </a:r>
            <a:r>
              <a:rPr spc="-50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network</a:t>
            </a:r>
            <a:r>
              <a:rPr spc="15" dirty="0"/>
              <a:t> </a:t>
            </a:r>
            <a:r>
              <a:rPr dirty="0"/>
              <a:t>can</a:t>
            </a:r>
            <a:r>
              <a:rPr spc="85" dirty="0"/>
              <a:t> </a:t>
            </a:r>
            <a:r>
              <a:rPr spc="80" dirty="0"/>
              <a:t>access</a:t>
            </a:r>
            <a:r>
              <a:rPr spc="185" dirty="0"/>
              <a:t> </a:t>
            </a:r>
            <a:r>
              <a:rPr dirty="0"/>
              <a:t>device</a:t>
            </a:r>
            <a:r>
              <a:rPr spc="155" dirty="0"/>
              <a:t> </a:t>
            </a:r>
            <a:r>
              <a:rPr spc="-20" dirty="0"/>
              <a:t>(file-</a:t>
            </a:r>
            <a:r>
              <a:rPr spc="-10" dirty="0"/>
              <a:t>level)</a:t>
            </a:r>
          </a:p>
          <a:p>
            <a:pPr marL="393065" indent="-380365">
              <a:lnSpc>
                <a:spcPct val="100000"/>
              </a:lnSpc>
              <a:spcBef>
                <a:spcPts val="2605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b="1" spc="185" dirty="0">
                <a:latin typeface="Trebuchet MS"/>
                <a:cs typeface="Trebuchet MS"/>
              </a:rPr>
              <a:t>SAN</a:t>
            </a:r>
            <a:r>
              <a:rPr b="1" spc="8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(Storage</a:t>
            </a:r>
            <a:r>
              <a:rPr b="1" spc="-5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Area</a:t>
            </a:r>
            <a:r>
              <a:rPr b="1" spc="12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Network)</a:t>
            </a:r>
            <a:r>
              <a:rPr b="1" spc="-5" dirty="0">
                <a:latin typeface="Trebuchet MS"/>
                <a:cs typeface="Trebuchet MS"/>
              </a:rPr>
              <a:t> </a:t>
            </a:r>
            <a:r>
              <a:rPr dirty="0"/>
              <a:t>–</a:t>
            </a:r>
            <a:r>
              <a:rPr spc="105" dirty="0"/>
              <a:t> </a:t>
            </a:r>
            <a:r>
              <a:rPr dirty="0"/>
              <a:t>Clustered</a:t>
            </a:r>
            <a:r>
              <a:rPr spc="95" dirty="0"/>
              <a:t> </a:t>
            </a:r>
            <a:r>
              <a:rPr dirty="0"/>
              <a:t>storage</a:t>
            </a:r>
            <a:r>
              <a:rPr spc="110" dirty="0"/>
              <a:t> </a:t>
            </a:r>
            <a:r>
              <a:rPr dirty="0"/>
              <a:t>devices</a:t>
            </a:r>
            <a:r>
              <a:rPr spc="290" dirty="0"/>
              <a:t> </a:t>
            </a:r>
            <a:r>
              <a:rPr dirty="0"/>
              <a:t>on</a:t>
            </a:r>
            <a:r>
              <a:rPr spc="30" dirty="0"/>
              <a:t> </a:t>
            </a:r>
            <a:r>
              <a:rPr dirty="0"/>
              <a:t>their</a:t>
            </a:r>
            <a:r>
              <a:rPr spc="35" dirty="0"/>
              <a:t> </a:t>
            </a:r>
            <a:r>
              <a:rPr dirty="0"/>
              <a:t>own</a:t>
            </a:r>
            <a:r>
              <a:rPr spc="35" dirty="0"/>
              <a:t> </a:t>
            </a:r>
            <a:r>
              <a:rPr dirty="0"/>
              <a:t>network</a:t>
            </a:r>
            <a:r>
              <a:rPr spc="20" dirty="0"/>
              <a:t> </a:t>
            </a:r>
            <a:r>
              <a:rPr spc="-20" dirty="0"/>
              <a:t>that</a:t>
            </a:r>
          </a:p>
          <a:p>
            <a:pPr marL="393700">
              <a:lnSpc>
                <a:spcPct val="100000"/>
              </a:lnSpc>
              <a:spcBef>
                <a:spcPts val="35"/>
              </a:spcBef>
            </a:pPr>
            <a:r>
              <a:rPr spc="45" dirty="0"/>
              <a:t>servers</a:t>
            </a:r>
            <a:r>
              <a:rPr spc="254" dirty="0"/>
              <a:t> </a:t>
            </a:r>
            <a:r>
              <a:rPr dirty="0"/>
              <a:t>can</a:t>
            </a:r>
            <a:r>
              <a:rPr spc="114" dirty="0"/>
              <a:t> </a:t>
            </a:r>
            <a:r>
              <a:rPr dirty="0"/>
              <a:t>connect</a:t>
            </a:r>
            <a:r>
              <a:rPr spc="-2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10" dirty="0"/>
              <a:t>(block-level)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7523" y="3944111"/>
            <a:ext cx="7399020" cy="2470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90" dirty="0">
                <a:solidFill>
                  <a:srgbClr val="FF0000"/>
                </a:solidFill>
              </a:rPr>
              <a:t>STORAGE</a:t>
            </a:r>
            <a:r>
              <a:rPr sz="3600" spc="5" dirty="0">
                <a:solidFill>
                  <a:srgbClr val="FF0000"/>
                </a:solidFill>
              </a:rPr>
              <a:t> </a:t>
            </a:r>
            <a:r>
              <a:rPr sz="3600" spc="-655" dirty="0">
                <a:solidFill>
                  <a:srgbClr val="FF0000"/>
                </a:solidFill>
              </a:rPr>
              <a:t>TYPE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12621" y="1284808"/>
            <a:ext cx="47536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85" dirty="0">
                <a:solidFill>
                  <a:srgbClr val="386E52"/>
                </a:solidFill>
                <a:latin typeface="Trebuchet MS"/>
                <a:cs typeface="Trebuchet MS"/>
              </a:rPr>
              <a:t>NAS</a:t>
            </a:r>
            <a:r>
              <a:rPr sz="2400" b="1" spc="6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(Network</a:t>
            </a:r>
            <a:r>
              <a:rPr sz="2400" b="1" spc="-13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Attached</a:t>
            </a:r>
            <a:r>
              <a:rPr sz="2400" b="1" spc="3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386E52"/>
                </a:solidFill>
                <a:latin typeface="Trebuchet MS"/>
                <a:cs typeface="Trebuchet MS"/>
              </a:rPr>
              <a:t>Storage)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15439" y="2013202"/>
            <a:ext cx="9410700" cy="4719955"/>
            <a:chOff x="1615439" y="2013202"/>
            <a:chExt cx="9410700" cy="47199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5439" y="2013202"/>
              <a:ext cx="7080504" cy="47198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82456" y="2994659"/>
              <a:ext cx="2043683" cy="362102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9864" y="278891"/>
            <a:ext cx="7990332" cy="62864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6360" y="286511"/>
            <a:ext cx="9710928" cy="6347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9794" y="729488"/>
            <a:ext cx="4890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90" dirty="0">
                <a:solidFill>
                  <a:srgbClr val="386E52"/>
                </a:solidFill>
              </a:rPr>
              <a:t>STORAGE</a:t>
            </a:r>
            <a:r>
              <a:rPr sz="3600" spc="15" dirty="0">
                <a:solidFill>
                  <a:srgbClr val="386E52"/>
                </a:solidFill>
              </a:rPr>
              <a:t> </a:t>
            </a:r>
            <a:r>
              <a:rPr sz="3600" spc="-305" dirty="0">
                <a:solidFill>
                  <a:srgbClr val="386E52"/>
                </a:solidFill>
              </a:rPr>
              <a:t>PROVISIONING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42873" y="1624329"/>
            <a:ext cx="10607040" cy="158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63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Thick</a:t>
            </a:r>
            <a:r>
              <a:rPr sz="2400" b="1" spc="7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provisioning:</a:t>
            </a:r>
            <a:r>
              <a:rPr sz="2400" b="1" spc="13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Disk</a:t>
            </a:r>
            <a:r>
              <a:rPr sz="24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space</a:t>
            </a:r>
            <a:r>
              <a:rPr sz="2400" spc="1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2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strategically</a:t>
            </a:r>
            <a:r>
              <a:rPr sz="2400" spc="2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u="heavy" spc="-25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pre-</a:t>
            </a:r>
            <a:r>
              <a:rPr sz="2400" u="heavy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allocated</a:t>
            </a:r>
            <a:r>
              <a:rPr sz="24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1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server,</a:t>
            </a:r>
            <a:r>
              <a:rPr sz="2400" spc="229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or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VM.</a:t>
            </a:r>
            <a:endParaRPr sz="2400">
              <a:latin typeface="Leelawadee UI"/>
              <a:cs typeface="Leelawadee UI"/>
            </a:endParaRPr>
          </a:p>
          <a:p>
            <a:pPr marL="393700" marR="455295" indent="-381635">
              <a:lnSpc>
                <a:spcPct val="100000"/>
              </a:lnSpc>
              <a:spcBef>
                <a:spcPts val="795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This</a:t>
            </a:r>
            <a:r>
              <a:rPr sz="2400" spc="2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means</a:t>
            </a:r>
            <a:r>
              <a:rPr sz="2400" spc="1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400" spc="-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u="heavy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logical</a:t>
            </a:r>
            <a:r>
              <a:rPr sz="2400" u="heavy" spc="-40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 </a:t>
            </a:r>
            <a:r>
              <a:rPr sz="2400" u="heavy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space</a:t>
            </a:r>
            <a:r>
              <a:rPr sz="2400" spc="10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provided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by</a:t>
            </a:r>
            <a:r>
              <a:rPr sz="24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partitioning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2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u="heavy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equal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the amount</a:t>
            </a:r>
            <a:r>
              <a:rPr sz="24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actual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u="heavy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physical</a:t>
            </a:r>
            <a:r>
              <a:rPr sz="2400" u="heavy" spc="10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 </a:t>
            </a:r>
            <a:r>
              <a:rPr sz="2400" u="heavy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space</a:t>
            </a:r>
            <a:r>
              <a:rPr sz="2400" spc="1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80" dirty="0">
                <a:solidFill>
                  <a:srgbClr val="386E52"/>
                </a:solidFill>
                <a:latin typeface="Leelawadee UI"/>
                <a:cs typeface="Leelawadee UI"/>
              </a:rPr>
              <a:t>set</a:t>
            </a:r>
            <a:r>
              <a:rPr sz="2400" spc="-1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aside</a:t>
            </a:r>
            <a:r>
              <a:rPr sz="2400" spc="1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4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1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physical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disk.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" y="3275076"/>
            <a:ext cx="10901172" cy="29154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8632" y="207261"/>
            <a:ext cx="7565135" cy="65471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0004" y="3164281"/>
            <a:ext cx="76174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</a:rPr>
              <a:t>THE</a:t>
            </a:r>
            <a:r>
              <a:rPr sz="4400" spc="-65" dirty="0">
                <a:solidFill>
                  <a:srgbClr val="FFFFFF"/>
                </a:solidFill>
              </a:rPr>
              <a:t> </a:t>
            </a:r>
            <a:r>
              <a:rPr sz="4400" dirty="0">
                <a:solidFill>
                  <a:srgbClr val="FFFFFF"/>
                </a:solidFill>
              </a:rPr>
              <a:t>VIRTUAL</a:t>
            </a:r>
            <a:r>
              <a:rPr sz="4400" spc="-190" dirty="0">
                <a:solidFill>
                  <a:srgbClr val="FFFFFF"/>
                </a:solidFill>
              </a:rPr>
              <a:t> </a:t>
            </a:r>
            <a:r>
              <a:rPr sz="4400" spc="-175" dirty="0">
                <a:solidFill>
                  <a:srgbClr val="FFFFFF"/>
                </a:solidFill>
              </a:rPr>
              <a:t>DATA</a:t>
            </a:r>
            <a:r>
              <a:rPr sz="4400" spc="-240" dirty="0">
                <a:solidFill>
                  <a:srgbClr val="FFFFFF"/>
                </a:solidFill>
              </a:rPr>
              <a:t> </a:t>
            </a:r>
            <a:r>
              <a:rPr sz="4400" spc="-10" dirty="0">
                <a:solidFill>
                  <a:srgbClr val="FFFFFF"/>
                </a:solidFill>
              </a:rPr>
              <a:t>CENTER</a:t>
            </a:r>
            <a:endParaRPr sz="4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8816" y="295402"/>
            <a:ext cx="7073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75" dirty="0">
                <a:solidFill>
                  <a:srgbClr val="386E52"/>
                </a:solidFill>
              </a:rPr>
              <a:t>BENEFITS</a:t>
            </a:r>
            <a:r>
              <a:rPr sz="3600" spc="-10" dirty="0">
                <a:solidFill>
                  <a:srgbClr val="386E52"/>
                </a:solidFill>
              </a:rPr>
              <a:t> </a:t>
            </a:r>
            <a:r>
              <a:rPr sz="3600" spc="-325" dirty="0">
                <a:solidFill>
                  <a:srgbClr val="386E52"/>
                </a:solidFill>
              </a:rPr>
              <a:t>OF</a:t>
            </a:r>
            <a:r>
              <a:rPr sz="3600" spc="-20" dirty="0">
                <a:solidFill>
                  <a:srgbClr val="386E52"/>
                </a:solidFill>
              </a:rPr>
              <a:t> </a:t>
            </a:r>
            <a:r>
              <a:rPr sz="3600" dirty="0">
                <a:solidFill>
                  <a:srgbClr val="386E52"/>
                </a:solidFill>
              </a:rPr>
              <a:t>A</a:t>
            </a:r>
            <a:r>
              <a:rPr sz="3600" spc="-185" dirty="0">
                <a:solidFill>
                  <a:srgbClr val="386E52"/>
                </a:solidFill>
              </a:rPr>
              <a:t> </a:t>
            </a:r>
            <a:r>
              <a:rPr sz="3600" spc="-459" dirty="0">
                <a:solidFill>
                  <a:srgbClr val="386E52"/>
                </a:solidFill>
              </a:rPr>
              <a:t>VIRTUAL</a:t>
            </a:r>
            <a:r>
              <a:rPr sz="3600" spc="-10" dirty="0">
                <a:solidFill>
                  <a:srgbClr val="386E52"/>
                </a:solidFill>
              </a:rPr>
              <a:t> </a:t>
            </a:r>
            <a:r>
              <a:rPr sz="3600" spc="-480" dirty="0">
                <a:solidFill>
                  <a:srgbClr val="386E52"/>
                </a:solidFill>
              </a:rPr>
              <a:t>DATA</a:t>
            </a:r>
            <a:r>
              <a:rPr sz="3600" spc="-10" dirty="0">
                <a:solidFill>
                  <a:srgbClr val="386E52"/>
                </a:solidFill>
              </a:rPr>
              <a:t> </a:t>
            </a:r>
            <a:r>
              <a:rPr sz="3600" spc="-650" dirty="0">
                <a:solidFill>
                  <a:srgbClr val="386E52"/>
                </a:solidFill>
              </a:rPr>
              <a:t>CENTER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74496" y="1620773"/>
            <a:ext cx="946086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168400" indent="-28702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10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centers</a:t>
            </a:r>
            <a:r>
              <a:rPr sz="2400" spc="1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use</a:t>
            </a:r>
            <a:r>
              <a:rPr sz="2400" spc="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lot</a:t>
            </a:r>
            <a:r>
              <a:rPr sz="2400" spc="-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hardware</a:t>
            </a:r>
            <a:r>
              <a:rPr sz="2400" spc="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virtualization</a:t>
            </a:r>
            <a:r>
              <a:rPr sz="24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makes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hardware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more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efficient</a:t>
            </a:r>
            <a:endParaRPr sz="2400">
              <a:latin typeface="Leelawadee UI"/>
              <a:cs typeface="Leelawadee UI"/>
            </a:endParaRPr>
          </a:p>
          <a:p>
            <a:pPr marL="299085" marR="666750" indent="-287020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400" spc="45" dirty="0">
                <a:solidFill>
                  <a:srgbClr val="386E52"/>
                </a:solidFill>
                <a:latin typeface="Leelawadee UI"/>
                <a:cs typeface="Leelawadee UI"/>
              </a:rPr>
              <a:t>Increased</a:t>
            </a:r>
            <a:r>
              <a:rPr sz="2400" spc="-1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computing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resources</a:t>
            </a:r>
            <a:r>
              <a:rPr sz="2400" spc="1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results</a:t>
            </a:r>
            <a:r>
              <a:rPr sz="2400" spc="1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higher</a:t>
            </a:r>
            <a:r>
              <a:rPr sz="24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availability</a:t>
            </a:r>
            <a:r>
              <a:rPr sz="2400" b="1" spc="-8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of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applications</a:t>
            </a:r>
            <a:endParaRPr sz="2400">
              <a:latin typeface="Leelawadee UI"/>
              <a:cs typeface="Leelawadee UI"/>
            </a:endParaRPr>
          </a:p>
          <a:p>
            <a:pPr marL="299085" marR="5080" indent="-287020">
              <a:lnSpc>
                <a:spcPct val="100000"/>
              </a:lnSpc>
              <a:spcBef>
                <a:spcPts val="2885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400" spc="60" dirty="0">
                <a:solidFill>
                  <a:srgbClr val="386E52"/>
                </a:solidFill>
                <a:latin typeface="Leelawadee UI"/>
                <a:cs typeface="Leelawadee UI"/>
              </a:rPr>
              <a:t>Less</a:t>
            </a:r>
            <a:r>
              <a:rPr sz="2400" spc="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labor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needed</a:t>
            </a:r>
            <a:r>
              <a:rPr sz="24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70" dirty="0">
                <a:solidFill>
                  <a:srgbClr val="386E52"/>
                </a:solidFill>
                <a:latin typeface="Leelawadee UI"/>
                <a:cs typeface="Leelawadee UI"/>
              </a:rPr>
              <a:t>monitor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center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(administrator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can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monitor 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from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their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desk</a:t>
            </a:r>
            <a:r>
              <a:rPr sz="24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using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1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program)</a:t>
            </a:r>
            <a:endParaRPr sz="2400">
              <a:latin typeface="Leelawadee UI"/>
              <a:cs typeface="Leelawadee UI"/>
            </a:endParaRPr>
          </a:p>
          <a:p>
            <a:pPr marL="299085" indent="-286385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2400" b="1" spc="-20" dirty="0">
                <a:solidFill>
                  <a:srgbClr val="386E52"/>
                </a:solidFill>
                <a:latin typeface="Trebuchet MS"/>
                <a:cs typeface="Trebuchet MS"/>
              </a:rPr>
              <a:t>Software-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defined</a:t>
            </a:r>
            <a:r>
              <a:rPr sz="2400" b="1" spc="-12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data</a:t>
            </a:r>
            <a:r>
              <a:rPr sz="2400" b="1" spc="-9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386E52"/>
                </a:solidFill>
                <a:latin typeface="Trebuchet MS"/>
                <a:cs typeface="Trebuchet MS"/>
              </a:rPr>
              <a:t>center</a:t>
            </a:r>
            <a:r>
              <a:rPr sz="2400" b="1" spc="-12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spc="75" dirty="0">
                <a:solidFill>
                  <a:srgbClr val="386E52"/>
                </a:solidFill>
                <a:latin typeface="Trebuchet MS"/>
                <a:cs typeface="Trebuchet MS"/>
              </a:rPr>
              <a:t>(SDDC):</a:t>
            </a:r>
            <a:r>
              <a:rPr sz="2400" b="1" spc="8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Hypervisor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pools</a:t>
            </a:r>
            <a:r>
              <a:rPr sz="2400" spc="1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physical</a:t>
            </a:r>
            <a:endParaRPr sz="2400">
              <a:latin typeface="Leelawadee UI"/>
              <a:cs typeface="Leelawadee UI"/>
            </a:endParaRPr>
          </a:p>
          <a:p>
            <a:pPr marL="299085">
              <a:lnSpc>
                <a:spcPct val="100000"/>
              </a:lnSpc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center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resources</a:t>
            </a:r>
            <a:r>
              <a:rPr sz="2400" spc="1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into</a:t>
            </a:r>
            <a:r>
              <a:rPr sz="24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virtual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center</a:t>
            </a:r>
            <a:endParaRPr sz="2400">
              <a:latin typeface="Leelawadee UI"/>
              <a:cs typeface="Leelawade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2501" y="553923"/>
            <a:ext cx="48037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34" dirty="0">
                <a:solidFill>
                  <a:srgbClr val="386E52"/>
                </a:solidFill>
              </a:rPr>
              <a:t>WHAT</a:t>
            </a:r>
            <a:r>
              <a:rPr sz="4800" spc="-10" dirty="0">
                <a:solidFill>
                  <a:srgbClr val="386E52"/>
                </a:solidFill>
              </a:rPr>
              <a:t> </a:t>
            </a:r>
            <a:r>
              <a:rPr sz="4800" spc="-545" dirty="0">
                <a:solidFill>
                  <a:srgbClr val="386E52"/>
                </a:solidFill>
              </a:rPr>
              <a:t>IS</a:t>
            </a:r>
            <a:r>
              <a:rPr sz="4800" spc="-5" dirty="0">
                <a:solidFill>
                  <a:srgbClr val="386E52"/>
                </a:solidFill>
              </a:rPr>
              <a:t> </a:t>
            </a:r>
            <a:r>
              <a:rPr sz="4800" spc="-835" dirty="0">
                <a:solidFill>
                  <a:srgbClr val="386E52"/>
                </a:solidFill>
              </a:rPr>
              <a:t>VSPHERE?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07212" y="1638680"/>
            <a:ext cx="10878820" cy="4395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0" marR="634365" indent="-381000">
              <a:lnSpc>
                <a:spcPct val="100000"/>
              </a:lnSpc>
              <a:spcBef>
                <a:spcPts val="95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800" spc="-20" dirty="0">
                <a:solidFill>
                  <a:srgbClr val="386E52"/>
                </a:solidFill>
                <a:latin typeface="Leelawadee UI"/>
                <a:cs typeface="Leelawadee UI"/>
              </a:rPr>
              <a:t>S</a:t>
            </a:r>
            <a:r>
              <a:rPr sz="2800" spc="-4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uite</a:t>
            </a:r>
            <a:r>
              <a:rPr sz="2800" spc="-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800" spc="-1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20" dirty="0">
                <a:solidFill>
                  <a:srgbClr val="386E52"/>
                </a:solidFill>
                <a:latin typeface="Leelawadee UI"/>
                <a:cs typeface="Leelawadee UI"/>
              </a:rPr>
              <a:t>virtualization</a:t>
            </a:r>
            <a:r>
              <a:rPr sz="2800" spc="-1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20" dirty="0">
                <a:solidFill>
                  <a:srgbClr val="386E52"/>
                </a:solidFill>
                <a:latin typeface="Leelawadee UI"/>
                <a:cs typeface="Leelawadee UI"/>
              </a:rPr>
              <a:t>technology</a:t>
            </a:r>
            <a:r>
              <a:rPr sz="28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designed</a:t>
            </a:r>
            <a:r>
              <a:rPr sz="2800" spc="-10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for</a:t>
            </a:r>
            <a:r>
              <a:rPr sz="2800" spc="-1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larger</a:t>
            </a:r>
            <a:r>
              <a:rPr sz="28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enterprise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800" spc="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center</a:t>
            </a:r>
            <a:r>
              <a:rPr sz="28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management</a:t>
            </a:r>
            <a:endParaRPr sz="280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3365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vS</a:t>
            </a:r>
            <a:r>
              <a:rPr sz="2800" spc="-409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phere</a:t>
            </a:r>
            <a:r>
              <a:rPr sz="28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20" dirty="0">
                <a:solidFill>
                  <a:srgbClr val="386E52"/>
                </a:solidFill>
                <a:latin typeface="Leelawadee UI"/>
                <a:cs typeface="Leelawadee UI"/>
              </a:rPr>
              <a:t>virtualization</a:t>
            </a:r>
            <a:r>
              <a:rPr sz="2800" spc="-1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tools</a:t>
            </a:r>
            <a:r>
              <a:rPr sz="28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include:</a:t>
            </a:r>
            <a:endParaRPr sz="2800">
              <a:latin typeface="Leelawadee UI"/>
              <a:cs typeface="Leelawadee UI"/>
            </a:endParaRPr>
          </a:p>
          <a:p>
            <a:pPr marL="709930" lvl="1" indent="-240029">
              <a:lnSpc>
                <a:spcPct val="100000"/>
              </a:lnSpc>
              <a:spcBef>
                <a:spcPts val="800"/>
              </a:spcBef>
              <a:buFont typeface="Leelawadee UI"/>
              <a:buChar char="-"/>
              <a:tabLst>
                <a:tab pos="709930" algn="l"/>
              </a:tabLst>
            </a:pPr>
            <a:r>
              <a:rPr sz="2800" b="1" dirty="0">
                <a:solidFill>
                  <a:srgbClr val="386E52"/>
                </a:solidFill>
                <a:latin typeface="Trebuchet MS"/>
                <a:cs typeface="Trebuchet MS"/>
              </a:rPr>
              <a:t>ESXi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28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Type</a:t>
            </a:r>
            <a:r>
              <a:rPr sz="2800" spc="10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1</a:t>
            </a:r>
            <a:r>
              <a:rPr sz="28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Hypervisor</a:t>
            </a:r>
            <a:endParaRPr sz="2800">
              <a:latin typeface="Leelawadee UI"/>
              <a:cs typeface="Leelawadee UI"/>
            </a:endParaRPr>
          </a:p>
          <a:p>
            <a:pPr marL="709295" lvl="1" indent="-239395">
              <a:lnSpc>
                <a:spcPct val="100000"/>
              </a:lnSpc>
              <a:buFont typeface="Leelawadee UI"/>
              <a:buChar char="-"/>
              <a:tabLst>
                <a:tab pos="709295" algn="l"/>
              </a:tabLst>
            </a:pPr>
            <a:r>
              <a:rPr sz="2800" b="1" dirty="0">
                <a:solidFill>
                  <a:srgbClr val="386E52"/>
                </a:solidFill>
                <a:latin typeface="Trebuchet MS"/>
                <a:cs typeface="Trebuchet MS"/>
              </a:rPr>
              <a:t>vC</a:t>
            </a:r>
            <a:r>
              <a:rPr sz="2800" b="1" spc="-57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800" b="1" spc="-30" dirty="0">
                <a:solidFill>
                  <a:srgbClr val="386E52"/>
                </a:solidFill>
                <a:latin typeface="Trebuchet MS"/>
                <a:cs typeface="Trebuchet MS"/>
              </a:rPr>
              <a:t>enter</a:t>
            </a:r>
            <a:r>
              <a:rPr sz="2800" spc="-3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28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Management</a:t>
            </a:r>
            <a:r>
              <a:rPr sz="2400" spc="-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software</a:t>
            </a:r>
            <a:r>
              <a:rPr sz="24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(installed</a:t>
            </a:r>
            <a:r>
              <a:rPr sz="2400" spc="-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management</a:t>
            </a:r>
            <a:r>
              <a:rPr sz="2400" spc="-1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server)</a:t>
            </a:r>
            <a:endParaRPr sz="2400">
              <a:latin typeface="Leelawadee UI"/>
              <a:cs typeface="Leelawadee UI"/>
            </a:endParaRPr>
          </a:p>
          <a:p>
            <a:pPr marL="709295" marR="184150" lvl="1" indent="-240029">
              <a:lnSpc>
                <a:spcPct val="100000"/>
              </a:lnSpc>
              <a:spcBef>
                <a:spcPts val="5"/>
              </a:spcBef>
              <a:buFont typeface="Leelawadee UI"/>
              <a:buChar char="-"/>
              <a:tabLst>
                <a:tab pos="1219200" algn="l"/>
              </a:tabLst>
            </a:pPr>
            <a:r>
              <a:rPr sz="2800" b="1" dirty="0">
                <a:solidFill>
                  <a:srgbClr val="386E52"/>
                </a:solidFill>
                <a:latin typeface="Trebuchet MS"/>
                <a:cs typeface="Trebuchet MS"/>
              </a:rPr>
              <a:t>vSphere</a:t>
            </a:r>
            <a:r>
              <a:rPr sz="2800" b="1" spc="-6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386E52"/>
                </a:solidFill>
                <a:latin typeface="Trebuchet MS"/>
                <a:cs typeface="Trebuchet MS"/>
              </a:rPr>
              <a:t>Client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28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25" dirty="0">
                <a:solidFill>
                  <a:srgbClr val="386E52"/>
                </a:solidFill>
                <a:latin typeface="Leelawadee UI"/>
                <a:cs typeface="Leelawadee UI"/>
              </a:rPr>
              <a:t>Program</a:t>
            </a:r>
            <a:r>
              <a:rPr sz="2800" spc="-1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8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configures</a:t>
            </a:r>
            <a:r>
              <a:rPr sz="2800" spc="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8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vCenter,</a:t>
            </a:r>
            <a:r>
              <a:rPr sz="28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host,</a:t>
            </a:r>
            <a:r>
              <a:rPr sz="28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25" dirty="0">
                <a:solidFill>
                  <a:srgbClr val="386E52"/>
                </a:solidFill>
                <a:latin typeface="Leelawadee UI"/>
                <a:cs typeface="Leelawadee UI"/>
              </a:rPr>
              <a:t>and 	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operates</a:t>
            </a:r>
            <a:r>
              <a:rPr sz="2800" spc="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its</a:t>
            </a:r>
            <a:r>
              <a:rPr sz="28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virtual</a:t>
            </a:r>
            <a:r>
              <a:rPr sz="2800" spc="-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machines</a:t>
            </a:r>
            <a:endParaRPr sz="2800">
              <a:latin typeface="Leelawadee UI"/>
              <a:cs typeface="Leelawadee UI"/>
            </a:endParaRPr>
          </a:p>
          <a:p>
            <a:pPr marL="709295" marR="5080" lvl="1" indent="-240029">
              <a:lnSpc>
                <a:spcPct val="100000"/>
              </a:lnSpc>
              <a:buFont typeface="Leelawadee UI"/>
              <a:buChar char="-"/>
              <a:tabLst>
                <a:tab pos="762000" algn="l"/>
              </a:tabLst>
            </a:pPr>
            <a:r>
              <a:rPr sz="2800" b="1" dirty="0">
                <a:solidFill>
                  <a:srgbClr val="386E52"/>
                </a:solidFill>
                <a:latin typeface="Trebuchet MS"/>
                <a:cs typeface="Trebuchet MS"/>
              </a:rPr>
              <a:t>vSphere</a:t>
            </a:r>
            <a:r>
              <a:rPr sz="2800" b="1" spc="-12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800" b="1" spc="110" dirty="0">
                <a:solidFill>
                  <a:srgbClr val="386E52"/>
                </a:solidFill>
                <a:latin typeface="Trebuchet MS"/>
                <a:cs typeface="Trebuchet MS"/>
              </a:rPr>
              <a:t>Host</a:t>
            </a:r>
            <a:r>
              <a:rPr sz="2800" b="1" spc="-11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386E52"/>
                </a:solidFill>
                <a:latin typeface="Trebuchet MS"/>
                <a:cs typeface="Trebuchet MS"/>
              </a:rPr>
              <a:t>Client:</a:t>
            </a:r>
            <a:r>
              <a:rPr sz="2800" b="1" spc="-4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800" spc="-25" dirty="0">
                <a:solidFill>
                  <a:srgbClr val="386E52"/>
                </a:solidFill>
                <a:latin typeface="Leelawadee UI"/>
                <a:cs typeface="Leelawadee UI"/>
              </a:rPr>
              <a:t>Program</a:t>
            </a:r>
            <a:r>
              <a:rPr sz="2800" spc="-1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800" spc="-1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only</a:t>
            </a:r>
            <a:r>
              <a:rPr sz="28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configures</a:t>
            </a:r>
            <a:r>
              <a:rPr sz="28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8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host</a:t>
            </a:r>
            <a:r>
              <a:rPr sz="2800" spc="-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25" dirty="0">
                <a:solidFill>
                  <a:srgbClr val="386E52"/>
                </a:solidFill>
                <a:latin typeface="Leelawadee UI"/>
                <a:cs typeface="Leelawadee UI"/>
              </a:rPr>
              <a:t>and 	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operates</a:t>
            </a:r>
            <a:r>
              <a:rPr sz="2800" spc="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dirty="0">
                <a:solidFill>
                  <a:srgbClr val="386E52"/>
                </a:solidFill>
                <a:latin typeface="Leelawadee UI"/>
                <a:cs typeface="Leelawadee UI"/>
              </a:rPr>
              <a:t>its</a:t>
            </a:r>
            <a:r>
              <a:rPr sz="28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virtual</a:t>
            </a:r>
            <a:r>
              <a:rPr sz="2800" spc="-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800" spc="-10" dirty="0">
                <a:solidFill>
                  <a:srgbClr val="386E52"/>
                </a:solidFill>
                <a:latin typeface="Leelawadee UI"/>
                <a:cs typeface="Leelawadee UI"/>
              </a:rPr>
              <a:t>machines</a:t>
            </a:r>
            <a:endParaRPr sz="2800">
              <a:latin typeface="Leelawadee UI"/>
              <a:cs typeface="Leelawade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7144" rIns="0" bIns="0" rtlCol="0">
            <a:spAutoFit/>
          </a:bodyPr>
          <a:lstStyle/>
          <a:p>
            <a:pPr marL="1044575">
              <a:lnSpc>
                <a:spcPct val="100000"/>
              </a:lnSpc>
              <a:spcBef>
                <a:spcPts val="100"/>
              </a:spcBef>
            </a:pPr>
            <a:r>
              <a:rPr sz="4800" spc="-434" dirty="0">
                <a:solidFill>
                  <a:srgbClr val="386E52"/>
                </a:solidFill>
              </a:rPr>
              <a:t>WHAT</a:t>
            </a:r>
            <a:r>
              <a:rPr sz="4800" spc="-10" dirty="0">
                <a:solidFill>
                  <a:srgbClr val="386E52"/>
                </a:solidFill>
              </a:rPr>
              <a:t> </a:t>
            </a:r>
            <a:r>
              <a:rPr sz="4800" spc="-545" dirty="0">
                <a:solidFill>
                  <a:srgbClr val="386E52"/>
                </a:solidFill>
              </a:rPr>
              <a:t>IS</a:t>
            </a:r>
            <a:r>
              <a:rPr sz="4800" spc="-5" dirty="0">
                <a:solidFill>
                  <a:srgbClr val="386E52"/>
                </a:solidFill>
              </a:rPr>
              <a:t> </a:t>
            </a:r>
            <a:r>
              <a:rPr sz="4800" spc="-835" dirty="0">
                <a:solidFill>
                  <a:srgbClr val="386E52"/>
                </a:solidFill>
              </a:rPr>
              <a:t>VSPHERE?</a:t>
            </a:r>
            <a:endParaRPr sz="4800"/>
          </a:p>
        </p:txBody>
      </p: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33372" y="1958339"/>
            <a:ext cx="8343900" cy="43494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5131" y="0"/>
              <a:ext cx="8930640" cy="67040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63923" y="787908"/>
              <a:ext cx="2851404" cy="423672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3105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100"/>
              </a:spcBef>
            </a:pPr>
            <a:r>
              <a:rPr sz="4800" spc="-830" dirty="0">
                <a:solidFill>
                  <a:srgbClr val="386E52"/>
                </a:solidFill>
              </a:rPr>
              <a:t>VSPHERE</a:t>
            </a:r>
            <a:endParaRPr sz="4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649" y="593597"/>
            <a:ext cx="3663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30" dirty="0">
                <a:solidFill>
                  <a:srgbClr val="386E52"/>
                </a:solidFill>
              </a:rPr>
              <a:t>WHAT</a:t>
            </a:r>
            <a:r>
              <a:rPr sz="4800" spc="-10" dirty="0">
                <a:solidFill>
                  <a:srgbClr val="386E52"/>
                </a:solidFill>
              </a:rPr>
              <a:t> </a:t>
            </a:r>
            <a:r>
              <a:rPr sz="4800" spc="-545" dirty="0">
                <a:solidFill>
                  <a:srgbClr val="386E52"/>
                </a:solidFill>
              </a:rPr>
              <a:t>IS</a:t>
            </a:r>
            <a:r>
              <a:rPr sz="4800" spc="-10" dirty="0">
                <a:solidFill>
                  <a:srgbClr val="386E52"/>
                </a:solidFill>
              </a:rPr>
              <a:t> </a:t>
            </a:r>
            <a:r>
              <a:rPr sz="4800" spc="-725" dirty="0">
                <a:solidFill>
                  <a:srgbClr val="386E52"/>
                </a:solidFill>
              </a:rPr>
              <a:t>ESXI?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42873" y="1636598"/>
            <a:ext cx="4423410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63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spc="65" dirty="0">
                <a:solidFill>
                  <a:srgbClr val="386E52"/>
                </a:solidFill>
                <a:latin typeface="Leelawadee UI"/>
                <a:cs typeface="Leelawadee UI"/>
              </a:rPr>
              <a:t>ESXi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VMware’s</a:t>
            </a:r>
            <a:r>
              <a:rPr sz="2400" spc="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Type</a:t>
            </a:r>
            <a:r>
              <a:rPr sz="24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1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hypervisor</a:t>
            </a:r>
            <a:r>
              <a:rPr sz="2400" spc="-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software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installed directly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400" spc="-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physical</a:t>
            </a:r>
            <a:r>
              <a:rPr sz="2400" spc="-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server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creates</a:t>
            </a:r>
            <a:r>
              <a:rPr sz="2400" spc="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virtual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layer</a:t>
            </a:r>
            <a:endParaRPr sz="2400">
              <a:latin typeface="Leelawadee UI"/>
              <a:cs typeface="Leelawadee UI"/>
            </a:endParaRPr>
          </a:p>
          <a:p>
            <a:pPr marL="393700" indent="-381000">
              <a:lnSpc>
                <a:spcPct val="100000"/>
              </a:lnSpc>
              <a:spcBef>
                <a:spcPts val="2885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Components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ES</a:t>
            </a:r>
            <a:r>
              <a:rPr sz="2400" spc="-4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Xi:</a:t>
            </a:r>
            <a:endParaRPr sz="2400">
              <a:latin typeface="Leelawadee UI"/>
              <a:cs typeface="Leelawadee UI"/>
            </a:endParaRPr>
          </a:p>
          <a:p>
            <a:pPr marL="675640" lvl="1" indent="-205740">
              <a:lnSpc>
                <a:spcPct val="100000"/>
              </a:lnSpc>
              <a:buChar char="-"/>
              <a:tabLst>
                <a:tab pos="67564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Unix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Microkernel</a:t>
            </a:r>
            <a:endParaRPr sz="2400">
              <a:latin typeface="Leelawadee UI"/>
              <a:cs typeface="Leelawadee UI"/>
            </a:endParaRPr>
          </a:p>
          <a:p>
            <a:pPr marL="675640" lvl="1" indent="-205740">
              <a:lnSpc>
                <a:spcPct val="100000"/>
              </a:lnSpc>
              <a:buChar char="-"/>
              <a:tabLst>
                <a:tab pos="67564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VMware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Kernel</a:t>
            </a:r>
            <a:endParaRPr sz="2400">
              <a:latin typeface="Leelawadee UI"/>
              <a:cs typeface="Leelawade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(VMkernel)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8179" y="3241548"/>
            <a:ext cx="6457187" cy="33116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59" y="467868"/>
            <a:ext cx="7045452" cy="59222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186" rIns="0" bIns="0" rtlCol="0">
            <a:spAutoFit/>
          </a:bodyPr>
          <a:lstStyle/>
          <a:p>
            <a:pPr marL="939800">
              <a:lnSpc>
                <a:spcPct val="100000"/>
              </a:lnSpc>
              <a:spcBef>
                <a:spcPts val="100"/>
              </a:spcBef>
            </a:pPr>
            <a:r>
              <a:rPr sz="4800" spc="-770" dirty="0">
                <a:solidFill>
                  <a:srgbClr val="386E52"/>
                </a:solidFill>
              </a:rPr>
              <a:t>VCENTER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013866" y="2510154"/>
            <a:ext cx="271399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386E52"/>
                </a:solidFill>
                <a:latin typeface="Trebuchet MS"/>
                <a:cs typeface="Trebuchet MS"/>
              </a:rPr>
              <a:t>vCenter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18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86E52"/>
                </a:solidFill>
                <a:latin typeface="Leelawadee UI"/>
                <a:cs typeface="Leelawadee UI"/>
              </a:rPr>
              <a:t>Software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installed</a:t>
            </a:r>
            <a:r>
              <a:rPr sz="18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18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18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86E52"/>
                </a:solidFill>
                <a:latin typeface="Leelawadee UI"/>
                <a:cs typeface="Leelawadee UI"/>
              </a:rPr>
              <a:t>dedicated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server</a:t>
            </a:r>
            <a:r>
              <a:rPr sz="18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18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manage</a:t>
            </a:r>
            <a:r>
              <a:rPr sz="1800" spc="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spc="-20" dirty="0">
                <a:solidFill>
                  <a:srgbClr val="386E52"/>
                </a:solidFill>
                <a:latin typeface="Leelawadee UI"/>
                <a:cs typeface="Leelawadee UI"/>
              </a:rPr>
              <a:t>ESXi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servers</a:t>
            </a:r>
            <a:r>
              <a:rPr sz="1800" spc="2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1800" spc="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86E52"/>
                </a:solidFill>
                <a:latin typeface="Leelawadee UI"/>
                <a:cs typeface="Leelawadee UI"/>
              </a:rPr>
              <a:t>other components</a:t>
            </a:r>
            <a:r>
              <a:rPr sz="18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18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spc="-50" dirty="0">
                <a:solidFill>
                  <a:srgbClr val="386E52"/>
                </a:solidFill>
                <a:latin typeface="Leelawadee UI"/>
                <a:cs typeface="Leelawadee UI"/>
              </a:rPr>
              <a:t>a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virtualized</a:t>
            </a:r>
            <a:r>
              <a:rPr sz="18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18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86E52"/>
                </a:solidFill>
                <a:latin typeface="Leelawadee UI"/>
                <a:cs typeface="Leelawadee UI"/>
              </a:rPr>
              <a:t>center.</a:t>
            </a:r>
            <a:endParaRPr sz="1800">
              <a:latin typeface="Leelawadee UI"/>
              <a:cs typeface="Leelawade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2446" y="580390"/>
            <a:ext cx="40557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19" dirty="0">
                <a:solidFill>
                  <a:srgbClr val="386E52"/>
                </a:solidFill>
              </a:rPr>
              <a:t>VSPHERE</a:t>
            </a:r>
            <a:r>
              <a:rPr sz="4800" spc="-5" dirty="0">
                <a:solidFill>
                  <a:srgbClr val="386E52"/>
                </a:solidFill>
              </a:rPr>
              <a:t> </a:t>
            </a:r>
            <a:r>
              <a:rPr sz="4800" spc="-665" dirty="0">
                <a:solidFill>
                  <a:srgbClr val="386E52"/>
                </a:solidFill>
              </a:rPr>
              <a:t>CLIENT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59104" y="1716151"/>
            <a:ext cx="375221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vSphere</a:t>
            </a:r>
            <a:r>
              <a:rPr sz="2400" b="1" spc="1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386E52"/>
                </a:solidFill>
                <a:latin typeface="Trebuchet MS"/>
                <a:cs typeface="Trebuchet MS"/>
              </a:rPr>
              <a:t>Client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: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Program</a:t>
            </a:r>
            <a:r>
              <a:rPr sz="24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with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graphical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user</a:t>
            </a:r>
            <a:r>
              <a:rPr sz="24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interface</a:t>
            </a:r>
            <a:r>
              <a:rPr sz="2400" spc="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(GUI)</a:t>
            </a:r>
            <a:r>
              <a:rPr sz="24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that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allows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center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administrators</a:t>
            </a:r>
            <a:r>
              <a:rPr sz="24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to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connect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 vCenter</a:t>
            </a:r>
            <a:r>
              <a:rPr sz="2400" spc="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and </a:t>
            </a:r>
            <a:r>
              <a:rPr sz="2400" spc="65" dirty="0">
                <a:solidFill>
                  <a:srgbClr val="386E52"/>
                </a:solidFill>
                <a:latin typeface="Leelawadee UI"/>
                <a:cs typeface="Leelawadee UI"/>
              </a:rPr>
              <a:t>ESXi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remotely.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1332" y="1604772"/>
            <a:ext cx="7150608" cy="38069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6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19" dirty="0">
                <a:solidFill>
                  <a:srgbClr val="386E52"/>
                </a:solidFill>
              </a:rPr>
              <a:t>VSPHERE</a:t>
            </a:r>
            <a:r>
              <a:rPr sz="4800" spc="-5" dirty="0">
                <a:solidFill>
                  <a:srgbClr val="386E52"/>
                </a:solidFill>
              </a:rPr>
              <a:t> </a:t>
            </a:r>
            <a:r>
              <a:rPr sz="4800" spc="-665" dirty="0">
                <a:solidFill>
                  <a:srgbClr val="386E52"/>
                </a:solidFill>
              </a:rPr>
              <a:t>CLIENT</a:t>
            </a:r>
            <a:endParaRPr sz="4800"/>
          </a:p>
        </p:txBody>
      </p: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03120" y="1360932"/>
            <a:ext cx="7983474" cy="4697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2067" rIns="0" bIns="0" rtlCol="0">
            <a:spAutoFit/>
          </a:bodyPr>
          <a:lstStyle/>
          <a:p>
            <a:pPr marL="953135">
              <a:lnSpc>
                <a:spcPct val="100000"/>
              </a:lnSpc>
              <a:spcBef>
                <a:spcPts val="100"/>
              </a:spcBef>
            </a:pPr>
            <a:r>
              <a:rPr sz="4800" spc="-819" dirty="0">
                <a:solidFill>
                  <a:srgbClr val="386E52"/>
                </a:solidFill>
              </a:rPr>
              <a:t>VSPHERE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570" dirty="0">
                <a:solidFill>
                  <a:srgbClr val="386E52"/>
                </a:solidFill>
              </a:rPr>
              <a:t>HOST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665" dirty="0">
                <a:solidFill>
                  <a:srgbClr val="386E52"/>
                </a:solidFill>
              </a:rPr>
              <a:t>CLIENT</a:t>
            </a:r>
            <a:endParaRPr sz="4800"/>
          </a:p>
        </p:txBody>
      </p:sp>
      <p:grpSp>
        <p:nvGrpSpPr>
          <p:cNvPr id="13" name="object 13"/>
          <p:cNvGrpSpPr/>
          <p:nvPr/>
        </p:nvGrpSpPr>
        <p:grpSpPr>
          <a:xfrm>
            <a:off x="1842516" y="1557527"/>
            <a:ext cx="8705215" cy="4381500"/>
            <a:chOff x="1842516" y="1557527"/>
            <a:chExt cx="8705215" cy="4381500"/>
          </a:xfrm>
        </p:grpSpPr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42516" y="1557527"/>
              <a:ext cx="8705088" cy="43815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95856" y="1572767"/>
              <a:ext cx="8602980" cy="427939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6061" rIns="0" bIns="0" rtlCol="0">
            <a:spAutoFit/>
          </a:bodyPr>
          <a:lstStyle/>
          <a:p>
            <a:pPr marL="561340">
              <a:lnSpc>
                <a:spcPct val="100000"/>
              </a:lnSpc>
              <a:spcBef>
                <a:spcPts val="100"/>
              </a:spcBef>
            </a:pPr>
            <a:r>
              <a:rPr sz="4800" spc="-940" dirty="0">
                <a:solidFill>
                  <a:srgbClr val="386E52"/>
                </a:solidFill>
              </a:rPr>
              <a:t>SERVER</a:t>
            </a:r>
            <a:r>
              <a:rPr sz="4800" spc="5" dirty="0">
                <a:solidFill>
                  <a:srgbClr val="386E52"/>
                </a:solidFill>
              </a:rPr>
              <a:t> </a:t>
            </a:r>
            <a:r>
              <a:rPr sz="4800" spc="-525" dirty="0">
                <a:solidFill>
                  <a:srgbClr val="386E52"/>
                </a:solidFill>
              </a:rPr>
              <a:t>VIRTUALIZATION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98119" y="2251964"/>
            <a:ext cx="105321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Results</a:t>
            </a:r>
            <a:r>
              <a:rPr sz="2400" spc="2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</a:t>
            </a:r>
            <a:r>
              <a:rPr sz="24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increased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efficiency</a:t>
            </a:r>
            <a:r>
              <a:rPr sz="2400" spc="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1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center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servers</a:t>
            </a:r>
            <a:r>
              <a:rPr sz="2400" spc="2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because</a:t>
            </a:r>
            <a:r>
              <a:rPr sz="2400" spc="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multiple</a:t>
            </a:r>
            <a:r>
              <a:rPr sz="2400" spc="1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VMs 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can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be</a:t>
            </a:r>
            <a:r>
              <a:rPr sz="24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hosted</a:t>
            </a:r>
            <a:r>
              <a:rPr sz="2400" spc="-1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one</a:t>
            </a:r>
            <a:r>
              <a:rPr sz="24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server</a:t>
            </a:r>
            <a:endParaRPr sz="240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Computing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resources</a:t>
            </a:r>
            <a:r>
              <a:rPr sz="2400" spc="2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can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 be</a:t>
            </a:r>
            <a:r>
              <a:rPr sz="2400" spc="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distributed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customers</a:t>
            </a:r>
            <a:r>
              <a:rPr sz="2400" spc="1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using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less</a:t>
            </a:r>
            <a:r>
              <a:rPr sz="2400" spc="2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hardware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247" y="4256532"/>
            <a:ext cx="9966960" cy="2417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0004" y="2897581"/>
            <a:ext cx="838580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805" dirty="0">
                <a:solidFill>
                  <a:srgbClr val="FFFFFF"/>
                </a:solidFill>
              </a:rPr>
              <a:t>STORAGE</a:t>
            </a:r>
            <a:r>
              <a:rPr sz="6000" spc="5" dirty="0">
                <a:solidFill>
                  <a:srgbClr val="FFFFFF"/>
                </a:solidFill>
              </a:rPr>
              <a:t> </a:t>
            </a:r>
            <a:r>
              <a:rPr sz="6000" spc="-655" dirty="0">
                <a:solidFill>
                  <a:srgbClr val="FFFFFF"/>
                </a:solidFill>
              </a:rPr>
              <a:t>VIRTUALIZATION</a:t>
            </a:r>
            <a:endParaRPr sz="6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5100" y="246710"/>
            <a:ext cx="67163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645" dirty="0">
                <a:solidFill>
                  <a:srgbClr val="386E52"/>
                </a:solidFill>
              </a:rPr>
              <a:t>STORAGE</a:t>
            </a:r>
            <a:r>
              <a:rPr sz="4800" spc="10" dirty="0">
                <a:solidFill>
                  <a:srgbClr val="386E52"/>
                </a:solidFill>
              </a:rPr>
              <a:t> </a:t>
            </a:r>
            <a:r>
              <a:rPr sz="4800" spc="-525" dirty="0">
                <a:solidFill>
                  <a:srgbClr val="386E52"/>
                </a:solidFill>
              </a:rPr>
              <a:t>VIRTUALIZATION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99033" y="1438478"/>
            <a:ext cx="6413500" cy="478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</a:t>
            </a:r>
            <a:r>
              <a:rPr sz="2400" spc="-40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torage</a:t>
            </a:r>
            <a:r>
              <a:rPr sz="2400" spc="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capacity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1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pooled</a:t>
            </a:r>
            <a:r>
              <a:rPr sz="24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1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distributed</a:t>
            </a:r>
            <a:r>
              <a:rPr sz="2400" spc="-1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endParaRPr sz="2400">
              <a:latin typeface="Leelawadee UI"/>
              <a:cs typeface="Leelawadee UI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VMs</a:t>
            </a:r>
            <a:endParaRPr sz="2400">
              <a:latin typeface="Leelawadee UI"/>
              <a:cs typeface="Leelawadee UI"/>
            </a:endParaRPr>
          </a:p>
          <a:p>
            <a:pPr marL="1384300" marR="977900" lvl="1" indent="205740" algn="just">
              <a:lnSpc>
                <a:spcPct val="100000"/>
              </a:lnSpc>
              <a:buChar char="-"/>
              <a:tabLst>
                <a:tab pos="159004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Physical</a:t>
            </a:r>
            <a:r>
              <a:rPr sz="24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storage</a:t>
            </a:r>
            <a:r>
              <a:rPr sz="2400" spc="1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devices</a:t>
            </a:r>
            <a:r>
              <a:rPr sz="2400" spc="3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are 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partitioned</a:t>
            </a:r>
            <a:r>
              <a:rPr sz="2400" spc="-1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into</a:t>
            </a:r>
            <a:r>
              <a:rPr sz="2400" spc="-10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logical</a:t>
            </a:r>
            <a:r>
              <a:rPr sz="2400" spc="-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storage 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(</a:t>
            </a:r>
            <a:r>
              <a:rPr sz="2400" b="1" spc="50" dirty="0">
                <a:solidFill>
                  <a:srgbClr val="386E52"/>
                </a:solidFill>
                <a:latin typeface="Trebuchet MS"/>
                <a:cs typeface="Trebuchet MS"/>
              </a:rPr>
              <a:t>LUNs</a:t>
            </a:r>
            <a:r>
              <a:rPr sz="2400" b="1" spc="-49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)</a:t>
            </a:r>
            <a:endParaRPr sz="2400">
              <a:latin typeface="Leelawadee UI"/>
              <a:cs typeface="Leelawadee UI"/>
            </a:endParaRPr>
          </a:p>
          <a:p>
            <a:pPr marL="1590040" lvl="1" indent="-205740">
              <a:lnSpc>
                <a:spcPct val="100000"/>
              </a:lnSpc>
              <a:buChar char="-"/>
              <a:tabLst>
                <a:tab pos="159004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LUNs</a:t>
            </a:r>
            <a:r>
              <a:rPr sz="2400" spc="2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400" spc="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used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create</a:t>
            </a:r>
            <a:r>
              <a:rPr sz="2400" spc="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endParaRPr sz="2400">
              <a:latin typeface="Leelawadee UI"/>
              <a:cs typeface="Leelawadee UI"/>
            </a:endParaRPr>
          </a:p>
          <a:p>
            <a:pPr marL="927100">
              <a:lnSpc>
                <a:spcPct val="100000"/>
              </a:lnSpc>
            </a:pPr>
            <a:r>
              <a:rPr sz="2400" b="1" spc="-10" dirty="0">
                <a:solidFill>
                  <a:srgbClr val="386E52"/>
                </a:solidFill>
                <a:latin typeface="Trebuchet MS"/>
                <a:cs typeface="Trebuchet MS"/>
              </a:rPr>
              <a:t>datastore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00">
              <a:latin typeface="Trebuchet MS"/>
              <a:cs typeface="Trebuchet MS"/>
            </a:endParaRPr>
          </a:p>
          <a:p>
            <a:pPr marL="393700" indent="-381000">
              <a:lnSpc>
                <a:spcPts val="2820"/>
              </a:lnSpc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How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do</a:t>
            </a:r>
            <a:r>
              <a:rPr sz="2400" spc="-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VMs</a:t>
            </a:r>
            <a:r>
              <a:rPr sz="2400" spc="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80" dirty="0">
                <a:solidFill>
                  <a:srgbClr val="386E52"/>
                </a:solidFill>
                <a:latin typeface="Leelawadee UI"/>
                <a:cs typeface="Leelawadee UI"/>
              </a:rPr>
              <a:t>access</a:t>
            </a:r>
            <a:r>
              <a:rPr sz="2400" spc="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center</a:t>
            </a:r>
            <a:r>
              <a:rPr sz="2400" spc="-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storage?</a:t>
            </a:r>
            <a:endParaRPr sz="2400">
              <a:latin typeface="Leelawadee UI"/>
              <a:cs typeface="Leelawadee UI"/>
            </a:endParaRPr>
          </a:p>
          <a:p>
            <a:pPr marL="1384300" marR="330200" lvl="1" indent="205740">
              <a:lnSpc>
                <a:spcPts val="2900"/>
              </a:lnSpc>
              <a:spcBef>
                <a:spcPts val="120"/>
              </a:spcBef>
              <a:buChar char="-"/>
              <a:tabLst>
                <a:tab pos="159004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VMs</a:t>
            </a:r>
            <a:r>
              <a:rPr sz="2400" spc="1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400" spc="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stored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as</a:t>
            </a:r>
            <a:r>
              <a:rPr sz="2400" spc="1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VMDK</a:t>
            </a:r>
            <a:r>
              <a:rPr sz="24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(.</a:t>
            </a:r>
            <a:r>
              <a:rPr sz="2500" i="1" spc="-10" dirty="0">
                <a:solidFill>
                  <a:srgbClr val="386E52"/>
                </a:solidFill>
                <a:latin typeface="Trebuchet MS"/>
                <a:cs typeface="Trebuchet MS"/>
              </a:rPr>
              <a:t>vmdk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)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files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400" spc="-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datastore</a:t>
            </a:r>
            <a:endParaRPr sz="2400">
              <a:latin typeface="Leelawadee UI"/>
              <a:cs typeface="Leelawadee UI"/>
            </a:endParaRPr>
          </a:p>
          <a:p>
            <a:pPr marL="1590040" lvl="1" indent="-205740">
              <a:lnSpc>
                <a:spcPts val="2725"/>
              </a:lnSpc>
              <a:buChar char="-"/>
              <a:tabLst>
                <a:tab pos="159004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VM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configuration</a:t>
            </a:r>
            <a:r>
              <a:rPr sz="24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files</a:t>
            </a:r>
            <a:r>
              <a:rPr sz="2400" spc="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(VM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settings)</a:t>
            </a:r>
            <a:endParaRPr sz="2400">
              <a:latin typeface="Leelawadee UI"/>
              <a:cs typeface="Leelawadee UI"/>
            </a:endParaRPr>
          </a:p>
          <a:p>
            <a:pPr marL="1384300">
              <a:lnSpc>
                <a:spcPts val="2940"/>
              </a:lnSpc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4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stored</a:t>
            </a:r>
            <a:r>
              <a:rPr sz="24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as</a:t>
            </a:r>
            <a:r>
              <a:rPr sz="2400" spc="1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VMX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(.</a:t>
            </a:r>
            <a:r>
              <a:rPr sz="2500" i="1" spc="-25" dirty="0">
                <a:solidFill>
                  <a:srgbClr val="386E52"/>
                </a:solidFill>
                <a:latin typeface="Trebuchet MS"/>
                <a:cs typeface="Trebuchet MS"/>
              </a:rPr>
              <a:t>vmx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)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files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8331" y="1321308"/>
            <a:ext cx="4329683" cy="39029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6233" y="588645"/>
            <a:ext cx="69437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35" dirty="0">
                <a:solidFill>
                  <a:srgbClr val="386E52"/>
                </a:solidFill>
              </a:rPr>
              <a:t>NETWORK</a:t>
            </a:r>
            <a:r>
              <a:rPr sz="4800" spc="-10" dirty="0">
                <a:solidFill>
                  <a:srgbClr val="386E52"/>
                </a:solidFill>
              </a:rPr>
              <a:t> </a:t>
            </a:r>
            <a:r>
              <a:rPr sz="4800" spc="-525" dirty="0">
                <a:solidFill>
                  <a:srgbClr val="386E52"/>
                </a:solidFill>
              </a:rPr>
              <a:t>VIRTUALIZATION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795019" y="1479931"/>
            <a:ext cx="6399530" cy="457835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93700" marR="59055" indent="-381635">
              <a:lnSpc>
                <a:spcPts val="2530"/>
              </a:lnSpc>
              <a:spcBef>
                <a:spcPts val="21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Physical</a:t>
            </a:r>
            <a:r>
              <a:rPr sz="21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components</a:t>
            </a:r>
            <a:r>
              <a:rPr sz="2100" spc="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1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make</a:t>
            </a:r>
            <a:r>
              <a:rPr sz="2100" spc="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up</a:t>
            </a:r>
            <a:r>
              <a:rPr sz="21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physical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network</a:t>
            </a:r>
            <a:r>
              <a:rPr sz="2100" spc="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100" spc="1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virtualized</a:t>
            </a:r>
            <a:r>
              <a:rPr sz="21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1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create</a:t>
            </a:r>
            <a:r>
              <a:rPr sz="2100" spc="1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100" spc="1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250" i="1" spc="-140" dirty="0">
                <a:solidFill>
                  <a:srgbClr val="386E52"/>
                </a:solidFill>
                <a:latin typeface="Trebuchet MS"/>
                <a:cs typeface="Trebuchet MS"/>
              </a:rPr>
              <a:t>virtual</a:t>
            </a:r>
            <a:r>
              <a:rPr sz="2250" i="1" spc="-6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250" i="1" spc="-75" dirty="0">
                <a:solidFill>
                  <a:srgbClr val="386E52"/>
                </a:solidFill>
                <a:latin typeface="Trebuchet MS"/>
                <a:cs typeface="Trebuchet MS"/>
              </a:rPr>
              <a:t>network</a:t>
            </a:r>
            <a:endParaRPr sz="2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386E52"/>
              </a:buClr>
              <a:buFont typeface="Microsoft Sans Serif"/>
              <a:buChar char="•"/>
            </a:pPr>
            <a:endParaRPr sz="2100">
              <a:latin typeface="Trebuchet MS"/>
              <a:cs typeface="Trebuchet MS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What</a:t>
            </a:r>
            <a:r>
              <a:rPr sz="21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100" spc="1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100" spc="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vS</a:t>
            </a:r>
            <a:r>
              <a:rPr sz="2100" spc="-3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witch?</a:t>
            </a:r>
            <a:endParaRPr sz="2100">
              <a:latin typeface="Leelawadee UI"/>
              <a:cs typeface="Leelawadee UI"/>
            </a:endParaRPr>
          </a:p>
          <a:p>
            <a:pPr marL="2755900" marR="83185" indent="457200">
              <a:lnSpc>
                <a:spcPct val="101400"/>
              </a:lnSpc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-</a:t>
            </a:r>
            <a:r>
              <a:rPr sz="21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Virtual</a:t>
            </a:r>
            <a:r>
              <a:rPr sz="21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switch</a:t>
            </a:r>
            <a:r>
              <a:rPr sz="21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1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virtual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devices</a:t>
            </a:r>
            <a:r>
              <a:rPr sz="2100" spc="3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can</a:t>
            </a:r>
            <a:endParaRPr sz="2100">
              <a:latin typeface="Leelawadee UI"/>
              <a:cs typeface="Leelawadee UI"/>
            </a:endParaRPr>
          </a:p>
          <a:p>
            <a:pPr marL="2755900" marR="624205" indent="457200">
              <a:lnSpc>
                <a:spcPct val="101400"/>
              </a:lnSpc>
              <a:spcBef>
                <a:spcPts val="15"/>
              </a:spcBef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connect</a:t>
            </a:r>
            <a:r>
              <a:rPr sz="21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1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in</a:t>
            </a:r>
            <a:r>
              <a:rPr sz="21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order</a:t>
            </a:r>
            <a:r>
              <a:rPr sz="21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to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communicate</a:t>
            </a:r>
            <a:endParaRPr sz="2100">
              <a:latin typeface="Leelawadee UI"/>
              <a:cs typeface="Leelawadee UI"/>
            </a:endParaRPr>
          </a:p>
          <a:p>
            <a:pPr marL="3213100">
              <a:lnSpc>
                <a:spcPct val="100000"/>
              </a:lnSpc>
              <a:spcBef>
                <a:spcPts val="35"/>
              </a:spcBef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with</a:t>
            </a:r>
            <a:r>
              <a:rPr sz="2100" spc="-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50" dirty="0">
                <a:solidFill>
                  <a:srgbClr val="386E52"/>
                </a:solidFill>
                <a:latin typeface="Leelawadee UI"/>
                <a:cs typeface="Leelawadee UI"/>
              </a:rPr>
              <a:t>each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0" dirty="0">
                <a:solidFill>
                  <a:srgbClr val="386E52"/>
                </a:solidFill>
                <a:latin typeface="Leelawadee UI"/>
                <a:cs typeface="Leelawadee UI"/>
              </a:rPr>
              <a:t>other</a:t>
            </a:r>
            <a:endParaRPr sz="2100">
              <a:latin typeface="Leelawadee UI"/>
              <a:cs typeface="Leelawadee UI"/>
            </a:endParaRPr>
          </a:p>
          <a:p>
            <a:pPr marL="393700" indent="-381000">
              <a:lnSpc>
                <a:spcPct val="100000"/>
              </a:lnSpc>
              <a:spcBef>
                <a:spcPts val="2605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What</a:t>
            </a:r>
            <a:r>
              <a:rPr sz="21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100" spc="1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100" spc="1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vLAN?</a:t>
            </a:r>
            <a:endParaRPr sz="2100">
              <a:latin typeface="Leelawadee UI"/>
              <a:cs typeface="Leelawadee UI"/>
            </a:endParaRPr>
          </a:p>
          <a:p>
            <a:pPr marL="12700" marR="5080" indent="457200">
              <a:lnSpc>
                <a:spcPct val="98300"/>
              </a:lnSpc>
              <a:spcBef>
                <a:spcPts val="80"/>
              </a:spcBef>
              <a:tabLst>
                <a:tab pos="2298700" algn="l"/>
                <a:tab pos="3670300" algn="l"/>
                <a:tab pos="5042535" algn="l"/>
              </a:tabLst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-</a:t>
            </a:r>
            <a:r>
              <a:rPr sz="2100" spc="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Virtual</a:t>
            </a:r>
            <a:r>
              <a:rPr sz="2100" spc="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Local</a:t>
            </a:r>
            <a:r>
              <a:rPr sz="2100" spc="-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Area</a:t>
            </a:r>
            <a:r>
              <a:rPr sz="2100" spc="1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Network</a:t>
            </a:r>
            <a:r>
              <a:rPr sz="21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1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	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segmented </a:t>
            </a:r>
            <a:r>
              <a:rPr sz="2100" spc="-35" dirty="0">
                <a:solidFill>
                  <a:srgbClr val="386E52"/>
                </a:solidFill>
                <a:latin typeface="Leelawadee UI"/>
                <a:cs typeface="Leelawadee UI"/>
              </a:rPr>
              <a:t>into</a:t>
            </a:r>
            <a:r>
              <a:rPr sz="2100" spc="-1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groups</a:t>
            </a:r>
            <a:r>
              <a:rPr sz="21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100" spc="-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ports</a:t>
            </a:r>
            <a:r>
              <a:rPr sz="21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isolated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	</a:t>
            </a:r>
            <a:r>
              <a:rPr sz="2100" spc="-20" dirty="0">
                <a:solidFill>
                  <a:srgbClr val="386E52"/>
                </a:solidFill>
                <a:latin typeface="Leelawadee UI"/>
                <a:cs typeface="Leelawadee UI"/>
              </a:rPr>
              <a:t>from</a:t>
            </a:r>
            <a:r>
              <a:rPr sz="21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one</a:t>
            </a:r>
            <a:r>
              <a:rPr sz="21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another,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creating</a:t>
            </a:r>
            <a:r>
              <a:rPr sz="21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different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	network</a:t>
            </a:r>
            <a:r>
              <a:rPr sz="21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250" i="1" spc="-10" dirty="0">
                <a:solidFill>
                  <a:srgbClr val="386E52"/>
                </a:solidFill>
                <a:latin typeface="Trebuchet MS"/>
                <a:cs typeface="Trebuchet MS"/>
              </a:rPr>
              <a:t>segments</a:t>
            </a:r>
            <a:endParaRPr sz="22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592" y="1242060"/>
            <a:ext cx="5393436" cy="40568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7673" y="527126"/>
            <a:ext cx="7756525" cy="742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78430" algn="l"/>
              </a:tabLst>
            </a:pPr>
            <a:r>
              <a:rPr sz="4700" spc="-805" dirty="0">
                <a:solidFill>
                  <a:srgbClr val="386E52"/>
                </a:solidFill>
              </a:rPr>
              <a:t>TYPES</a:t>
            </a:r>
            <a:r>
              <a:rPr sz="4700" spc="-20" dirty="0">
                <a:solidFill>
                  <a:srgbClr val="386E52"/>
                </a:solidFill>
              </a:rPr>
              <a:t> </a:t>
            </a:r>
            <a:r>
              <a:rPr sz="4700" spc="-450" dirty="0">
                <a:solidFill>
                  <a:srgbClr val="386E52"/>
                </a:solidFill>
              </a:rPr>
              <a:t>OF</a:t>
            </a:r>
            <a:r>
              <a:rPr sz="4700" dirty="0">
                <a:solidFill>
                  <a:srgbClr val="386E52"/>
                </a:solidFill>
              </a:rPr>
              <a:t>	</a:t>
            </a:r>
            <a:r>
              <a:rPr sz="4700" spc="-600" dirty="0">
                <a:solidFill>
                  <a:srgbClr val="386E52"/>
                </a:solidFill>
              </a:rPr>
              <a:t>VIRTUAL</a:t>
            </a:r>
            <a:r>
              <a:rPr sz="4700" spc="5" dirty="0">
                <a:solidFill>
                  <a:srgbClr val="386E52"/>
                </a:solidFill>
              </a:rPr>
              <a:t> </a:t>
            </a:r>
            <a:r>
              <a:rPr sz="4700" spc="-565" dirty="0">
                <a:solidFill>
                  <a:srgbClr val="386E52"/>
                </a:solidFill>
              </a:rPr>
              <a:t>NETWORKS</a:t>
            </a:r>
            <a:endParaRPr sz="4700"/>
          </a:p>
        </p:txBody>
      </p:sp>
      <p:sp>
        <p:nvSpPr>
          <p:cNvPr id="3" name="object 3"/>
          <p:cNvSpPr txBox="1"/>
          <p:nvPr/>
        </p:nvSpPr>
        <p:spPr>
          <a:xfrm>
            <a:off x="847140" y="1569466"/>
            <a:ext cx="6694170" cy="457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0" marR="38100" indent="-381000">
              <a:lnSpc>
                <a:spcPct val="101499"/>
              </a:lnSpc>
              <a:spcBef>
                <a:spcPts val="95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100" b="1" spc="45" dirty="0">
                <a:solidFill>
                  <a:srgbClr val="386E52"/>
                </a:solidFill>
                <a:latin typeface="Trebuchet MS"/>
                <a:cs typeface="Trebuchet MS"/>
              </a:rPr>
              <a:t>Bridged</a:t>
            </a:r>
            <a:r>
              <a:rPr sz="2100" b="1" spc="-1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386E52"/>
                </a:solidFill>
                <a:latin typeface="Trebuchet MS"/>
                <a:cs typeface="Trebuchet MS"/>
              </a:rPr>
              <a:t>Network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21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1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host</a:t>
            </a:r>
            <a:r>
              <a:rPr sz="21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server</a:t>
            </a:r>
            <a:r>
              <a:rPr sz="2100" spc="1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100" spc="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1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VM</a:t>
            </a:r>
            <a:r>
              <a:rPr sz="2100" spc="1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are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connected</a:t>
            </a:r>
            <a:r>
              <a:rPr sz="21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100" spc="-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60" dirty="0">
                <a:solidFill>
                  <a:srgbClr val="386E52"/>
                </a:solidFill>
                <a:latin typeface="Leelawadee UI"/>
                <a:cs typeface="Leelawadee UI"/>
              </a:rPr>
              <a:t>same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network,</a:t>
            </a:r>
            <a:r>
              <a:rPr sz="2100" spc="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1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host</a:t>
            </a:r>
            <a:r>
              <a:rPr sz="21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shares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its</a:t>
            </a:r>
            <a:r>
              <a:rPr sz="21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IP</a:t>
            </a:r>
            <a:r>
              <a:rPr sz="21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address</a:t>
            </a:r>
            <a:r>
              <a:rPr sz="2100" spc="2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with</a:t>
            </a:r>
            <a:r>
              <a:rPr sz="2100" spc="-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VM</a:t>
            </a:r>
            <a:endParaRPr sz="2100">
              <a:latin typeface="Leelawadee UI"/>
              <a:cs typeface="Leelawadee UI"/>
            </a:endParaRPr>
          </a:p>
          <a:p>
            <a:pPr>
              <a:lnSpc>
                <a:spcPct val="100000"/>
              </a:lnSpc>
              <a:spcBef>
                <a:spcPts val="2325"/>
              </a:spcBef>
              <a:buClr>
                <a:srgbClr val="386E52"/>
              </a:buClr>
              <a:buFont typeface="Microsoft Sans Serif"/>
              <a:buChar char="•"/>
            </a:pPr>
            <a:endParaRPr sz="2100">
              <a:latin typeface="Leelawadee UI"/>
              <a:cs typeface="Leelawadee UI"/>
            </a:endParaRPr>
          </a:p>
          <a:p>
            <a:pPr marL="393700" marR="342265" indent="-381000">
              <a:lnSpc>
                <a:spcPct val="101699"/>
              </a:lnSpc>
              <a:buFont typeface="Microsoft Sans Serif"/>
              <a:buChar char="•"/>
              <a:tabLst>
                <a:tab pos="393700" algn="l"/>
              </a:tabLst>
            </a:pPr>
            <a:r>
              <a:rPr sz="2100" b="1" spc="70" dirty="0">
                <a:solidFill>
                  <a:srgbClr val="386E52"/>
                </a:solidFill>
                <a:latin typeface="Trebuchet MS"/>
                <a:cs typeface="Trebuchet MS"/>
              </a:rPr>
              <a:t>NAT</a:t>
            </a:r>
            <a:r>
              <a:rPr sz="2100" spc="7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2100" spc="10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VMs</a:t>
            </a:r>
            <a:r>
              <a:rPr sz="2100" spc="25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use</a:t>
            </a:r>
            <a:r>
              <a:rPr sz="2100" spc="1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an</a:t>
            </a:r>
            <a:r>
              <a:rPr sz="2100" spc="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IP</a:t>
            </a:r>
            <a:r>
              <a:rPr sz="21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translated</a:t>
            </a:r>
            <a:r>
              <a:rPr sz="21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0" dirty="0">
                <a:solidFill>
                  <a:srgbClr val="386E52"/>
                </a:solidFill>
                <a:latin typeface="Leelawadee UI"/>
                <a:cs typeface="Leelawadee UI"/>
              </a:rPr>
              <a:t>from</a:t>
            </a:r>
            <a:r>
              <a:rPr sz="2100" spc="-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host’s</a:t>
            </a:r>
            <a:r>
              <a:rPr sz="2100" spc="1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IP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(using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NAT</a:t>
            </a:r>
            <a:r>
              <a:rPr sz="2100" spc="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device)</a:t>
            </a:r>
            <a:r>
              <a:rPr sz="2100" spc="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1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communicate</a:t>
            </a:r>
            <a:r>
              <a:rPr sz="21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1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100" spc="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private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network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set</a:t>
            </a:r>
            <a:r>
              <a:rPr sz="21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up</a:t>
            </a:r>
            <a:r>
              <a:rPr sz="21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1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host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 computer</a:t>
            </a:r>
            <a:endParaRPr sz="2100">
              <a:latin typeface="Leelawadee UI"/>
              <a:cs typeface="Leelawadee UI"/>
            </a:endParaRPr>
          </a:p>
          <a:p>
            <a:pPr>
              <a:lnSpc>
                <a:spcPct val="100000"/>
              </a:lnSpc>
              <a:spcBef>
                <a:spcPts val="2330"/>
              </a:spcBef>
              <a:buClr>
                <a:srgbClr val="386E52"/>
              </a:buClr>
              <a:buFont typeface="Microsoft Sans Serif"/>
              <a:buChar char="•"/>
            </a:pPr>
            <a:endParaRPr sz="2100">
              <a:latin typeface="Leelawadee UI"/>
              <a:cs typeface="Leelawadee UI"/>
            </a:endParaRPr>
          </a:p>
          <a:p>
            <a:pPr marL="393700" marR="5080" indent="-381000" algn="just">
              <a:lnSpc>
                <a:spcPct val="101600"/>
              </a:lnSpc>
              <a:buFont typeface="Microsoft Sans Serif"/>
              <a:buChar char="•"/>
              <a:tabLst>
                <a:tab pos="393700" algn="l"/>
                <a:tab pos="395605" algn="l"/>
              </a:tabLst>
            </a:pPr>
            <a:r>
              <a:rPr sz="2100" dirty="0">
                <a:solidFill>
                  <a:srgbClr val="386E52"/>
                </a:solidFill>
                <a:latin typeface="Trebuchet MS"/>
                <a:cs typeface="Trebuchet MS"/>
              </a:rPr>
              <a:t>	</a:t>
            </a:r>
            <a:r>
              <a:rPr sz="2100" b="1" spc="100" dirty="0">
                <a:solidFill>
                  <a:srgbClr val="386E52"/>
                </a:solidFill>
                <a:latin typeface="Trebuchet MS"/>
                <a:cs typeface="Trebuchet MS"/>
              </a:rPr>
              <a:t>Host-</a:t>
            </a:r>
            <a:r>
              <a:rPr sz="2100" b="1" spc="50" dirty="0">
                <a:solidFill>
                  <a:srgbClr val="386E52"/>
                </a:solidFill>
                <a:latin typeface="Trebuchet MS"/>
                <a:cs typeface="Trebuchet MS"/>
              </a:rPr>
              <a:t>only</a:t>
            </a:r>
            <a:r>
              <a:rPr sz="2100" b="1" spc="-1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386E52"/>
                </a:solidFill>
                <a:latin typeface="Trebuchet MS"/>
                <a:cs typeface="Trebuchet MS"/>
              </a:rPr>
              <a:t>Network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2100" spc="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VMs</a:t>
            </a:r>
            <a:r>
              <a:rPr sz="2100" spc="2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use</a:t>
            </a:r>
            <a:r>
              <a:rPr sz="2100" spc="1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100" spc="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private</a:t>
            </a:r>
            <a:r>
              <a:rPr sz="2100" spc="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network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but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do</a:t>
            </a:r>
            <a:r>
              <a:rPr sz="21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0" dirty="0">
                <a:solidFill>
                  <a:srgbClr val="386E52"/>
                </a:solidFill>
                <a:latin typeface="Leelawadee UI"/>
                <a:cs typeface="Leelawadee UI"/>
              </a:rPr>
              <a:t>not</a:t>
            </a:r>
            <a:r>
              <a:rPr sz="21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have</a:t>
            </a:r>
            <a:r>
              <a:rPr sz="2100" spc="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translated</a:t>
            </a:r>
            <a:r>
              <a:rPr sz="21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IP</a:t>
            </a:r>
            <a:r>
              <a:rPr sz="2100" spc="45" dirty="0">
                <a:solidFill>
                  <a:srgbClr val="386E52"/>
                </a:solidFill>
                <a:latin typeface="Leelawadee UI"/>
                <a:cs typeface="Leelawadee UI"/>
              </a:rPr>
              <a:t> addresses</a:t>
            </a:r>
            <a:r>
              <a:rPr sz="2100" spc="1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1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connect</a:t>
            </a:r>
            <a:r>
              <a:rPr sz="21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1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an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external</a:t>
            </a:r>
            <a:r>
              <a:rPr sz="2100" spc="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network,</a:t>
            </a:r>
            <a:r>
              <a:rPr sz="21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therefore</a:t>
            </a:r>
            <a:r>
              <a:rPr sz="2100" spc="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can</a:t>
            </a:r>
            <a:r>
              <a:rPr sz="21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only</a:t>
            </a:r>
            <a:r>
              <a:rPr sz="21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communicate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25" dirty="0">
                <a:solidFill>
                  <a:srgbClr val="386E52"/>
                </a:solidFill>
                <a:latin typeface="Leelawadee UI"/>
                <a:cs typeface="Leelawadee UI"/>
              </a:rPr>
              <a:t>to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other VMs</a:t>
            </a:r>
            <a:r>
              <a:rPr sz="2100" spc="1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1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isolated</a:t>
            </a:r>
            <a:r>
              <a:rPr sz="21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host</a:t>
            </a:r>
            <a:r>
              <a:rPr sz="21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network</a:t>
            </a:r>
            <a:endParaRPr sz="21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3676" y="1187196"/>
            <a:ext cx="4582668" cy="166573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581900" y="2939795"/>
            <a:ext cx="3832860" cy="3270885"/>
            <a:chOff x="7581900" y="2939795"/>
            <a:chExt cx="3832860" cy="327088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1900" y="2939795"/>
              <a:ext cx="3832859" cy="13944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1900" y="4425695"/>
              <a:ext cx="3796284" cy="178460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4567" y="677926"/>
            <a:ext cx="8866505" cy="594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spc="-375" dirty="0">
                <a:solidFill>
                  <a:srgbClr val="386E52"/>
                </a:solidFill>
              </a:rPr>
              <a:t>APPLICATION</a:t>
            </a:r>
            <a:r>
              <a:rPr sz="3700" spc="-45" dirty="0">
                <a:solidFill>
                  <a:srgbClr val="386E52"/>
                </a:solidFill>
              </a:rPr>
              <a:t> </a:t>
            </a:r>
            <a:r>
              <a:rPr sz="3700" spc="-290" dirty="0">
                <a:solidFill>
                  <a:srgbClr val="386E52"/>
                </a:solidFill>
              </a:rPr>
              <a:t>AND</a:t>
            </a:r>
            <a:r>
              <a:rPr sz="3700" spc="5" dirty="0">
                <a:solidFill>
                  <a:srgbClr val="386E52"/>
                </a:solidFill>
              </a:rPr>
              <a:t> </a:t>
            </a:r>
            <a:r>
              <a:rPr sz="3700" spc="-525" dirty="0">
                <a:solidFill>
                  <a:srgbClr val="386E52"/>
                </a:solidFill>
              </a:rPr>
              <a:t>DESKTOP</a:t>
            </a:r>
            <a:r>
              <a:rPr sz="3700" dirty="0">
                <a:solidFill>
                  <a:srgbClr val="386E52"/>
                </a:solidFill>
              </a:rPr>
              <a:t> </a:t>
            </a:r>
            <a:r>
              <a:rPr sz="3700" spc="-385" dirty="0">
                <a:solidFill>
                  <a:srgbClr val="386E52"/>
                </a:solidFill>
              </a:rPr>
              <a:t>VIRTUALIZATION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1025753" y="1675638"/>
            <a:ext cx="10379710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Why</a:t>
            </a:r>
            <a:r>
              <a:rPr sz="24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use</a:t>
            </a:r>
            <a:r>
              <a:rPr sz="2400" spc="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virtualized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applications?</a:t>
            </a:r>
            <a:endParaRPr sz="2400">
              <a:latin typeface="Leelawadee UI"/>
              <a:cs typeface="Leelawadee UI"/>
            </a:endParaRPr>
          </a:p>
          <a:p>
            <a:pPr marL="1134110" lvl="1" indent="-207010">
              <a:lnSpc>
                <a:spcPct val="100000"/>
              </a:lnSpc>
              <a:buChar char="-"/>
              <a:tabLst>
                <a:tab pos="113411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Some</a:t>
            </a:r>
            <a:r>
              <a:rPr sz="2400" spc="1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applications</a:t>
            </a:r>
            <a:r>
              <a:rPr sz="2400" spc="2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have</a:t>
            </a:r>
            <a:r>
              <a:rPr sz="2400" spc="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specific</a:t>
            </a:r>
            <a:r>
              <a:rPr sz="2400" spc="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system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requirements</a:t>
            </a:r>
            <a:endParaRPr sz="2400">
              <a:latin typeface="Leelawadee UI"/>
              <a:cs typeface="Leelawadee UI"/>
            </a:endParaRPr>
          </a:p>
          <a:p>
            <a:pPr marL="927100" marR="176530" lvl="1" indent="205740">
              <a:lnSpc>
                <a:spcPct val="100000"/>
              </a:lnSpc>
              <a:buChar char="-"/>
              <a:tabLst>
                <a:tab pos="113284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VMware</a:t>
            </a:r>
            <a:r>
              <a:rPr sz="2400" spc="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spc="45" dirty="0">
                <a:solidFill>
                  <a:srgbClr val="386E52"/>
                </a:solidFill>
                <a:latin typeface="Trebuchet MS"/>
                <a:cs typeface="Trebuchet MS"/>
              </a:rPr>
              <a:t>ThinApp</a:t>
            </a:r>
            <a:r>
              <a:rPr sz="2400" b="1" spc="-10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creates</a:t>
            </a:r>
            <a:r>
              <a:rPr sz="2400" spc="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packaged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virtual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app,</a:t>
            </a:r>
            <a:r>
              <a:rPr sz="2400" spc="1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400" spc="-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contains</a:t>
            </a:r>
            <a:r>
              <a:rPr sz="2400" spc="1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the 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program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system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requirements,</a:t>
            </a:r>
            <a:r>
              <a:rPr sz="2400" spc="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delivers</a:t>
            </a:r>
            <a:r>
              <a:rPr sz="2400" spc="2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it</a:t>
            </a:r>
            <a:r>
              <a:rPr sz="2400" spc="-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end-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user</a:t>
            </a:r>
            <a:endParaRPr sz="2400">
              <a:latin typeface="Leelawadee UI"/>
              <a:cs typeface="Leelawadee UI"/>
            </a:endParaRPr>
          </a:p>
          <a:p>
            <a:pPr marL="393700" indent="-381000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What</a:t>
            </a:r>
            <a:r>
              <a:rPr sz="2400" spc="-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1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desktop</a:t>
            </a:r>
            <a:r>
              <a:rPr sz="2400" spc="-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virtualization?</a:t>
            </a:r>
            <a:endParaRPr sz="2400">
              <a:latin typeface="Leelawadee UI"/>
              <a:cs typeface="Leelawadee UI"/>
            </a:endParaRPr>
          </a:p>
          <a:p>
            <a:pPr marL="927100" marR="391795" lvl="1" indent="205740">
              <a:lnSpc>
                <a:spcPct val="100000"/>
              </a:lnSpc>
              <a:buChar char="-"/>
              <a:tabLst>
                <a:tab pos="113284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Designed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solve</a:t>
            </a:r>
            <a:r>
              <a:rPr sz="2400" spc="1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computing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resource</a:t>
            </a:r>
            <a:r>
              <a:rPr sz="2400" spc="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issues</a:t>
            </a:r>
            <a:r>
              <a:rPr sz="2400" spc="2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faced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by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10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mobile workforce</a:t>
            </a:r>
            <a:r>
              <a:rPr sz="2400" spc="-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(workers</a:t>
            </a:r>
            <a:r>
              <a:rPr sz="2400" spc="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400" spc="-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need</a:t>
            </a:r>
            <a:r>
              <a:rPr sz="2400" spc="-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computing</a:t>
            </a:r>
            <a:r>
              <a:rPr sz="2400" spc="-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without</a:t>
            </a:r>
            <a:r>
              <a:rPr sz="2400" spc="-1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hardware)</a:t>
            </a:r>
            <a:endParaRPr sz="2400">
              <a:latin typeface="Leelawadee UI"/>
              <a:cs typeface="Leelawadee UI"/>
            </a:endParaRPr>
          </a:p>
          <a:p>
            <a:pPr marL="927100" marR="5080" lvl="1" indent="205740">
              <a:lnSpc>
                <a:spcPct val="100000"/>
              </a:lnSpc>
              <a:spcBef>
                <a:spcPts val="5"/>
              </a:spcBef>
              <a:buChar char="-"/>
              <a:tabLst>
                <a:tab pos="113284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VMware</a:t>
            </a:r>
            <a:r>
              <a:rPr sz="2400" spc="1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Horizon</a:t>
            </a:r>
            <a:r>
              <a:rPr sz="2400" b="1" spc="-2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takes</a:t>
            </a:r>
            <a:r>
              <a:rPr sz="2400" spc="2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resources</a:t>
            </a:r>
            <a:r>
              <a:rPr sz="2400" spc="2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needed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create</a:t>
            </a:r>
            <a:r>
              <a:rPr sz="2400" spc="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1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desktop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environment</a:t>
            </a:r>
            <a:r>
              <a:rPr sz="2400" spc="-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from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9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centers</a:t>
            </a:r>
            <a:r>
              <a:rPr sz="2400" spc="1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delivers</a:t>
            </a:r>
            <a:r>
              <a:rPr sz="2400" spc="1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it</a:t>
            </a:r>
            <a:r>
              <a:rPr sz="2400" spc="-1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8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end-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user’s</a:t>
            </a:r>
            <a:r>
              <a:rPr sz="2400" spc="1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device</a:t>
            </a:r>
            <a:endParaRPr sz="2400">
              <a:latin typeface="Leelawadee UI"/>
              <a:cs typeface="Leelawade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0004" y="3164281"/>
            <a:ext cx="55041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>
                <a:solidFill>
                  <a:srgbClr val="FFFFFF"/>
                </a:solidFill>
              </a:rPr>
              <a:t>WHAT</a:t>
            </a:r>
            <a:r>
              <a:rPr sz="4400" spc="-145" dirty="0">
                <a:solidFill>
                  <a:srgbClr val="FFFFFF"/>
                </a:solidFill>
              </a:rPr>
              <a:t> </a:t>
            </a:r>
            <a:r>
              <a:rPr sz="4400" dirty="0">
                <a:solidFill>
                  <a:srgbClr val="FFFFFF"/>
                </a:solidFill>
              </a:rPr>
              <a:t>IS</a:t>
            </a:r>
            <a:r>
              <a:rPr sz="4400" spc="-60" dirty="0">
                <a:solidFill>
                  <a:srgbClr val="FFFFFF"/>
                </a:solidFill>
              </a:rPr>
              <a:t> </a:t>
            </a:r>
            <a:r>
              <a:rPr sz="4400" dirty="0">
                <a:solidFill>
                  <a:srgbClr val="FFFFFF"/>
                </a:solidFill>
              </a:rPr>
              <a:t>CLOUD</a:t>
            </a:r>
            <a:r>
              <a:rPr sz="4400" spc="-70" dirty="0">
                <a:solidFill>
                  <a:srgbClr val="FFFFFF"/>
                </a:solidFill>
              </a:rPr>
              <a:t> </a:t>
            </a:r>
            <a:r>
              <a:rPr sz="4400" spc="-25" dirty="0">
                <a:solidFill>
                  <a:srgbClr val="FFFFFF"/>
                </a:solidFill>
              </a:rPr>
              <a:t>???</a:t>
            </a:r>
            <a:endParaRPr sz="4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oud A Beginner's Guide to Cloud Computing: Benefits - HiTech Blitz  Consul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7638"/>
            <a:ext cx="10287000" cy="625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476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3600" spc="-625" dirty="0">
                <a:solidFill>
                  <a:srgbClr val="386E52"/>
                </a:solidFill>
              </a:rPr>
              <a:t>THE</a:t>
            </a:r>
            <a:r>
              <a:rPr sz="3600" spc="-25" dirty="0">
                <a:solidFill>
                  <a:srgbClr val="386E52"/>
                </a:solidFill>
              </a:rPr>
              <a:t> </a:t>
            </a:r>
            <a:r>
              <a:rPr sz="3600" spc="-409" dirty="0">
                <a:solidFill>
                  <a:srgbClr val="386E52"/>
                </a:solidFill>
              </a:rPr>
              <a:t>CLOUD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5484" y="1097280"/>
            <a:ext cx="6547104" cy="43494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8002" y="2242565"/>
            <a:ext cx="473011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Cloud</a:t>
            </a:r>
            <a:r>
              <a:rPr sz="18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computing</a:t>
            </a:r>
            <a:r>
              <a:rPr sz="18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18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18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delivery</a:t>
            </a:r>
            <a:r>
              <a:rPr sz="18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18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u="sng" spc="-10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shared</a:t>
            </a:r>
            <a:r>
              <a:rPr sz="18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u="sng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computing</a:t>
            </a:r>
            <a:r>
              <a:rPr sz="1800" u="sng" spc="-75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 </a:t>
            </a:r>
            <a:r>
              <a:rPr sz="1800" u="sng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resources</a:t>
            </a:r>
            <a:r>
              <a:rPr sz="1800" u="sng" spc="-60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(software</a:t>
            </a:r>
            <a:r>
              <a:rPr sz="18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and/or</a:t>
            </a:r>
            <a:r>
              <a:rPr sz="18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86E52"/>
                </a:solidFill>
                <a:latin typeface="Leelawadee UI"/>
                <a:cs typeface="Leelawadee UI"/>
              </a:rPr>
              <a:t>data) on-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demand</a:t>
            </a:r>
            <a:r>
              <a:rPr sz="18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through</a:t>
            </a:r>
            <a:r>
              <a:rPr sz="18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18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1800" spc="-10" dirty="0">
                <a:solidFill>
                  <a:srgbClr val="386E52"/>
                </a:solidFill>
                <a:latin typeface="Leelawadee UI"/>
                <a:cs typeface="Leelawadee UI"/>
              </a:rPr>
              <a:t>internet</a:t>
            </a:r>
            <a:endParaRPr sz="1800">
              <a:latin typeface="Leelawadee UI"/>
              <a:cs typeface="Leelawade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" y="0"/>
              <a:ext cx="1166352" cy="23667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9396"/>
              <a:ext cx="219456" cy="6614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2084"/>
              <a:ext cx="24231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027" y="4867655"/>
              <a:ext cx="975845" cy="19903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71612" y="0"/>
              <a:ext cx="529304" cy="6263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2107" y="5551932"/>
              <a:ext cx="507492" cy="12969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1168" y="4572"/>
              <a:ext cx="384048" cy="17251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40668" y="4867655"/>
              <a:ext cx="384048" cy="19811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3251" y="1344136"/>
              <a:ext cx="10345229" cy="4899648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936" rIns="0" bIns="0" rtlCol="0">
            <a:spAutoFit/>
          </a:bodyPr>
          <a:lstStyle/>
          <a:p>
            <a:pPr marL="1001394">
              <a:lnSpc>
                <a:spcPct val="100000"/>
              </a:lnSpc>
              <a:spcBef>
                <a:spcPts val="100"/>
              </a:spcBef>
            </a:pPr>
            <a:r>
              <a:rPr sz="3600" spc="-229" dirty="0"/>
              <a:t>Cloud</a:t>
            </a:r>
            <a:r>
              <a:rPr sz="3600" spc="30" dirty="0"/>
              <a:t> </a:t>
            </a:r>
            <a:r>
              <a:rPr sz="3600" spc="-254" dirty="0"/>
              <a:t>computing</a:t>
            </a:r>
            <a:r>
              <a:rPr sz="3600" spc="30" dirty="0"/>
              <a:t> </a:t>
            </a:r>
            <a:r>
              <a:rPr sz="3600" spc="-235" dirty="0"/>
              <a:t>service</a:t>
            </a:r>
            <a:r>
              <a:rPr sz="3600" spc="20" dirty="0"/>
              <a:t> </a:t>
            </a:r>
            <a:r>
              <a:rPr sz="3600" spc="-300" dirty="0"/>
              <a:t>models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4911" y="571245"/>
            <a:ext cx="64852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55" dirty="0"/>
              <a:t>CLOUD</a:t>
            </a:r>
            <a:r>
              <a:rPr sz="3200" spc="25" dirty="0"/>
              <a:t> </a:t>
            </a:r>
            <a:r>
              <a:rPr sz="3200" spc="-295" dirty="0"/>
              <a:t>COMPUTING</a:t>
            </a:r>
            <a:r>
              <a:rPr sz="3200" spc="-20" dirty="0"/>
              <a:t> </a:t>
            </a:r>
            <a:r>
              <a:rPr sz="3200" spc="-525" dirty="0"/>
              <a:t>SERVICE</a:t>
            </a:r>
            <a:r>
              <a:rPr sz="3200" spc="-5" dirty="0"/>
              <a:t> </a:t>
            </a:r>
            <a:r>
              <a:rPr sz="3200" spc="-420" dirty="0"/>
              <a:t>MODELS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97432" y="1207343"/>
            <a:ext cx="10348595" cy="503618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55"/>
              </a:spcBef>
              <a:buSzPct val="123684"/>
              <a:buFont typeface="Microsoft Sans Serif"/>
              <a:buChar char="•"/>
              <a:tabLst>
                <a:tab pos="240665" algn="l"/>
              </a:tabLst>
            </a:pPr>
            <a:r>
              <a:rPr sz="1900" b="1" spc="-140" dirty="0">
                <a:latin typeface="Arial"/>
                <a:cs typeface="Arial"/>
              </a:rPr>
              <a:t>Software</a:t>
            </a:r>
            <a:r>
              <a:rPr sz="1900" b="1" spc="10" dirty="0">
                <a:latin typeface="Arial"/>
                <a:cs typeface="Arial"/>
              </a:rPr>
              <a:t> </a:t>
            </a:r>
            <a:r>
              <a:rPr sz="1900" b="1" spc="-165" dirty="0">
                <a:latin typeface="Arial"/>
                <a:cs typeface="Arial"/>
              </a:rPr>
              <a:t>as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spc="-165" dirty="0">
                <a:latin typeface="Arial"/>
                <a:cs typeface="Arial"/>
              </a:rPr>
              <a:t>service</a:t>
            </a:r>
            <a:r>
              <a:rPr sz="1900" b="1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(SaaS)</a:t>
            </a:r>
            <a:r>
              <a:rPr sz="1900" spc="-10" dirty="0">
                <a:latin typeface="Arial MT"/>
                <a:cs typeface="Arial MT"/>
              </a:rPr>
              <a:t>.</a:t>
            </a:r>
            <a:endParaRPr sz="19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725"/>
              </a:spcBef>
              <a:buSzPct val="123333"/>
              <a:buFont typeface="Microsoft Sans Serif"/>
              <a:buChar char="•"/>
              <a:tabLst>
                <a:tab pos="697865" algn="l"/>
              </a:tabLst>
            </a:pPr>
            <a:r>
              <a:rPr sz="1500" spc="-150" dirty="0">
                <a:latin typeface="Arial MT"/>
                <a:cs typeface="Arial MT"/>
              </a:rPr>
              <a:t>Customers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are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40" dirty="0">
                <a:latin typeface="Arial MT"/>
                <a:cs typeface="Arial MT"/>
              </a:rPr>
              <a:t>provided </a:t>
            </a:r>
            <a:r>
              <a:rPr sz="1500" spc="-165" dirty="0">
                <a:latin typeface="Arial MT"/>
                <a:cs typeface="Arial MT"/>
              </a:rPr>
              <a:t>access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b="1" spc="-90" dirty="0">
                <a:latin typeface="Arial"/>
                <a:cs typeface="Arial"/>
              </a:rPr>
              <a:t>an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spc="-100" dirty="0">
                <a:latin typeface="Arial"/>
                <a:cs typeface="Arial"/>
              </a:rPr>
              <a:t>application</a:t>
            </a:r>
            <a:r>
              <a:rPr sz="1500" b="1" spc="25" dirty="0">
                <a:latin typeface="Arial"/>
                <a:cs typeface="Arial"/>
              </a:rPr>
              <a:t> </a:t>
            </a:r>
            <a:r>
              <a:rPr sz="1500" spc="-110" dirty="0">
                <a:latin typeface="Arial MT"/>
                <a:cs typeface="Arial MT"/>
              </a:rPr>
              <a:t>running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on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cloud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infrastructure.</a:t>
            </a:r>
            <a:endParaRPr sz="1500">
              <a:latin typeface="Arial MT"/>
              <a:cs typeface="Arial MT"/>
            </a:endParaRPr>
          </a:p>
          <a:p>
            <a:pPr marL="749935" lvl="1" indent="-280670">
              <a:lnSpc>
                <a:spcPct val="100000"/>
              </a:lnSpc>
              <a:spcBef>
                <a:spcPts val="685"/>
              </a:spcBef>
              <a:buSzPct val="123333"/>
              <a:buFont typeface="Microsoft Sans Serif"/>
              <a:buChar char="•"/>
              <a:tabLst>
                <a:tab pos="749935" algn="l"/>
              </a:tabLst>
            </a:pPr>
            <a:r>
              <a:rPr sz="1500" spc="-50" dirty="0">
                <a:latin typeface="Arial MT"/>
                <a:cs typeface="Arial MT"/>
              </a:rPr>
              <a:t>but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the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customer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160" dirty="0">
                <a:latin typeface="Arial MT"/>
                <a:cs typeface="Arial MT"/>
              </a:rPr>
              <a:t>has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45" dirty="0">
                <a:latin typeface="Arial MT"/>
                <a:cs typeface="Arial MT"/>
              </a:rPr>
              <a:t>no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knowledge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of,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60" dirty="0">
                <a:latin typeface="Arial MT"/>
                <a:cs typeface="Arial MT"/>
              </a:rPr>
              <a:t>and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20" dirty="0">
                <a:latin typeface="Arial MT"/>
                <a:cs typeface="Arial MT"/>
              </a:rPr>
              <a:t>does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not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10" dirty="0">
                <a:latin typeface="Arial MT"/>
                <a:cs typeface="Arial MT"/>
              </a:rPr>
              <a:t>manage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or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control,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the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65" dirty="0">
                <a:latin typeface="Arial MT"/>
                <a:cs typeface="Arial MT"/>
              </a:rPr>
              <a:t>underlying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cloud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infrastructure.</a:t>
            </a:r>
            <a:endParaRPr sz="15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75"/>
              </a:spcBef>
              <a:buSzPct val="123684"/>
              <a:buFont typeface="Microsoft Sans Serif"/>
              <a:buChar char="•"/>
              <a:tabLst>
                <a:tab pos="240665" algn="l"/>
              </a:tabLst>
            </a:pPr>
            <a:r>
              <a:rPr sz="1900" b="1" spc="-135" dirty="0">
                <a:latin typeface="Arial"/>
                <a:cs typeface="Arial"/>
              </a:rPr>
              <a:t>Platform</a:t>
            </a:r>
            <a:r>
              <a:rPr sz="1900" b="1" spc="20" dirty="0">
                <a:latin typeface="Arial"/>
                <a:cs typeface="Arial"/>
              </a:rPr>
              <a:t> </a:t>
            </a:r>
            <a:r>
              <a:rPr sz="1900" b="1" spc="-165" dirty="0">
                <a:latin typeface="Arial"/>
                <a:cs typeface="Arial"/>
              </a:rPr>
              <a:t>as</a:t>
            </a:r>
            <a:r>
              <a:rPr sz="1900" b="1" spc="-2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</a:t>
            </a:r>
            <a:r>
              <a:rPr sz="1900" b="1" spc="-25" dirty="0">
                <a:latin typeface="Arial"/>
                <a:cs typeface="Arial"/>
              </a:rPr>
              <a:t> </a:t>
            </a:r>
            <a:r>
              <a:rPr sz="1900" b="1" spc="-165" dirty="0">
                <a:latin typeface="Arial"/>
                <a:cs typeface="Arial"/>
              </a:rPr>
              <a:t>service</a:t>
            </a:r>
            <a:r>
              <a:rPr sz="1900" b="1" spc="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(PaaS).</a:t>
            </a:r>
            <a:endParaRPr sz="1900">
              <a:latin typeface="Arial"/>
              <a:cs typeface="Arial"/>
            </a:endParaRPr>
          </a:p>
          <a:p>
            <a:pPr marL="697865" lvl="1" indent="-228600">
              <a:lnSpc>
                <a:spcPct val="100000"/>
              </a:lnSpc>
              <a:spcBef>
                <a:spcPts val="735"/>
              </a:spcBef>
              <a:buSzPct val="123333"/>
              <a:buFont typeface="Microsoft Sans Serif"/>
              <a:buChar char="•"/>
              <a:tabLst>
                <a:tab pos="697865" algn="l"/>
              </a:tabLst>
            </a:pPr>
            <a:r>
              <a:rPr sz="1500" spc="-150" dirty="0">
                <a:latin typeface="Arial MT"/>
                <a:cs typeface="Arial MT"/>
              </a:rPr>
              <a:t>Customers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can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b="1" spc="-105" dirty="0">
                <a:latin typeface="Arial"/>
                <a:cs typeface="Arial"/>
              </a:rPr>
              <a:t>deploy</a:t>
            </a:r>
            <a:r>
              <a:rPr sz="1500" b="1" spc="40" dirty="0">
                <a:latin typeface="Arial"/>
                <a:cs typeface="Arial"/>
              </a:rPr>
              <a:t> </a:t>
            </a:r>
            <a:r>
              <a:rPr sz="1500" b="1" spc="-130" dirty="0">
                <a:latin typeface="Arial"/>
                <a:cs typeface="Arial"/>
              </a:rPr>
              <a:t>supported</a:t>
            </a:r>
            <a:r>
              <a:rPr sz="1500" b="1" spc="45" dirty="0">
                <a:latin typeface="Arial"/>
                <a:cs typeface="Arial"/>
              </a:rPr>
              <a:t> </a:t>
            </a:r>
            <a:r>
              <a:rPr sz="1500" b="1" spc="-110" dirty="0">
                <a:latin typeface="Arial"/>
                <a:cs typeface="Arial"/>
              </a:rPr>
              <a:t>applications</a:t>
            </a:r>
            <a:r>
              <a:rPr sz="1500" b="1" spc="50" dirty="0">
                <a:latin typeface="Arial"/>
                <a:cs typeface="Arial"/>
              </a:rPr>
              <a:t> </a:t>
            </a:r>
            <a:r>
              <a:rPr sz="1500" spc="-100" dirty="0">
                <a:latin typeface="Arial MT"/>
                <a:cs typeface="Arial MT"/>
              </a:rPr>
              <a:t>onto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the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65" dirty="0">
                <a:latin typeface="Arial MT"/>
                <a:cs typeface="Arial MT"/>
              </a:rPr>
              <a:t>provider’s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cloud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infrastructure,</a:t>
            </a:r>
            <a:endParaRPr sz="1500">
              <a:latin typeface="Arial MT"/>
              <a:cs typeface="Arial MT"/>
            </a:endParaRPr>
          </a:p>
          <a:p>
            <a:pPr marL="749935" lvl="1" indent="-280670">
              <a:lnSpc>
                <a:spcPct val="100000"/>
              </a:lnSpc>
              <a:spcBef>
                <a:spcPts val="685"/>
              </a:spcBef>
              <a:buSzPct val="123333"/>
              <a:buFont typeface="Microsoft Sans Serif"/>
              <a:buChar char="•"/>
              <a:tabLst>
                <a:tab pos="749935" algn="l"/>
              </a:tabLst>
            </a:pPr>
            <a:r>
              <a:rPr sz="1500" spc="-60" dirty="0">
                <a:latin typeface="Arial MT"/>
                <a:cs typeface="Arial MT"/>
              </a:rPr>
              <a:t>but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the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customer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160" dirty="0">
                <a:latin typeface="Arial MT"/>
                <a:cs typeface="Arial MT"/>
              </a:rPr>
              <a:t>has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no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knowledge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of,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65" dirty="0">
                <a:latin typeface="Arial MT"/>
                <a:cs typeface="Arial MT"/>
              </a:rPr>
              <a:t>and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14" dirty="0">
                <a:latin typeface="Arial MT"/>
                <a:cs typeface="Arial MT"/>
              </a:rPr>
              <a:t>does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not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10" dirty="0">
                <a:latin typeface="Arial MT"/>
                <a:cs typeface="Arial MT"/>
              </a:rPr>
              <a:t>manage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or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control,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the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65" dirty="0">
                <a:latin typeface="Arial MT"/>
                <a:cs typeface="Arial MT"/>
              </a:rPr>
              <a:t>underlying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cloud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infrastructure.</a:t>
            </a:r>
            <a:endParaRPr sz="1500">
              <a:latin typeface="Arial MT"/>
              <a:cs typeface="Arial MT"/>
            </a:endParaRPr>
          </a:p>
          <a:p>
            <a:pPr marL="697865" marR="289560" lvl="1" indent="-228600">
              <a:lnSpc>
                <a:spcPct val="110000"/>
              </a:lnSpc>
              <a:spcBef>
                <a:spcPts val="490"/>
              </a:spcBef>
              <a:buSzPct val="123333"/>
              <a:buFont typeface="Microsoft Sans Serif"/>
              <a:buChar char="•"/>
              <a:tabLst>
                <a:tab pos="697865" algn="l"/>
              </a:tabLst>
            </a:pPr>
            <a:r>
              <a:rPr sz="1500" spc="-190" dirty="0">
                <a:latin typeface="Arial MT"/>
                <a:cs typeface="Arial MT"/>
              </a:rPr>
              <a:t>The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14" dirty="0">
                <a:latin typeface="Arial MT"/>
                <a:cs typeface="Arial MT"/>
              </a:rPr>
              <a:t>company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80" dirty="0">
                <a:latin typeface="Arial MT"/>
                <a:cs typeface="Arial MT"/>
              </a:rPr>
              <a:t>owns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the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deployed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70" dirty="0">
                <a:latin typeface="Arial MT"/>
                <a:cs typeface="Arial MT"/>
              </a:rPr>
              <a:t>applications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55" dirty="0">
                <a:latin typeface="Arial MT"/>
                <a:cs typeface="Arial MT"/>
              </a:rPr>
              <a:t>and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data,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60" dirty="0">
                <a:latin typeface="Arial MT"/>
                <a:cs typeface="Arial MT"/>
              </a:rPr>
              <a:t>and</a:t>
            </a:r>
            <a:r>
              <a:rPr sz="1500" dirty="0">
                <a:latin typeface="Arial MT"/>
                <a:cs typeface="Arial MT"/>
              </a:rPr>
              <a:t> it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is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55" dirty="0">
                <a:latin typeface="Arial MT"/>
                <a:cs typeface="Arial MT"/>
              </a:rPr>
              <a:t>therefore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responsible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the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security</a:t>
            </a:r>
            <a:r>
              <a:rPr sz="1500" dirty="0">
                <a:latin typeface="Arial MT"/>
                <a:cs typeface="Arial MT"/>
              </a:rPr>
              <a:t> of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spc="-135" dirty="0">
                <a:latin typeface="Arial MT"/>
                <a:cs typeface="Arial MT"/>
              </a:rPr>
              <a:t>those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30" dirty="0">
                <a:latin typeface="Arial MT"/>
                <a:cs typeface="Arial MT"/>
              </a:rPr>
              <a:t>applications </a:t>
            </a:r>
            <a:r>
              <a:rPr sz="1500" spc="-65" dirty="0">
                <a:latin typeface="Arial MT"/>
                <a:cs typeface="Arial MT"/>
              </a:rPr>
              <a:t>and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data.</a:t>
            </a:r>
            <a:endParaRPr sz="15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85"/>
              </a:spcBef>
              <a:buSzPct val="123684"/>
              <a:buFont typeface="Microsoft Sans Serif"/>
              <a:buChar char="•"/>
              <a:tabLst>
                <a:tab pos="240665" algn="l"/>
              </a:tabLst>
            </a:pPr>
            <a:r>
              <a:rPr sz="1900" b="1" spc="-155" dirty="0">
                <a:latin typeface="Arial"/>
                <a:cs typeface="Arial"/>
              </a:rPr>
              <a:t>Infrastructure</a:t>
            </a:r>
            <a:r>
              <a:rPr sz="1900" b="1" spc="60" dirty="0">
                <a:latin typeface="Arial"/>
                <a:cs typeface="Arial"/>
              </a:rPr>
              <a:t> </a:t>
            </a:r>
            <a:r>
              <a:rPr sz="1900" b="1" spc="-165" dirty="0">
                <a:latin typeface="Arial"/>
                <a:cs typeface="Arial"/>
              </a:rPr>
              <a:t>as</a:t>
            </a:r>
            <a:r>
              <a:rPr sz="1900" b="1" dirty="0">
                <a:latin typeface="Arial"/>
                <a:cs typeface="Arial"/>
              </a:rPr>
              <a:t> a </a:t>
            </a:r>
            <a:r>
              <a:rPr sz="1900" b="1" spc="-165" dirty="0">
                <a:latin typeface="Arial"/>
                <a:cs typeface="Arial"/>
              </a:rPr>
              <a:t>service</a:t>
            </a:r>
            <a:r>
              <a:rPr sz="1900" b="1" spc="1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(IaaS).</a:t>
            </a:r>
            <a:endParaRPr sz="1900">
              <a:latin typeface="Arial"/>
              <a:cs typeface="Arial"/>
            </a:endParaRPr>
          </a:p>
          <a:p>
            <a:pPr marL="697865" marR="454659" lvl="1" indent="-228600">
              <a:lnSpc>
                <a:spcPct val="110000"/>
              </a:lnSpc>
              <a:spcBef>
                <a:spcPts val="545"/>
              </a:spcBef>
              <a:buSzPct val="123333"/>
              <a:buFont typeface="Microsoft Sans Serif"/>
              <a:buChar char="•"/>
              <a:tabLst>
                <a:tab pos="697865" algn="l"/>
              </a:tabLst>
            </a:pPr>
            <a:r>
              <a:rPr sz="1500" spc="-150" dirty="0">
                <a:latin typeface="Arial MT"/>
                <a:cs typeface="Arial MT"/>
              </a:rPr>
              <a:t>Customers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can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provision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b="1" spc="-145" dirty="0">
                <a:latin typeface="Arial"/>
                <a:cs typeface="Arial"/>
              </a:rPr>
              <a:t>processing,</a:t>
            </a:r>
            <a:r>
              <a:rPr sz="1500" b="1" spc="30" dirty="0">
                <a:latin typeface="Arial"/>
                <a:cs typeface="Arial"/>
              </a:rPr>
              <a:t> </a:t>
            </a:r>
            <a:r>
              <a:rPr sz="1500" b="1" spc="-120" dirty="0">
                <a:latin typeface="Arial"/>
                <a:cs typeface="Arial"/>
              </a:rPr>
              <a:t>storage,</a:t>
            </a:r>
            <a:r>
              <a:rPr sz="1500" b="1" spc="35" dirty="0">
                <a:latin typeface="Arial"/>
                <a:cs typeface="Arial"/>
              </a:rPr>
              <a:t> </a:t>
            </a:r>
            <a:r>
              <a:rPr sz="1500" b="1" spc="-120" dirty="0">
                <a:latin typeface="Arial"/>
                <a:cs typeface="Arial"/>
              </a:rPr>
              <a:t>networks,</a:t>
            </a:r>
            <a:r>
              <a:rPr sz="1500" b="1" spc="35" dirty="0">
                <a:latin typeface="Arial"/>
                <a:cs typeface="Arial"/>
              </a:rPr>
              <a:t> </a:t>
            </a:r>
            <a:r>
              <a:rPr sz="1500" b="1" spc="-100" dirty="0">
                <a:latin typeface="Arial"/>
                <a:cs typeface="Arial"/>
              </a:rPr>
              <a:t>and</a:t>
            </a:r>
            <a:r>
              <a:rPr sz="1500" b="1" spc="25" dirty="0">
                <a:latin typeface="Arial"/>
                <a:cs typeface="Arial"/>
              </a:rPr>
              <a:t> </a:t>
            </a:r>
            <a:r>
              <a:rPr sz="1500" b="1" spc="-130" dirty="0">
                <a:latin typeface="Arial"/>
                <a:cs typeface="Arial"/>
              </a:rPr>
              <a:t>other</a:t>
            </a:r>
            <a:r>
              <a:rPr sz="1500" b="1" spc="40" dirty="0">
                <a:latin typeface="Arial"/>
                <a:cs typeface="Arial"/>
              </a:rPr>
              <a:t> </a:t>
            </a:r>
            <a:r>
              <a:rPr sz="1500" b="1" spc="-140" dirty="0">
                <a:latin typeface="Arial"/>
                <a:cs typeface="Arial"/>
              </a:rPr>
              <a:t>computing</a:t>
            </a:r>
            <a:r>
              <a:rPr sz="1500" b="1" spc="50" dirty="0">
                <a:latin typeface="Arial"/>
                <a:cs typeface="Arial"/>
              </a:rPr>
              <a:t> </a:t>
            </a:r>
            <a:r>
              <a:rPr sz="1500" b="1" spc="-150" dirty="0">
                <a:latin typeface="Arial"/>
                <a:cs typeface="Arial"/>
              </a:rPr>
              <a:t>resources</a:t>
            </a:r>
            <a:r>
              <a:rPr sz="1500" spc="-150" dirty="0">
                <a:latin typeface="Arial MT"/>
                <a:cs typeface="Arial MT"/>
              </a:rPr>
              <a:t>,</a:t>
            </a:r>
            <a:r>
              <a:rPr sz="1500" spc="65" dirty="0">
                <a:latin typeface="Arial MT"/>
                <a:cs typeface="Arial MT"/>
              </a:rPr>
              <a:t> </a:t>
            </a:r>
            <a:r>
              <a:rPr sz="1500" spc="-60" dirty="0">
                <a:latin typeface="Arial MT"/>
                <a:cs typeface="Arial MT"/>
              </a:rPr>
              <a:t>and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b="1" spc="-105" dirty="0">
                <a:latin typeface="Arial"/>
                <a:cs typeface="Arial"/>
              </a:rPr>
              <a:t>deploy</a:t>
            </a:r>
            <a:r>
              <a:rPr sz="1500" b="1" spc="45" dirty="0">
                <a:latin typeface="Arial"/>
                <a:cs typeface="Arial"/>
              </a:rPr>
              <a:t> </a:t>
            </a:r>
            <a:r>
              <a:rPr sz="1500" b="1" spc="-100" dirty="0">
                <a:latin typeface="Arial"/>
                <a:cs typeface="Arial"/>
              </a:rPr>
              <a:t>and</a:t>
            </a:r>
            <a:r>
              <a:rPr sz="1500" b="1" spc="25" dirty="0">
                <a:latin typeface="Arial"/>
                <a:cs typeface="Arial"/>
              </a:rPr>
              <a:t> </a:t>
            </a:r>
            <a:r>
              <a:rPr sz="1500" b="1" spc="-130" dirty="0">
                <a:latin typeface="Arial"/>
                <a:cs typeface="Arial"/>
              </a:rPr>
              <a:t>run</a:t>
            </a:r>
            <a:r>
              <a:rPr sz="1500" b="1" spc="30" dirty="0">
                <a:latin typeface="Arial"/>
                <a:cs typeface="Arial"/>
              </a:rPr>
              <a:t> </a:t>
            </a:r>
            <a:r>
              <a:rPr sz="1500" b="1" spc="-50" dirty="0">
                <a:latin typeface="Arial"/>
                <a:cs typeface="Arial"/>
              </a:rPr>
              <a:t>operating </a:t>
            </a:r>
            <a:r>
              <a:rPr sz="1500" b="1" spc="-160" dirty="0">
                <a:latin typeface="Arial"/>
                <a:cs typeface="Arial"/>
              </a:rPr>
              <a:t>systems</a:t>
            </a:r>
            <a:r>
              <a:rPr sz="1500" b="1" spc="20" dirty="0">
                <a:latin typeface="Arial"/>
                <a:cs typeface="Arial"/>
              </a:rPr>
              <a:t> </a:t>
            </a:r>
            <a:r>
              <a:rPr sz="1500" b="1" spc="-105" dirty="0">
                <a:latin typeface="Arial"/>
                <a:cs typeface="Arial"/>
              </a:rPr>
              <a:t>and</a:t>
            </a:r>
            <a:r>
              <a:rPr sz="1500" b="1" spc="20" dirty="0">
                <a:latin typeface="Arial"/>
                <a:cs typeface="Arial"/>
              </a:rPr>
              <a:t> </a:t>
            </a:r>
            <a:r>
              <a:rPr sz="1500" b="1" spc="-30" dirty="0">
                <a:latin typeface="Arial"/>
                <a:cs typeface="Arial"/>
              </a:rPr>
              <a:t>applications.</a:t>
            </a:r>
            <a:endParaRPr sz="1500">
              <a:latin typeface="Arial"/>
              <a:cs typeface="Arial"/>
            </a:endParaRPr>
          </a:p>
          <a:p>
            <a:pPr marL="697865" marR="5080" lvl="1" indent="-228600">
              <a:lnSpc>
                <a:spcPct val="110000"/>
              </a:lnSpc>
              <a:spcBef>
                <a:spcPts val="505"/>
              </a:spcBef>
              <a:buSzPct val="123333"/>
              <a:buFont typeface="Microsoft Sans Serif"/>
              <a:buChar char="•"/>
              <a:tabLst>
                <a:tab pos="697865" algn="l"/>
              </a:tabLst>
            </a:pPr>
            <a:r>
              <a:rPr sz="1500" spc="-95" dirty="0">
                <a:latin typeface="Arial MT"/>
                <a:cs typeface="Arial MT"/>
              </a:rPr>
              <a:t>the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customer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160" dirty="0">
                <a:latin typeface="Arial MT"/>
                <a:cs typeface="Arial MT"/>
              </a:rPr>
              <a:t>has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45" dirty="0">
                <a:latin typeface="Arial MT"/>
                <a:cs typeface="Arial MT"/>
              </a:rPr>
              <a:t>no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knowledge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of,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60" dirty="0">
                <a:latin typeface="Arial MT"/>
                <a:cs typeface="Arial MT"/>
              </a:rPr>
              <a:t>and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20" dirty="0">
                <a:latin typeface="Arial MT"/>
                <a:cs typeface="Arial MT"/>
              </a:rPr>
              <a:t>does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not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110" dirty="0">
                <a:latin typeface="Arial MT"/>
                <a:cs typeface="Arial MT"/>
              </a:rPr>
              <a:t>manage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or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85" dirty="0">
                <a:latin typeface="Arial MT"/>
                <a:cs typeface="Arial MT"/>
              </a:rPr>
              <a:t>control,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the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65" dirty="0">
                <a:latin typeface="Arial MT"/>
                <a:cs typeface="Arial MT"/>
              </a:rPr>
              <a:t>underlying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cloud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80" dirty="0">
                <a:latin typeface="Arial MT"/>
                <a:cs typeface="Arial MT"/>
              </a:rPr>
              <a:t>infrastructure.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185" dirty="0">
                <a:latin typeface="Arial MT"/>
                <a:cs typeface="Arial MT"/>
              </a:rPr>
              <a:t>The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customer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has</a:t>
            </a:r>
            <a:r>
              <a:rPr sz="1500" spc="500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control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75" dirty="0">
                <a:latin typeface="Arial MT"/>
                <a:cs typeface="Arial MT"/>
              </a:rPr>
              <a:t>over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45" dirty="0">
                <a:latin typeface="Arial MT"/>
                <a:cs typeface="Arial MT"/>
              </a:rPr>
              <a:t>operating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160" dirty="0">
                <a:latin typeface="Arial MT"/>
                <a:cs typeface="Arial MT"/>
              </a:rPr>
              <a:t>systems,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storage,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65" dirty="0">
                <a:latin typeface="Arial MT"/>
                <a:cs typeface="Arial MT"/>
              </a:rPr>
              <a:t>and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45" dirty="0">
                <a:latin typeface="Arial MT"/>
                <a:cs typeface="Arial MT"/>
              </a:rPr>
              <a:t>deployed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75" dirty="0">
                <a:latin typeface="Arial MT"/>
                <a:cs typeface="Arial MT"/>
              </a:rPr>
              <a:t>applications,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60" dirty="0">
                <a:latin typeface="Arial MT"/>
                <a:cs typeface="Arial MT"/>
              </a:rPr>
              <a:t>along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75" dirty="0">
                <a:latin typeface="Arial MT"/>
                <a:cs typeface="Arial MT"/>
              </a:rPr>
              <a:t>with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80" dirty="0">
                <a:latin typeface="Arial MT"/>
                <a:cs typeface="Arial MT"/>
              </a:rPr>
              <a:t>some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75" dirty="0">
                <a:latin typeface="Arial MT"/>
                <a:cs typeface="Arial MT"/>
              </a:rPr>
              <a:t>networking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135" dirty="0">
                <a:latin typeface="Arial MT"/>
                <a:cs typeface="Arial MT"/>
              </a:rPr>
              <a:t>components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(for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80" dirty="0">
                <a:latin typeface="Arial MT"/>
                <a:cs typeface="Arial MT"/>
              </a:rPr>
              <a:t>example,</a:t>
            </a:r>
            <a:r>
              <a:rPr sz="1500" spc="-20" dirty="0">
                <a:latin typeface="Arial MT"/>
                <a:cs typeface="Arial MT"/>
              </a:rPr>
              <a:t> host </a:t>
            </a:r>
            <a:r>
              <a:rPr sz="1500" spc="-10" dirty="0">
                <a:latin typeface="Arial MT"/>
                <a:cs typeface="Arial MT"/>
              </a:rPr>
              <a:t>firewalls).</a:t>
            </a:r>
            <a:endParaRPr sz="1500">
              <a:latin typeface="Arial MT"/>
              <a:cs typeface="Arial MT"/>
            </a:endParaRPr>
          </a:p>
          <a:p>
            <a:pPr marL="697865" marR="289560" lvl="1" indent="-228600">
              <a:lnSpc>
                <a:spcPct val="110000"/>
              </a:lnSpc>
              <a:spcBef>
                <a:spcPts val="505"/>
              </a:spcBef>
              <a:buSzPct val="123333"/>
              <a:buFont typeface="Microsoft Sans Serif"/>
              <a:buChar char="•"/>
              <a:tabLst>
                <a:tab pos="697865" algn="l"/>
              </a:tabLst>
            </a:pPr>
            <a:r>
              <a:rPr sz="1500" spc="-190" dirty="0">
                <a:latin typeface="Arial MT"/>
                <a:cs typeface="Arial MT"/>
              </a:rPr>
              <a:t>The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14" dirty="0">
                <a:latin typeface="Arial MT"/>
                <a:cs typeface="Arial MT"/>
              </a:rPr>
              <a:t>company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80" dirty="0">
                <a:latin typeface="Arial MT"/>
                <a:cs typeface="Arial MT"/>
              </a:rPr>
              <a:t>owns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the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deployed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70" dirty="0">
                <a:latin typeface="Arial MT"/>
                <a:cs typeface="Arial MT"/>
              </a:rPr>
              <a:t>applications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55" dirty="0">
                <a:latin typeface="Arial MT"/>
                <a:cs typeface="Arial MT"/>
              </a:rPr>
              <a:t>and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data,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60" dirty="0">
                <a:latin typeface="Arial MT"/>
                <a:cs typeface="Arial MT"/>
              </a:rPr>
              <a:t>and</a:t>
            </a:r>
            <a:r>
              <a:rPr sz="1500" dirty="0">
                <a:latin typeface="Arial MT"/>
                <a:cs typeface="Arial MT"/>
              </a:rPr>
              <a:t> it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is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55" dirty="0">
                <a:latin typeface="Arial MT"/>
                <a:cs typeface="Arial MT"/>
              </a:rPr>
              <a:t>therefore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responsible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the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security</a:t>
            </a:r>
            <a:r>
              <a:rPr sz="1500" dirty="0">
                <a:latin typeface="Arial MT"/>
                <a:cs typeface="Arial MT"/>
              </a:rPr>
              <a:t> of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spc="-135" dirty="0">
                <a:latin typeface="Arial MT"/>
                <a:cs typeface="Arial MT"/>
              </a:rPr>
              <a:t>those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30" dirty="0">
                <a:latin typeface="Arial MT"/>
                <a:cs typeface="Arial MT"/>
              </a:rPr>
              <a:t>applications </a:t>
            </a:r>
            <a:r>
              <a:rPr sz="1500" spc="-65" dirty="0">
                <a:latin typeface="Arial MT"/>
                <a:cs typeface="Arial MT"/>
              </a:rPr>
              <a:t>and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data.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25" rIns="0" bIns="0" rtlCol="0">
            <a:spAutoFit/>
          </a:bodyPr>
          <a:lstStyle/>
          <a:p>
            <a:pPr marL="756920">
              <a:lnSpc>
                <a:spcPct val="100000"/>
              </a:lnSpc>
              <a:spcBef>
                <a:spcPts val="100"/>
              </a:spcBef>
            </a:pPr>
            <a:r>
              <a:rPr sz="4800" spc="-819" dirty="0">
                <a:solidFill>
                  <a:srgbClr val="386E52"/>
                </a:solidFill>
              </a:rPr>
              <a:t>TYPES</a:t>
            </a:r>
            <a:r>
              <a:rPr sz="4800" spc="-5" dirty="0">
                <a:solidFill>
                  <a:srgbClr val="386E52"/>
                </a:solidFill>
              </a:rPr>
              <a:t> </a:t>
            </a:r>
            <a:r>
              <a:rPr sz="4800" spc="-455" dirty="0">
                <a:solidFill>
                  <a:srgbClr val="386E52"/>
                </a:solidFill>
              </a:rPr>
              <a:t>OF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530" dirty="0">
                <a:solidFill>
                  <a:srgbClr val="386E52"/>
                </a:solidFill>
              </a:rPr>
              <a:t>CLOUD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434" dirty="0">
                <a:solidFill>
                  <a:srgbClr val="386E52"/>
                </a:solidFill>
              </a:rPr>
              <a:t>COMPUTING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57555" y="1965197"/>
            <a:ext cx="453961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b="1" spc="75" dirty="0">
                <a:solidFill>
                  <a:srgbClr val="386E52"/>
                </a:solidFill>
                <a:latin typeface="Trebuchet MS"/>
                <a:cs typeface="Trebuchet MS"/>
              </a:rPr>
              <a:t>On-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premise</a:t>
            </a:r>
            <a:r>
              <a:rPr sz="2400" b="1" spc="-12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(private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cloud):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You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responsible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for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all</a:t>
            </a:r>
            <a:r>
              <a:rPr sz="2400" b="1" spc="-8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of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your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IT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infrastructure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(software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hardware)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5479" y="1708404"/>
            <a:ext cx="5408676" cy="41788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8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19" dirty="0">
                <a:solidFill>
                  <a:srgbClr val="386E52"/>
                </a:solidFill>
              </a:rPr>
              <a:t>TYPES</a:t>
            </a:r>
            <a:r>
              <a:rPr sz="4800" spc="-5" dirty="0">
                <a:solidFill>
                  <a:srgbClr val="386E52"/>
                </a:solidFill>
              </a:rPr>
              <a:t> </a:t>
            </a:r>
            <a:r>
              <a:rPr sz="4800" spc="-470" dirty="0">
                <a:solidFill>
                  <a:srgbClr val="386E52"/>
                </a:solidFill>
              </a:rPr>
              <a:t>OF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530" dirty="0">
                <a:solidFill>
                  <a:srgbClr val="386E52"/>
                </a:solidFill>
              </a:rPr>
              <a:t>CLOUD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434" dirty="0">
                <a:solidFill>
                  <a:srgbClr val="386E52"/>
                </a:solidFill>
              </a:rPr>
              <a:t>COMPUTING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57555" y="1965197"/>
            <a:ext cx="446595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b="1" spc="-10" dirty="0">
                <a:solidFill>
                  <a:srgbClr val="386E52"/>
                </a:solidFill>
                <a:latin typeface="Trebuchet MS"/>
                <a:cs typeface="Trebuchet MS"/>
              </a:rPr>
              <a:t>Infrastructure-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as-a-</a:t>
            </a:r>
            <a:r>
              <a:rPr sz="2400" b="1" spc="-10" dirty="0">
                <a:solidFill>
                  <a:srgbClr val="386E52"/>
                </a:solidFill>
                <a:latin typeface="Trebuchet MS"/>
                <a:cs typeface="Trebuchet MS"/>
              </a:rPr>
              <a:t>service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(IaaS)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You</a:t>
            </a:r>
            <a:r>
              <a:rPr sz="24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responsible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for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applications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,</a:t>
            </a:r>
            <a:r>
              <a:rPr sz="2400" spc="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data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,</a:t>
            </a:r>
            <a:r>
              <a:rPr sz="2400" spc="1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spc="75" dirty="0">
                <a:solidFill>
                  <a:srgbClr val="386E52"/>
                </a:solidFill>
                <a:latin typeface="Trebuchet MS"/>
                <a:cs typeface="Trebuchet MS"/>
              </a:rPr>
              <a:t>OS</a:t>
            </a:r>
            <a:r>
              <a:rPr sz="2400" spc="75" dirty="0">
                <a:solidFill>
                  <a:srgbClr val="386E52"/>
                </a:solidFill>
                <a:latin typeface="Leelawadee UI"/>
                <a:cs typeface="Leelawadee UI"/>
              </a:rPr>
              <a:t>,</a:t>
            </a:r>
            <a:r>
              <a:rPr sz="2400" spc="1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and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software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. Cloud</a:t>
            </a:r>
            <a:r>
              <a:rPr sz="2400" spc="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provider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manages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your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rebuchet MS"/>
                <a:cs typeface="Trebuchet MS"/>
              </a:rPr>
              <a:t>virtualization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, </a:t>
            </a:r>
            <a:r>
              <a:rPr sz="2400" b="1" dirty="0">
                <a:solidFill>
                  <a:srgbClr val="00AFEF"/>
                </a:solidFill>
                <a:latin typeface="Trebuchet MS"/>
                <a:cs typeface="Trebuchet MS"/>
              </a:rPr>
              <a:t>storage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,</a:t>
            </a:r>
            <a:r>
              <a:rPr sz="24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rebuchet MS"/>
                <a:cs typeface="Trebuchet MS"/>
              </a:rPr>
              <a:t>servers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,</a:t>
            </a:r>
            <a:r>
              <a:rPr sz="24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and </a:t>
            </a:r>
            <a:r>
              <a:rPr sz="2400" b="1" spc="-10" dirty="0">
                <a:solidFill>
                  <a:srgbClr val="00AFEF"/>
                </a:solidFill>
                <a:latin typeface="Trebuchet MS"/>
                <a:cs typeface="Trebuchet MS"/>
              </a:rPr>
              <a:t>networking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.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833372"/>
            <a:ext cx="5219700" cy="40325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6061" rIns="0" bIns="0" rtlCol="0">
            <a:spAutoFit/>
          </a:bodyPr>
          <a:lstStyle/>
          <a:p>
            <a:pPr marL="704850">
              <a:lnSpc>
                <a:spcPct val="100000"/>
              </a:lnSpc>
              <a:spcBef>
                <a:spcPts val="100"/>
              </a:spcBef>
            </a:pPr>
            <a:r>
              <a:rPr sz="4800" spc="-819" dirty="0">
                <a:solidFill>
                  <a:srgbClr val="386E52"/>
                </a:solidFill>
              </a:rPr>
              <a:t>TYPES</a:t>
            </a:r>
            <a:r>
              <a:rPr sz="4800" spc="-5" dirty="0">
                <a:solidFill>
                  <a:srgbClr val="386E52"/>
                </a:solidFill>
              </a:rPr>
              <a:t> </a:t>
            </a:r>
            <a:r>
              <a:rPr sz="4800" spc="-470" dirty="0">
                <a:solidFill>
                  <a:srgbClr val="386E52"/>
                </a:solidFill>
              </a:rPr>
              <a:t>OF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530" dirty="0">
                <a:solidFill>
                  <a:srgbClr val="386E52"/>
                </a:solidFill>
              </a:rPr>
              <a:t>CLOUD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434" dirty="0">
                <a:solidFill>
                  <a:srgbClr val="386E52"/>
                </a:solidFill>
              </a:rPr>
              <a:t>COMPUTING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57555" y="1965197"/>
            <a:ext cx="457263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Platform-as-a-</a:t>
            </a:r>
            <a:r>
              <a:rPr sz="2400" b="1" spc="-10" dirty="0">
                <a:solidFill>
                  <a:srgbClr val="386E52"/>
                </a:solidFill>
                <a:latin typeface="Trebuchet MS"/>
                <a:cs typeface="Trebuchet MS"/>
              </a:rPr>
              <a:t>service</a:t>
            </a:r>
            <a:r>
              <a:rPr sz="2400" b="1" spc="40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386E52"/>
                </a:solidFill>
                <a:latin typeface="Trebuchet MS"/>
                <a:cs typeface="Trebuchet MS"/>
              </a:rPr>
              <a:t>(PaaS)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: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You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responsible</a:t>
            </a:r>
            <a:r>
              <a:rPr sz="24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for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applications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,</a:t>
            </a:r>
            <a:r>
              <a:rPr sz="2400" spc="1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1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data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.</a:t>
            </a:r>
            <a:r>
              <a:rPr sz="2400" spc="1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Cloud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provider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manages</a:t>
            </a:r>
            <a:r>
              <a:rPr sz="24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your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spc="50" dirty="0">
                <a:solidFill>
                  <a:srgbClr val="00AFEF"/>
                </a:solidFill>
                <a:latin typeface="Trebuchet MS"/>
                <a:cs typeface="Trebuchet MS"/>
              </a:rPr>
              <a:t>OS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, </a:t>
            </a:r>
            <a:r>
              <a:rPr sz="2400" b="1" dirty="0">
                <a:solidFill>
                  <a:srgbClr val="00AFEF"/>
                </a:solidFill>
                <a:latin typeface="Trebuchet MS"/>
                <a:cs typeface="Trebuchet MS"/>
              </a:rPr>
              <a:t>software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, </a:t>
            </a:r>
            <a:r>
              <a:rPr sz="2400" b="1" spc="-10" dirty="0">
                <a:solidFill>
                  <a:srgbClr val="00AFEF"/>
                </a:solidFill>
                <a:latin typeface="Trebuchet MS"/>
                <a:cs typeface="Trebuchet MS"/>
              </a:rPr>
              <a:t>virtualization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, </a:t>
            </a:r>
            <a:r>
              <a:rPr sz="2400" b="1" dirty="0">
                <a:solidFill>
                  <a:srgbClr val="00AFEF"/>
                </a:solidFill>
                <a:latin typeface="Trebuchet MS"/>
                <a:cs typeface="Trebuchet MS"/>
              </a:rPr>
              <a:t>storage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,</a:t>
            </a:r>
            <a:r>
              <a:rPr sz="24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rebuchet MS"/>
                <a:cs typeface="Trebuchet MS"/>
              </a:rPr>
              <a:t>servers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,</a:t>
            </a:r>
            <a:r>
              <a:rPr sz="24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and </a:t>
            </a:r>
            <a:r>
              <a:rPr sz="2400" b="1" spc="-10" dirty="0">
                <a:solidFill>
                  <a:srgbClr val="00AFEF"/>
                </a:solidFill>
                <a:latin typeface="Trebuchet MS"/>
                <a:cs typeface="Trebuchet MS"/>
              </a:rPr>
              <a:t>networking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.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5708" y="1754123"/>
            <a:ext cx="5362955" cy="4143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8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19" dirty="0">
                <a:solidFill>
                  <a:srgbClr val="386E52"/>
                </a:solidFill>
              </a:rPr>
              <a:t>TYPES</a:t>
            </a:r>
            <a:r>
              <a:rPr sz="4800" spc="-5" dirty="0">
                <a:solidFill>
                  <a:srgbClr val="386E52"/>
                </a:solidFill>
              </a:rPr>
              <a:t> </a:t>
            </a:r>
            <a:r>
              <a:rPr sz="4800" spc="-470" dirty="0">
                <a:solidFill>
                  <a:srgbClr val="386E52"/>
                </a:solidFill>
              </a:rPr>
              <a:t>OF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530" dirty="0">
                <a:solidFill>
                  <a:srgbClr val="386E52"/>
                </a:solidFill>
              </a:rPr>
              <a:t>CLOUD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434" dirty="0">
                <a:solidFill>
                  <a:srgbClr val="386E52"/>
                </a:solidFill>
              </a:rPr>
              <a:t>COMPUTING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57555" y="1965197"/>
            <a:ext cx="457771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Software-as-a-</a:t>
            </a:r>
            <a:r>
              <a:rPr sz="2400" b="1" spc="-10" dirty="0">
                <a:solidFill>
                  <a:srgbClr val="386E52"/>
                </a:solidFill>
                <a:latin typeface="Trebuchet MS"/>
                <a:cs typeface="Trebuchet MS"/>
              </a:rPr>
              <a:t>service</a:t>
            </a:r>
            <a:r>
              <a:rPr sz="2400" b="1" spc="22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386E52"/>
                </a:solidFill>
                <a:latin typeface="Trebuchet MS"/>
                <a:cs typeface="Trebuchet MS"/>
              </a:rPr>
              <a:t>(SaaS)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: 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You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not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responsible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for</a:t>
            </a:r>
            <a:r>
              <a:rPr sz="2400" spc="6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any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infrastructure.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Cloud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provider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manages</a:t>
            </a:r>
            <a:r>
              <a:rPr sz="2400" spc="-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your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spc="50" dirty="0">
                <a:solidFill>
                  <a:srgbClr val="00AFEF"/>
                </a:solidFill>
                <a:latin typeface="Trebuchet MS"/>
                <a:cs typeface="Trebuchet MS"/>
              </a:rPr>
              <a:t>OS</a:t>
            </a:r>
            <a:r>
              <a:rPr sz="2400" spc="50" dirty="0">
                <a:solidFill>
                  <a:srgbClr val="386E52"/>
                </a:solidFill>
                <a:latin typeface="Leelawadee UI"/>
                <a:cs typeface="Leelawadee UI"/>
              </a:rPr>
              <a:t>, </a:t>
            </a:r>
            <a:r>
              <a:rPr sz="2400" b="1" dirty="0">
                <a:solidFill>
                  <a:srgbClr val="00AFEF"/>
                </a:solidFill>
                <a:latin typeface="Trebuchet MS"/>
                <a:cs typeface="Trebuchet MS"/>
              </a:rPr>
              <a:t>software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, </a:t>
            </a:r>
            <a:r>
              <a:rPr sz="2400" b="1" spc="-10" dirty="0">
                <a:solidFill>
                  <a:srgbClr val="00AFEF"/>
                </a:solidFill>
                <a:latin typeface="Trebuchet MS"/>
                <a:cs typeface="Trebuchet MS"/>
              </a:rPr>
              <a:t>virtualization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, </a:t>
            </a:r>
            <a:r>
              <a:rPr sz="2400" b="1" dirty="0">
                <a:solidFill>
                  <a:srgbClr val="00AFEF"/>
                </a:solidFill>
                <a:latin typeface="Trebuchet MS"/>
                <a:cs typeface="Trebuchet MS"/>
              </a:rPr>
              <a:t>storage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,</a:t>
            </a:r>
            <a:r>
              <a:rPr sz="24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Trebuchet MS"/>
                <a:cs typeface="Trebuchet MS"/>
              </a:rPr>
              <a:t>servers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,</a:t>
            </a:r>
            <a:r>
              <a:rPr sz="24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and </a:t>
            </a:r>
            <a:r>
              <a:rPr sz="2400" b="1" spc="-10" dirty="0">
                <a:solidFill>
                  <a:srgbClr val="00AFEF"/>
                </a:solidFill>
                <a:latin typeface="Trebuchet MS"/>
                <a:cs typeface="Trebuchet MS"/>
              </a:rPr>
              <a:t>networking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.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4584" y="1828800"/>
            <a:ext cx="6060948" cy="35920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820038"/>
            <a:ext cx="748410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55" dirty="0"/>
              <a:t>CLOUD</a:t>
            </a:r>
            <a:r>
              <a:rPr sz="3200" spc="15" dirty="0"/>
              <a:t> </a:t>
            </a:r>
            <a:r>
              <a:rPr sz="3200" spc="-295" dirty="0"/>
              <a:t>COMPUTING</a:t>
            </a:r>
            <a:r>
              <a:rPr sz="3200" spc="-20" dirty="0"/>
              <a:t> </a:t>
            </a:r>
            <a:r>
              <a:rPr sz="3200" spc="-455" dirty="0"/>
              <a:t>DEPLOYMENT</a:t>
            </a:r>
            <a:r>
              <a:rPr sz="3200" spc="-15" dirty="0"/>
              <a:t> </a:t>
            </a:r>
            <a:r>
              <a:rPr sz="3200" spc="-390" dirty="0"/>
              <a:t>MODELS: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62660" y="1505305"/>
            <a:ext cx="10154920" cy="448310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50"/>
              </a:spcBef>
              <a:buSzPct val="125000"/>
              <a:buFont typeface="Microsoft Sans Serif"/>
              <a:buChar char="•"/>
              <a:tabLst>
                <a:tab pos="240665" algn="l"/>
              </a:tabLst>
            </a:pPr>
            <a:r>
              <a:rPr sz="2000" b="1" spc="-10" dirty="0">
                <a:latin typeface="Arial"/>
                <a:cs typeface="Arial"/>
              </a:rPr>
              <a:t>Public.</a:t>
            </a:r>
            <a:endParaRPr sz="2000">
              <a:latin typeface="Arial"/>
              <a:cs typeface="Arial"/>
            </a:endParaRPr>
          </a:p>
          <a:p>
            <a:pPr marL="698500" marR="12700" lvl="1" indent="-228600">
              <a:lnSpc>
                <a:spcPct val="120000"/>
              </a:lnSpc>
              <a:spcBef>
                <a:spcPts val="570"/>
              </a:spcBef>
              <a:buChar char="•"/>
              <a:tabLst>
                <a:tab pos="698500" algn="l"/>
                <a:tab pos="753110" algn="l"/>
              </a:tabLst>
            </a:pPr>
            <a:r>
              <a:rPr sz="2000" dirty="0">
                <a:latin typeface="Microsoft Sans Serif"/>
                <a:cs typeface="Microsoft Sans Serif"/>
              </a:rPr>
              <a:t>	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14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cloud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infrastructure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45" dirty="0">
                <a:latin typeface="Arial MT"/>
                <a:cs typeface="Arial MT"/>
              </a:rPr>
              <a:t>that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145" dirty="0">
                <a:latin typeface="Arial MT"/>
                <a:cs typeface="Arial MT"/>
              </a:rPr>
              <a:t>is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open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110" dirty="0">
                <a:latin typeface="Arial MT"/>
                <a:cs typeface="Arial MT"/>
              </a:rPr>
              <a:t> </a:t>
            </a:r>
            <a:r>
              <a:rPr sz="1600" spc="-195" dirty="0">
                <a:latin typeface="Arial MT"/>
                <a:cs typeface="Arial MT"/>
              </a:rPr>
              <a:t>use</a:t>
            </a:r>
            <a:r>
              <a:rPr sz="1600" dirty="0">
                <a:latin typeface="Arial MT"/>
                <a:cs typeface="Arial MT"/>
              </a:rPr>
              <a:t> by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the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general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75" dirty="0">
                <a:latin typeface="Arial MT"/>
                <a:cs typeface="Arial MT"/>
              </a:rPr>
              <a:t>public.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20" dirty="0">
                <a:latin typeface="Arial MT"/>
                <a:cs typeface="Arial MT"/>
              </a:rPr>
              <a:t>It’s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owned,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95" dirty="0">
                <a:latin typeface="Arial MT"/>
                <a:cs typeface="Arial MT"/>
              </a:rPr>
              <a:t>managed,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65" dirty="0">
                <a:latin typeface="Arial MT"/>
                <a:cs typeface="Arial MT"/>
              </a:rPr>
              <a:t>and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35" dirty="0">
                <a:latin typeface="Arial MT"/>
                <a:cs typeface="Arial MT"/>
              </a:rPr>
              <a:t>operated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30" dirty="0">
                <a:latin typeface="Arial MT"/>
                <a:cs typeface="Arial MT"/>
              </a:rPr>
              <a:t>third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party </a:t>
            </a:r>
            <a:r>
              <a:rPr sz="1600" spc="-60" dirty="0">
                <a:latin typeface="Arial MT"/>
                <a:cs typeface="Arial MT"/>
              </a:rPr>
              <a:t>(or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parties),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and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25" dirty="0">
                <a:latin typeface="Arial MT"/>
                <a:cs typeface="Arial MT"/>
              </a:rPr>
              <a:t>exists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55" dirty="0">
                <a:latin typeface="Arial MT"/>
                <a:cs typeface="Arial MT"/>
              </a:rPr>
              <a:t>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the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cloud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65" dirty="0">
                <a:latin typeface="Arial MT"/>
                <a:cs typeface="Arial MT"/>
              </a:rPr>
              <a:t>provider’s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premises.</a:t>
            </a:r>
            <a:endParaRPr sz="16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15"/>
              </a:spcBef>
              <a:buSzPct val="125000"/>
              <a:buFont typeface="Microsoft Sans Serif"/>
              <a:buChar char="•"/>
              <a:tabLst>
                <a:tab pos="240665" algn="l"/>
              </a:tabLst>
            </a:pPr>
            <a:r>
              <a:rPr sz="2000" b="1" spc="-65" dirty="0">
                <a:latin typeface="Arial"/>
                <a:cs typeface="Arial"/>
              </a:rPr>
              <a:t>Community.</a:t>
            </a:r>
            <a:endParaRPr sz="2000">
              <a:latin typeface="Arial"/>
              <a:cs typeface="Arial"/>
            </a:endParaRPr>
          </a:p>
          <a:p>
            <a:pPr marL="753110" lvl="1" indent="-283210">
              <a:lnSpc>
                <a:spcPct val="100000"/>
              </a:lnSpc>
              <a:spcBef>
                <a:spcPts val="950"/>
              </a:spcBef>
              <a:buSzPct val="125000"/>
              <a:buFont typeface="Microsoft Sans Serif"/>
              <a:buChar char="•"/>
              <a:tabLst>
                <a:tab pos="753110" algn="l"/>
              </a:tabLst>
            </a:pPr>
            <a:r>
              <a:rPr sz="1600" spc="-110" dirty="0">
                <a:latin typeface="Arial MT"/>
                <a:cs typeface="Arial MT"/>
              </a:rPr>
              <a:t>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cloud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infrastructure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that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45" dirty="0">
                <a:latin typeface="Arial MT"/>
                <a:cs typeface="Arial MT"/>
              </a:rPr>
              <a:t>is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40" dirty="0">
                <a:latin typeface="Arial MT"/>
                <a:cs typeface="Arial MT"/>
              </a:rPr>
              <a:t>used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exclusively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specific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group</a:t>
            </a:r>
            <a:r>
              <a:rPr sz="1600" dirty="0">
                <a:latin typeface="Arial MT"/>
                <a:cs typeface="Arial MT"/>
              </a:rPr>
              <a:t> of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organizations.</a:t>
            </a:r>
            <a:endParaRPr sz="16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15"/>
              </a:spcBef>
              <a:buSzPct val="125000"/>
              <a:buFont typeface="Microsoft Sans Serif"/>
              <a:buChar char="•"/>
              <a:tabLst>
                <a:tab pos="240665" algn="l"/>
              </a:tabLst>
            </a:pPr>
            <a:r>
              <a:rPr sz="2000" b="1" spc="-10" dirty="0">
                <a:latin typeface="Arial"/>
                <a:cs typeface="Arial"/>
              </a:rPr>
              <a:t>Private.</a:t>
            </a:r>
            <a:endParaRPr sz="2000">
              <a:latin typeface="Arial"/>
              <a:cs typeface="Arial"/>
            </a:endParaRPr>
          </a:p>
          <a:p>
            <a:pPr marL="698500" marR="230504" lvl="1" indent="-228600">
              <a:lnSpc>
                <a:spcPct val="120000"/>
              </a:lnSpc>
              <a:spcBef>
                <a:spcPts val="570"/>
              </a:spcBef>
              <a:buChar char="•"/>
              <a:tabLst>
                <a:tab pos="698500" algn="l"/>
                <a:tab pos="753110" algn="l"/>
              </a:tabLst>
            </a:pPr>
            <a:r>
              <a:rPr sz="2000" dirty="0">
                <a:latin typeface="Microsoft Sans Serif"/>
                <a:cs typeface="Microsoft Sans Serif"/>
              </a:rPr>
              <a:t>	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14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cloud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infrastructure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45" dirty="0">
                <a:latin typeface="Arial MT"/>
                <a:cs typeface="Arial MT"/>
              </a:rPr>
              <a:t>that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145" dirty="0">
                <a:latin typeface="Arial MT"/>
                <a:cs typeface="Arial MT"/>
              </a:rPr>
              <a:t>is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40" dirty="0">
                <a:latin typeface="Arial MT"/>
                <a:cs typeface="Arial MT"/>
              </a:rPr>
              <a:t>used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exclusively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single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65" dirty="0">
                <a:latin typeface="Arial MT"/>
                <a:cs typeface="Arial MT"/>
              </a:rPr>
              <a:t>organization.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It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20" dirty="0">
                <a:latin typeface="Arial MT"/>
                <a:cs typeface="Arial MT"/>
              </a:rPr>
              <a:t>may</a:t>
            </a:r>
            <a:r>
              <a:rPr sz="1600" dirty="0">
                <a:latin typeface="Arial MT"/>
                <a:cs typeface="Arial MT"/>
              </a:rPr>
              <a:t> be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owned,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managed,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operated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11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the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organization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0" dirty="0">
                <a:latin typeface="Arial MT"/>
                <a:cs typeface="Arial MT"/>
              </a:rPr>
              <a:t> third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party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(or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combination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95" dirty="0">
                <a:latin typeface="Arial MT"/>
                <a:cs typeface="Arial MT"/>
              </a:rPr>
              <a:t>both),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and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20" dirty="0">
                <a:latin typeface="Arial MT"/>
                <a:cs typeface="Arial MT"/>
              </a:rPr>
              <a:t>may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exist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45" dirty="0">
                <a:latin typeface="Arial MT"/>
                <a:cs typeface="Arial MT"/>
              </a:rPr>
              <a:t>on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35" dirty="0">
                <a:latin typeface="Arial MT"/>
                <a:cs typeface="Arial MT"/>
              </a:rPr>
              <a:t>premises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off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premises.</a:t>
            </a:r>
            <a:endParaRPr sz="16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15"/>
              </a:spcBef>
              <a:buSzPct val="125000"/>
              <a:buFont typeface="Microsoft Sans Serif"/>
              <a:buChar char="•"/>
              <a:tabLst>
                <a:tab pos="240665" algn="l"/>
              </a:tabLst>
            </a:pPr>
            <a:r>
              <a:rPr sz="2000" b="1" spc="-10" dirty="0">
                <a:latin typeface="Arial"/>
                <a:cs typeface="Arial"/>
              </a:rPr>
              <a:t>Hybrid.</a:t>
            </a:r>
            <a:endParaRPr sz="2000">
              <a:latin typeface="Arial"/>
              <a:cs typeface="Arial"/>
            </a:endParaRPr>
          </a:p>
          <a:p>
            <a:pPr marL="698500" marR="5080" lvl="1" indent="-228600" algn="just">
              <a:lnSpc>
                <a:spcPct val="120000"/>
              </a:lnSpc>
              <a:spcBef>
                <a:spcPts val="565"/>
              </a:spcBef>
              <a:buSzPct val="125000"/>
              <a:buFont typeface="Microsoft Sans Serif"/>
              <a:buChar char="•"/>
              <a:tabLst>
                <a:tab pos="698500" algn="l"/>
                <a:tab pos="699770" algn="l"/>
              </a:tabLst>
            </a:pPr>
            <a:r>
              <a:rPr sz="1600" dirty="0">
                <a:latin typeface="Arial MT"/>
                <a:cs typeface="Arial MT"/>
              </a:rPr>
              <a:t>	A</a:t>
            </a:r>
            <a:r>
              <a:rPr sz="1600" spc="-114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cloud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infrastructure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45" dirty="0">
                <a:latin typeface="Arial MT"/>
                <a:cs typeface="Arial MT"/>
              </a:rPr>
              <a:t>that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150" dirty="0">
                <a:latin typeface="Arial MT"/>
                <a:cs typeface="Arial MT"/>
              </a:rPr>
              <a:t>comprises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75" dirty="0">
                <a:latin typeface="Arial MT"/>
                <a:cs typeface="Arial MT"/>
              </a:rPr>
              <a:t>two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5" dirty="0">
                <a:latin typeface="Arial MT"/>
                <a:cs typeface="Arial MT"/>
              </a:rPr>
              <a:t>more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the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aforementioned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deployment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35" dirty="0">
                <a:latin typeface="Arial MT"/>
                <a:cs typeface="Arial MT"/>
              </a:rPr>
              <a:t>models,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bound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 </a:t>
            </a:r>
            <a:r>
              <a:rPr sz="1600" spc="-20" dirty="0">
                <a:latin typeface="Arial MT"/>
                <a:cs typeface="Arial MT"/>
              </a:rPr>
              <a:t>standardized </a:t>
            </a:r>
            <a:r>
              <a:rPr sz="1600" spc="-10" dirty="0">
                <a:latin typeface="Arial MT"/>
                <a:cs typeface="Arial MT"/>
              </a:rPr>
              <a:t>or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proprietary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95" dirty="0">
                <a:latin typeface="Arial MT"/>
                <a:cs typeface="Arial MT"/>
              </a:rPr>
              <a:t>technology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that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enables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45" dirty="0">
                <a:latin typeface="Arial MT"/>
                <a:cs typeface="Arial MT"/>
              </a:rPr>
              <a:t>application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portability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(for </a:t>
            </a:r>
            <a:r>
              <a:rPr sz="1600" spc="-95" dirty="0">
                <a:latin typeface="Arial MT"/>
                <a:cs typeface="Arial MT"/>
              </a:rPr>
              <a:t>example,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fail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over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secondary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data </a:t>
            </a:r>
            <a:r>
              <a:rPr sz="1600" spc="-105" dirty="0">
                <a:latin typeface="Arial MT"/>
                <a:cs typeface="Arial MT"/>
              </a:rPr>
              <a:t>center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disaster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recovery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or </a:t>
            </a:r>
            <a:r>
              <a:rPr sz="1600" spc="-120" dirty="0">
                <a:latin typeface="Arial MT"/>
                <a:cs typeface="Arial MT"/>
              </a:rPr>
              <a:t>content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40" dirty="0">
                <a:latin typeface="Arial MT"/>
                <a:cs typeface="Arial MT"/>
              </a:rPr>
              <a:t>delivery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14" dirty="0">
                <a:latin typeface="Arial MT"/>
                <a:cs typeface="Arial MT"/>
              </a:rPr>
              <a:t>networks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55" dirty="0">
                <a:latin typeface="Arial MT"/>
                <a:cs typeface="Arial MT"/>
              </a:rPr>
              <a:t>across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75" dirty="0">
                <a:latin typeface="Arial MT"/>
                <a:cs typeface="Arial MT"/>
              </a:rPr>
              <a:t>multiple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clouds).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7126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1460" y="606678"/>
            <a:ext cx="7648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30" dirty="0">
                <a:solidFill>
                  <a:srgbClr val="386E52"/>
                </a:solidFill>
              </a:rPr>
              <a:t>CLOUD</a:t>
            </a:r>
            <a:r>
              <a:rPr sz="4800" spc="10" dirty="0">
                <a:solidFill>
                  <a:srgbClr val="386E52"/>
                </a:solidFill>
              </a:rPr>
              <a:t> </a:t>
            </a:r>
            <a:r>
              <a:rPr sz="4800" spc="-680" dirty="0">
                <a:solidFill>
                  <a:srgbClr val="386E52"/>
                </a:solidFill>
              </a:rPr>
              <a:t>DEPLOYMENT</a:t>
            </a:r>
            <a:r>
              <a:rPr sz="4800" spc="10" dirty="0">
                <a:solidFill>
                  <a:srgbClr val="386E52"/>
                </a:solidFill>
              </a:rPr>
              <a:t> </a:t>
            </a:r>
            <a:r>
              <a:rPr sz="4800" spc="-620" dirty="0">
                <a:solidFill>
                  <a:srgbClr val="386E52"/>
                </a:solidFill>
              </a:rPr>
              <a:t>MODELS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02691" y="1695145"/>
            <a:ext cx="44380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63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Private</a:t>
            </a:r>
            <a:r>
              <a:rPr sz="2400" b="1" spc="2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Cloud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2400" spc="10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organization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has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complete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control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over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the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IT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infrastructure.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652" y="2087879"/>
            <a:ext cx="4145279" cy="41437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70752" y="1605153"/>
            <a:ext cx="43205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b="1" spc="50" dirty="0">
                <a:solidFill>
                  <a:srgbClr val="386E52"/>
                </a:solidFill>
                <a:latin typeface="Trebuchet MS"/>
                <a:cs typeface="Trebuchet MS"/>
              </a:rPr>
              <a:t>Community</a:t>
            </a:r>
            <a:r>
              <a:rPr sz="2400" b="1" spc="8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Cloud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2400" spc="1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different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organizations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have</a:t>
            </a:r>
            <a:r>
              <a:rPr sz="2400" spc="-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control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over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IT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infrastructure.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7940" y="1903476"/>
            <a:ext cx="4459223" cy="44592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2694600" y="1982520"/>
              <a:ext cx="7283880" cy="42894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5240" y="1973160"/>
                <a:ext cx="7302600" cy="4308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487" y="502158"/>
            <a:ext cx="7648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30" dirty="0">
                <a:solidFill>
                  <a:srgbClr val="386E52"/>
                </a:solidFill>
              </a:rPr>
              <a:t>CLOUD</a:t>
            </a:r>
            <a:r>
              <a:rPr sz="4800" spc="10" dirty="0">
                <a:solidFill>
                  <a:srgbClr val="386E52"/>
                </a:solidFill>
              </a:rPr>
              <a:t> </a:t>
            </a:r>
            <a:r>
              <a:rPr sz="4800" spc="-680" dirty="0">
                <a:solidFill>
                  <a:srgbClr val="386E52"/>
                </a:solidFill>
              </a:rPr>
              <a:t>DEPLOYMENT</a:t>
            </a:r>
            <a:r>
              <a:rPr sz="4800" spc="10" dirty="0">
                <a:solidFill>
                  <a:srgbClr val="386E52"/>
                </a:solidFill>
              </a:rPr>
              <a:t> </a:t>
            </a:r>
            <a:r>
              <a:rPr sz="4800" spc="-620" dirty="0">
                <a:solidFill>
                  <a:srgbClr val="386E52"/>
                </a:solidFill>
              </a:rPr>
              <a:t>MODELS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02691" y="1695145"/>
            <a:ext cx="487743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63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Public</a:t>
            </a:r>
            <a:r>
              <a:rPr sz="2400" b="1" spc="55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Cloud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2400" spc="1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114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cloud</a:t>
            </a:r>
            <a:r>
              <a:rPr sz="2400" spc="1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provider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owns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IT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infrastructure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and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organizations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rent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IT</a:t>
            </a:r>
            <a:r>
              <a:rPr sz="2400" spc="-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resources</a:t>
            </a:r>
            <a:r>
              <a:rPr sz="2400" spc="-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in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cloud.</a:t>
            </a:r>
            <a:endParaRPr sz="2400">
              <a:latin typeface="Leelawadee UI"/>
              <a:cs typeface="Leelawade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0752" y="1605153"/>
            <a:ext cx="54121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b="1" spc="60" dirty="0">
                <a:solidFill>
                  <a:srgbClr val="386E52"/>
                </a:solidFill>
                <a:latin typeface="Trebuchet MS"/>
                <a:cs typeface="Trebuchet MS"/>
              </a:rPr>
              <a:t>Hybrid</a:t>
            </a:r>
            <a:r>
              <a:rPr sz="2400" b="1" spc="-5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Cloud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:</a:t>
            </a:r>
            <a:r>
              <a:rPr sz="24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organization</a:t>
            </a:r>
            <a:r>
              <a:rPr sz="24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has</a:t>
            </a:r>
            <a:r>
              <a:rPr sz="2400" spc="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its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own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cloud but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also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rents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IT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resources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public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cloud.</a:t>
            </a:r>
            <a:endParaRPr sz="2400">
              <a:latin typeface="Leelawadee UI"/>
              <a:cs typeface="Leelawade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919" y="1903476"/>
            <a:ext cx="4459224" cy="44592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3156" y="2474976"/>
            <a:ext cx="4041648" cy="40416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5936" y="2902966"/>
            <a:ext cx="7510780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VMWARE</a:t>
            </a:r>
            <a:r>
              <a:rPr spc="-29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SOLUTIONS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2192" y="2130297"/>
            <a:ext cx="101568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Moves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u="sng" dirty="0">
                <a:solidFill>
                  <a:srgbClr val="386E52"/>
                </a:solidFill>
                <a:uFill>
                  <a:solidFill>
                    <a:srgbClr val="386E52"/>
                  </a:solidFill>
                </a:uFill>
                <a:latin typeface="Leelawadee UI"/>
                <a:cs typeface="Leelawadee UI"/>
              </a:rPr>
              <a:t>running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virtual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machines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from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one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ESXi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host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another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ESXi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host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without</a:t>
            </a:r>
            <a:r>
              <a:rPr sz="24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service</a:t>
            </a:r>
            <a:r>
              <a:rPr sz="24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interruption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(live</a:t>
            </a:r>
            <a:r>
              <a:rPr sz="24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migration)</a:t>
            </a:r>
            <a:endParaRPr sz="240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Increases</a:t>
            </a:r>
            <a:r>
              <a:rPr sz="24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availability</a:t>
            </a:r>
            <a:r>
              <a:rPr sz="2400" b="1" spc="-4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computing</a:t>
            </a:r>
            <a:r>
              <a:rPr sz="2400" spc="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resources</a:t>
            </a:r>
            <a:endParaRPr sz="2400">
              <a:latin typeface="Leelawadee UI"/>
              <a:cs typeface="Leelawadee U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6544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0"/>
              </a:spcBef>
            </a:pPr>
            <a:r>
              <a:rPr sz="4800" spc="-335" dirty="0">
                <a:solidFill>
                  <a:srgbClr val="386E52"/>
                </a:solidFill>
              </a:rPr>
              <a:t>VMOTION</a:t>
            </a:r>
            <a:endParaRPr sz="4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8496" y="3709415"/>
            <a:ext cx="4779263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2352" y="2927604"/>
            <a:ext cx="6201156" cy="34640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82192" y="1919985"/>
            <a:ext cx="1085088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Moves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disks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configuration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files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running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virtual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machine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from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one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datastore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another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datastore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without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service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interruption</a:t>
            </a:r>
            <a:endParaRPr sz="240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Increases</a:t>
            </a:r>
            <a:r>
              <a:rPr sz="2400" spc="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b="1" dirty="0">
                <a:solidFill>
                  <a:srgbClr val="386E52"/>
                </a:solidFill>
                <a:latin typeface="Trebuchet MS"/>
                <a:cs typeface="Trebuchet MS"/>
              </a:rPr>
              <a:t>availability</a:t>
            </a:r>
            <a:r>
              <a:rPr sz="2400" b="1" spc="20" dirty="0">
                <a:solidFill>
                  <a:srgbClr val="386E52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storage</a:t>
            </a:r>
            <a:endParaRPr sz="2400">
              <a:latin typeface="Leelawadee UI"/>
              <a:cs typeface="Leelawadee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186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0"/>
              </a:spcBef>
            </a:pPr>
            <a:r>
              <a:rPr sz="4800" spc="-650" dirty="0">
                <a:solidFill>
                  <a:srgbClr val="386E52"/>
                </a:solidFill>
              </a:rPr>
              <a:t>STORAGE</a:t>
            </a:r>
            <a:r>
              <a:rPr sz="4800" spc="10" dirty="0">
                <a:solidFill>
                  <a:srgbClr val="386E52"/>
                </a:solidFill>
              </a:rPr>
              <a:t> </a:t>
            </a:r>
            <a:r>
              <a:rPr sz="4800" spc="-335" dirty="0">
                <a:solidFill>
                  <a:srgbClr val="386E52"/>
                </a:solidFill>
              </a:rPr>
              <a:t>VMOTION</a:t>
            </a:r>
            <a:endParaRPr sz="48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3113532"/>
            <a:ext cx="7845552" cy="32781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84631" y="1967610"/>
            <a:ext cx="105200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2430" marR="5080" indent="-380365" algn="just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Pools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servers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(hosts)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VMs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reside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them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cluster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so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in 	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event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failure,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virtual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machines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 failed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host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are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restarted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on 	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alternate</a:t>
            </a:r>
            <a:r>
              <a:rPr sz="2400" spc="-8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hosts</a:t>
            </a:r>
            <a:endParaRPr sz="2400">
              <a:latin typeface="Leelawadee UI"/>
              <a:cs typeface="Leelawadee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0707" rIns="0" bIns="0" rtlCol="0">
            <a:spAutoFit/>
          </a:bodyPr>
          <a:lstStyle/>
          <a:p>
            <a:pPr marL="430530">
              <a:lnSpc>
                <a:spcPct val="100000"/>
              </a:lnSpc>
              <a:spcBef>
                <a:spcPts val="100"/>
              </a:spcBef>
            </a:pPr>
            <a:r>
              <a:rPr sz="4800" spc="-390" dirty="0">
                <a:solidFill>
                  <a:srgbClr val="386E52"/>
                </a:solidFill>
              </a:rPr>
              <a:t>HIGH</a:t>
            </a:r>
            <a:r>
              <a:rPr sz="4800" spc="-10" dirty="0">
                <a:solidFill>
                  <a:srgbClr val="386E52"/>
                </a:solidFill>
              </a:rPr>
              <a:t> </a:t>
            </a:r>
            <a:r>
              <a:rPr sz="4800" spc="-565" dirty="0">
                <a:solidFill>
                  <a:srgbClr val="386E52"/>
                </a:solidFill>
              </a:rPr>
              <a:t>AVAILABILITY</a:t>
            </a:r>
            <a:r>
              <a:rPr sz="4800" spc="-35" dirty="0">
                <a:solidFill>
                  <a:srgbClr val="386E52"/>
                </a:solidFill>
              </a:rPr>
              <a:t> </a:t>
            </a:r>
            <a:r>
              <a:rPr sz="4800" spc="-390" dirty="0">
                <a:solidFill>
                  <a:srgbClr val="386E52"/>
                </a:solidFill>
              </a:rPr>
              <a:t>(HA)</a:t>
            </a:r>
            <a:endParaRPr sz="48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9627" y="3595115"/>
            <a:ext cx="6245352" cy="309829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3554" y="1556766"/>
            <a:ext cx="11022965" cy="23006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35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What</a:t>
            </a:r>
            <a:r>
              <a:rPr sz="2100" spc="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problem</a:t>
            </a:r>
            <a:r>
              <a:rPr sz="2100" spc="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does</a:t>
            </a:r>
            <a:r>
              <a:rPr sz="21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DRS</a:t>
            </a:r>
            <a:r>
              <a:rPr sz="2100" spc="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solve?</a:t>
            </a:r>
            <a:endParaRPr sz="2100">
              <a:latin typeface="Leelawadee UI"/>
              <a:cs typeface="Leelawadee UI"/>
            </a:endParaRPr>
          </a:p>
          <a:p>
            <a:pPr marL="393700" marR="5080" indent="-381000">
              <a:lnSpc>
                <a:spcPct val="101899"/>
              </a:lnSpc>
              <a:spcBef>
                <a:spcPts val="2545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HA</a:t>
            </a:r>
            <a:r>
              <a:rPr sz="2100" spc="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clusters</a:t>
            </a:r>
            <a:r>
              <a:rPr sz="21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need</a:t>
            </a:r>
            <a:r>
              <a:rPr sz="21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100" spc="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be</a:t>
            </a:r>
            <a:r>
              <a:rPr sz="21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monitored</a:t>
            </a:r>
            <a:r>
              <a:rPr sz="21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1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managed.</a:t>
            </a:r>
            <a:r>
              <a:rPr sz="21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DRS</a:t>
            </a:r>
            <a:r>
              <a:rPr sz="2100" spc="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implements</a:t>
            </a:r>
            <a:r>
              <a:rPr sz="2100" spc="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100" spc="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shared</a:t>
            </a:r>
            <a:r>
              <a:rPr sz="2100" spc="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management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interface</a:t>
            </a:r>
            <a:r>
              <a:rPr sz="21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so</a:t>
            </a:r>
            <a:r>
              <a:rPr sz="21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100" spc="8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cluster’s</a:t>
            </a:r>
            <a:r>
              <a:rPr sz="2100" spc="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resources</a:t>
            </a:r>
            <a:r>
              <a:rPr sz="2100" spc="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can</a:t>
            </a:r>
            <a:r>
              <a:rPr sz="2100" spc="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be</a:t>
            </a:r>
            <a:r>
              <a:rPr sz="21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monitored</a:t>
            </a:r>
            <a:r>
              <a:rPr sz="21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1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managed</a:t>
            </a:r>
            <a:endParaRPr sz="2100">
              <a:latin typeface="Leelawadee UI"/>
              <a:cs typeface="Leelawadee UI"/>
            </a:endParaRPr>
          </a:p>
          <a:p>
            <a:pPr marL="393700" marR="169545" indent="-381000">
              <a:lnSpc>
                <a:spcPct val="101400"/>
              </a:lnSpc>
              <a:spcBef>
                <a:spcPts val="2555"/>
              </a:spcBef>
              <a:buFont typeface="Microsoft Sans Serif"/>
              <a:buChar char="•"/>
              <a:tabLst>
                <a:tab pos="393700" algn="l"/>
              </a:tabLst>
            </a:pP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vSphere</a:t>
            </a:r>
            <a:r>
              <a:rPr sz="2100" spc="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Storage</a:t>
            </a:r>
            <a:r>
              <a:rPr sz="2100" spc="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Distributed</a:t>
            </a:r>
            <a:r>
              <a:rPr sz="2100" spc="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Resource</a:t>
            </a:r>
            <a:r>
              <a:rPr sz="2100" spc="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Scheduler</a:t>
            </a:r>
            <a:r>
              <a:rPr sz="2100" spc="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provides</a:t>
            </a:r>
            <a:r>
              <a:rPr sz="2100" spc="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100" spc="9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same</a:t>
            </a:r>
            <a:r>
              <a:rPr sz="2100" spc="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solution</a:t>
            </a:r>
            <a:r>
              <a:rPr sz="2100" spc="7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dirty="0">
                <a:solidFill>
                  <a:srgbClr val="386E52"/>
                </a:solidFill>
                <a:latin typeface="Leelawadee UI"/>
                <a:cs typeface="Leelawadee UI"/>
              </a:rPr>
              <a:t>for</a:t>
            </a:r>
            <a:r>
              <a:rPr sz="2100" spc="7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100" spc="-10" dirty="0">
                <a:solidFill>
                  <a:srgbClr val="386E52"/>
                </a:solidFill>
                <a:latin typeface="Leelawadee UI"/>
                <a:cs typeface="Leelawadee UI"/>
              </a:rPr>
              <a:t>storage clusters</a:t>
            </a:r>
            <a:endParaRPr sz="2100">
              <a:latin typeface="Leelawadee UI"/>
              <a:cs typeface="Leelawadee U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9929" y="632206"/>
            <a:ext cx="8104505" cy="594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spc="-535" dirty="0">
                <a:solidFill>
                  <a:srgbClr val="386E52"/>
                </a:solidFill>
              </a:rPr>
              <a:t>DISTRIBUTED</a:t>
            </a:r>
            <a:r>
              <a:rPr sz="3700" spc="-25" dirty="0">
                <a:solidFill>
                  <a:srgbClr val="386E52"/>
                </a:solidFill>
              </a:rPr>
              <a:t> </a:t>
            </a:r>
            <a:r>
              <a:rPr sz="3700" spc="-600" dirty="0">
                <a:solidFill>
                  <a:srgbClr val="386E52"/>
                </a:solidFill>
              </a:rPr>
              <a:t>RESOURCE</a:t>
            </a:r>
            <a:r>
              <a:rPr sz="3700" spc="-5" dirty="0">
                <a:solidFill>
                  <a:srgbClr val="386E52"/>
                </a:solidFill>
              </a:rPr>
              <a:t> </a:t>
            </a:r>
            <a:r>
              <a:rPr sz="3700" spc="-605" dirty="0">
                <a:solidFill>
                  <a:srgbClr val="386E52"/>
                </a:solidFill>
              </a:rPr>
              <a:t>SCHEDULER</a:t>
            </a:r>
            <a:r>
              <a:rPr sz="3700" spc="-15" dirty="0">
                <a:solidFill>
                  <a:srgbClr val="386E52"/>
                </a:solidFill>
              </a:rPr>
              <a:t> </a:t>
            </a:r>
            <a:r>
              <a:rPr sz="3700" spc="-484" dirty="0">
                <a:solidFill>
                  <a:srgbClr val="386E52"/>
                </a:solidFill>
              </a:rPr>
              <a:t>(DRS)</a:t>
            </a:r>
            <a:endParaRPr sz="37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2192" y="1842973"/>
            <a:ext cx="1047750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secondary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copy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of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that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virtual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machine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its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files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created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on</a:t>
            </a:r>
            <a:r>
              <a:rPr sz="2400" spc="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another</a:t>
            </a:r>
            <a:endParaRPr sz="2400">
              <a:latin typeface="Leelawadee UI"/>
              <a:cs typeface="Leelawadee UI"/>
            </a:endParaRPr>
          </a:p>
          <a:p>
            <a:pPr marL="39306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ESXi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host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datastore</a:t>
            </a:r>
            <a:endParaRPr sz="2400">
              <a:latin typeface="Leelawadee UI"/>
              <a:cs typeface="Leelawadee UI"/>
            </a:endParaRPr>
          </a:p>
          <a:p>
            <a:pPr marL="393065" marR="840740" indent="-381000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Using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FT,</a:t>
            </a:r>
            <a:r>
              <a:rPr sz="2400" spc="-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transfer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different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server</a:t>
            </a:r>
            <a:r>
              <a:rPr sz="2400" spc="-4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is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seamless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will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not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be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noticeable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the</a:t>
            </a:r>
            <a:r>
              <a:rPr sz="2400" spc="-1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end-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user</a:t>
            </a:r>
            <a:endParaRPr sz="2400">
              <a:latin typeface="Leelawadee UI"/>
              <a:cs typeface="Leelawadee U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3151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0"/>
              </a:spcBef>
            </a:pPr>
            <a:r>
              <a:rPr sz="4800" spc="-775" dirty="0">
                <a:solidFill>
                  <a:srgbClr val="386E52"/>
                </a:solidFill>
              </a:rPr>
              <a:t>FAULT</a:t>
            </a:r>
            <a:r>
              <a:rPr sz="4800" spc="-5" dirty="0">
                <a:solidFill>
                  <a:srgbClr val="386E52"/>
                </a:solidFill>
              </a:rPr>
              <a:t> </a:t>
            </a:r>
            <a:r>
              <a:rPr sz="4800" spc="-690" dirty="0">
                <a:solidFill>
                  <a:srgbClr val="386E52"/>
                </a:solidFill>
              </a:rPr>
              <a:t>TOLERANCE</a:t>
            </a:r>
            <a:r>
              <a:rPr sz="4800" dirty="0">
                <a:solidFill>
                  <a:srgbClr val="386E52"/>
                </a:solidFill>
              </a:rPr>
              <a:t> </a:t>
            </a:r>
            <a:r>
              <a:rPr sz="4800" spc="-590" dirty="0">
                <a:solidFill>
                  <a:srgbClr val="386E52"/>
                </a:solidFill>
              </a:rPr>
              <a:t>(FT)</a:t>
            </a:r>
            <a:endParaRPr sz="4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7923" y="3392422"/>
            <a:ext cx="5207508" cy="334670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2192" y="1882521"/>
            <a:ext cx="554799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5080" indent="-38100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vSphere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Replication</a:t>
            </a:r>
            <a:r>
              <a:rPr sz="2400" spc="-5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makes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copies</a:t>
            </a:r>
            <a:r>
              <a:rPr sz="2400" spc="-6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of VMs</a:t>
            </a:r>
            <a:r>
              <a:rPr sz="2400" spc="-5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in</a:t>
            </a:r>
            <a:r>
              <a:rPr sz="2400" spc="-2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different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physical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location,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useful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for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data</a:t>
            </a:r>
            <a:r>
              <a:rPr sz="2400" spc="-6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protection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and</a:t>
            </a:r>
            <a:r>
              <a:rPr sz="2400" spc="-4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disaster recovery</a:t>
            </a:r>
            <a:endParaRPr sz="2400">
              <a:latin typeface="Leelawadee UI"/>
              <a:cs typeface="Leelawadee UI"/>
            </a:endParaRPr>
          </a:p>
          <a:p>
            <a:pPr marL="393065" indent="-380365">
              <a:lnSpc>
                <a:spcPct val="100000"/>
              </a:lnSpc>
              <a:spcBef>
                <a:spcPts val="2880"/>
              </a:spcBef>
              <a:buFont typeface="Microsoft Sans Serif"/>
              <a:buChar char="•"/>
              <a:tabLst>
                <a:tab pos="393065" algn="l"/>
              </a:tabLst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Works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with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vSphere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Client</a:t>
            </a:r>
            <a:r>
              <a:rPr sz="2400" spc="-3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allow</a:t>
            </a:r>
            <a:endParaRPr sz="2400">
              <a:latin typeface="Leelawadee UI"/>
              <a:cs typeface="Leelawadee UI"/>
            </a:endParaRPr>
          </a:p>
          <a:p>
            <a:pPr marL="39306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admins</a:t>
            </a:r>
            <a:r>
              <a:rPr sz="2400" spc="-35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dirty="0">
                <a:solidFill>
                  <a:srgbClr val="386E52"/>
                </a:solidFill>
                <a:latin typeface="Leelawadee UI"/>
                <a:cs typeface="Leelawadee UI"/>
              </a:rPr>
              <a:t>to</a:t>
            </a:r>
            <a:r>
              <a:rPr sz="2400" spc="-20" dirty="0">
                <a:solidFill>
                  <a:srgbClr val="386E52"/>
                </a:solidFill>
                <a:latin typeface="Leelawadee UI"/>
                <a:cs typeface="Leelawadee UI"/>
              </a:rPr>
              <a:t> </a:t>
            </a:r>
            <a:r>
              <a:rPr sz="2400" spc="-10" dirty="0">
                <a:solidFill>
                  <a:srgbClr val="386E52"/>
                </a:solidFill>
                <a:latin typeface="Leelawadee UI"/>
                <a:cs typeface="Leelawadee UI"/>
              </a:rPr>
              <a:t>monitor</a:t>
            </a:r>
            <a:endParaRPr sz="2400">
              <a:latin typeface="Leelawadee UI"/>
              <a:cs typeface="Leelawadee U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7144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0"/>
              </a:spcBef>
            </a:pPr>
            <a:r>
              <a:rPr sz="4800" spc="-620" dirty="0">
                <a:solidFill>
                  <a:srgbClr val="386E52"/>
                </a:solidFill>
              </a:rPr>
              <a:t>REPLICATION</a:t>
            </a:r>
            <a:endParaRPr sz="4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1883" y="1395983"/>
            <a:ext cx="4690872" cy="394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</TotalTime>
  <Words>2486</Words>
  <Application>Microsoft Office PowerPoint</Application>
  <PresentationFormat>Custom</PresentationFormat>
  <Paragraphs>324</Paragraphs>
  <Slides>80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1" baseType="lpstr">
      <vt:lpstr>Office Theme</vt:lpstr>
      <vt:lpstr>Cloud and Virtualization Concepts</vt:lpstr>
      <vt:lpstr>Why learn virtualization?</vt:lpstr>
      <vt:lpstr>THIS CONTENT WILL HELP YOU</vt:lpstr>
      <vt:lpstr>VIRTUALIZATION BENEFITS</vt:lpstr>
      <vt:lpstr>PowerPoint Presentation</vt:lpstr>
      <vt:lpstr>Course Objectives</vt:lpstr>
      <vt:lpstr>Course Overview</vt:lpstr>
      <vt:lpstr>WHAT IS</vt:lpstr>
      <vt:lpstr>HARDWARE AND SOFTWARE</vt:lpstr>
      <vt:lpstr>HARDWARE</vt:lpstr>
      <vt:lpstr>SOFTWARE</vt:lpstr>
      <vt:lpstr>PowerPoint Presentation</vt:lpstr>
      <vt:lpstr>PowerPoint Presentation</vt:lpstr>
      <vt:lpstr>WHAT IS A VM ?</vt:lpstr>
      <vt:lpstr>WHAT IS A VM?</vt:lpstr>
      <vt:lpstr>PowerPoint Presentation</vt:lpstr>
      <vt:lpstr>PowerPoint Presentation</vt:lpstr>
      <vt:lpstr>CLOUD COMPUTING</vt:lpstr>
      <vt:lpstr>virtualization benefits for our environment</vt:lpstr>
      <vt:lpstr>THE HYPERVISOR</vt:lpstr>
      <vt:lpstr>WHAT IS A HYPERVISOR?</vt:lpstr>
      <vt:lpstr>PowerPoint Presentation</vt:lpstr>
      <vt:lpstr>PowerPoint Presentation</vt:lpstr>
      <vt:lpstr>PowerPoint Presentation</vt:lpstr>
      <vt:lpstr>VIRTUAL MACHINE FILES</vt:lpstr>
      <vt:lpstr>WHAT IS A SNAPSHOT?</vt:lpstr>
      <vt:lpstr>INSTALL VMWARE</vt:lpstr>
      <vt:lpstr>CREATE VIRTUAL MACHINE ON VMWARE</vt:lpstr>
      <vt:lpstr>PowerPoint Presentation</vt:lpstr>
      <vt:lpstr>BOOTING FROM VMWARE</vt:lpstr>
      <vt:lpstr>INSTALL WINDOWS 10 ON VMWARE</vt:lpstr>
      <vt:lpstr>THE DATA CENTER</vt:lpstr>
      <vt:lpstr>WHAT IS A DATA CENTER?</vt:lpstr>
      <vt:lpstr>COMPUTE SYSTEMS</vt:lpstr>
      <vt:lpstr>COMPUTE SYSTEMS</vt:lpstr>
      <vt:lpstr>NETWORKS</vt:lpstr>
      <vt:lpstr>STORAGE</vt:lpstr>
      <vt:lpstr>STORAGE - RAID</vt:lpstr>
      <vt:lpstr>STORAGE - BLOCK VS. FILE-LEVEL</vt:lpstr>
      <vt:lpstr>STORAGE – TYPES OF DATA CENTER STORAGE</vt:lpstr>
      <vt:lpstr>STORAGE TYPE</vt:lpstr>
      <vt:lpstr>PowerPoint Presentation</vt:lpstr>
      <vt:lpstr>PowerPoint Presentation</vt:lpstr>
      <vt:lpstr>STORAGE PROVISIONING</vt:lpstr>
      <vt:lpstr>PowerPoint Presentation</vt:lpstr>
      <vt:lpstr>THE VIRTUAL DATA CENTER</vt:lpstr>
      <vt:lpstr>BENEFITS OF A VIRTUAL DATA CENTER</vt:lpstr>
      <vt:lpstr>WHAT IS VSPHERE?</vt:lpstr>
      <vt:lpstr>WHAT IS VSPHERE?</vt:lpstr>
      <vt:lpstr>VSPHERE</vt:lpstr>
      <vt:lpstr>WHAT IS ESXI?</vt:lpstr>
      <vt:lpstr>VCENTER</vt:lpstr>
      <vt:lpstr>VSPHERE CLIENT</vt:lpstr>
      <vt:lpstr>VSPHERE CLIENT</vt:lpstr>
      <vt:lpstr>VSPHERE HOST CLIENT</vt:lpstr>
      <vt:lpstr>SERVER VIRTUALIZATION</vt:lpstr>
      <vt:lpstr>STORAGE VIRTUALIZATION</vt:lpstr>
      <vt:lpstr>STORAGE VIRTUALIZATION</vt:lpstr>
      <vt:lpstr>NETWORK VIRTUALIZATION</vt:lpstr>
      <vt:lpstr>TYPES OF VIRTUAL NETWORKS</vt:lpstr>
      <vt:lpstr>APPLICATION AND DESKTOP VIRTUALIZATION</vt:lpstr>
      <vt:lpstr>WHAT IS CLOUD ???</vt:lpstr>
      <vt:lpstr>PowerPoint Presentation</vt:lpstr>
      <vt:lpstr>THE CLOUD</vt:lpstr>
      <vt:lpstr>Cloud computing service models</vt:lpstr>
      <vt:lpstr>CLOUD COMPUTING SERVICE MODELS</vt:lpstr>
      <vt:lpstr>TYPES OF CLOUD COMPUTING</vt:lpstr>
      <vt:lpstr>TYPES OF CLOUD COMPUTING</vt:lpstr>
      <vt:lpstr>TYPES OF CLOUD COMPUTING</vt:lpstr>
      <vt:lpstr>TYPES OF CLOUD COMPUTING</vt:lpstr>
      <vt:lpstr>CLOUD COMPUTING DEPLOYMENT MODELS:</vt:lpstr>
      <vt:lpstr>CLOUD DEPLOYMENT MODELS</vt:lpstr>
      <vt:lpstr>CLOUD DEPLOYMENT MODELS</vt:lpstr>
      <vt:lpstr>VMWARE SOLUTIONS</vt:lpstr>
      <vt:lpstr>VMOTION</vt:lpstr>
      <vt:lpstr>STORAGE VMOTION</vt:lpstr>
      <vt:lpstr>HIGH AVAILABILITY (HA)</vt:lpstr>
      <vt:lpstr>DISTRIBUTED RESOURCE SCHEDULER (DRS)</vt:lpstr>
      <vt:lpstr>FAULT TOLERANCE (FT)</vt:lpstr>
      <vt:lpstr>REPLICATION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Ramy Badie</dc:creator>
  <cp:lastModifiedBy>Ekram</cp:lastModifiedBy>
  <cp:revision>11</cp:revision>
  <dcterms:created xsi:type="dcterms:W3CDTF">2026-02-05T11:54:28Z</dcterms:created>
  <dcterms:modified xsi:type="dcterms:W3CDTF">2026-06-16T14:15:59Z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2026-02-05T00:00:00Z</vt:filetime>
  </property>
  <property fmtid="{D5CDD505-2E9C-101B-9397-08002B2CF9AE}" pid="5" name="Producer">
    <vt:lpwstr>Microsoft® PowerPoint® 2016</vt:lpwstr>
  </property>
</Properties>
</file>