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</p:sldIdLst>
  <p:sldSz cx="9144000" cy="6858000" type="screen4x3"/>
  <p:notesSz cx="9144000" cy="6858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24" d="100"/>
          <a:sy n="124" d="100"/>
        </p:scale>
        <p:origin x="182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1873" y="2598241"/>
            <a:ext cx="5080253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5940" y="5316423"/>
            <a:ext cx="8072119" cy="100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929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60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6414" y="784606"/>
            <a:ext cx="8091170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8798"/>
            <a:ext cx="8067040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929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655" y="3382390"/>
            <a:ext cx="7961630" cy="3415029"/>
            <a:chOff x="676655" y="3382390"/>
            <a:chExt cx="7961630" cy="3415029"/>
          </a:xfrm>
        </p:grpSpPr>
        <p:sp>
          <p:nvSpPr>
            <p:cNvPr id="3" name="object 3"/>
            <p:cNvSpPr/>
            <p:nvPr/>
          </p:nvSpPr>
          <p:spPr>
            <a:xfrm>
              <a:off x="686561" y="3399281"/>
              <a:ext cx="7848600" cy="1905"/>
            </a:xfrm>
            <a:custGeom>
              <a:avLst/>
              <a:gdLst/>
              <a:ahLst/>
              <a:cxnLst/>
              <a:rect l="l" t="t" r="r" b="b"/>
              <a:pathLst>
                <a:path w="7848600" h="1904">
                  <a:moveTo>
                    <a:pt x="0" y="0"/>
                  </a:moveTo>
                  <a:lnTo>
                    <a:pt x="7848600" y="1523"/>
                  </a:lnTo>
                </a:path>
              </a:pathLst>
            </a:custGeom>
            <a:ln w="19812">
              <a:solidFill>
                <a:srgbClr val="D25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636" y="3382390"/>
              <a:ext cx="3414610" cy="34145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1676400"/>
            <a:ext cx="7848600" cy="1623060"/>
          </a:xfrm>
          <a:prstGeom prst="rect">
            <a:avLst/>
          </a:prstGeom>
          <a:ln w="9144">
            <a:solidFill>
              <a:srgbClr val="92A19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6100">
              <a:latin typeface="Times New Roman"/>
              <a:cs typeface="Times New Roman"/>
            </a:endParaRPr>
          </a:p>
          <a:p>
            <a:pPr marL="344805">
              <a:lnSpc>
                <a:spcPct val="100000"/>
              </a:lnSpc>
              <a:spcBef>
                <a:spcPts val="5"/>
              </a:spcBef>
            </a:pPr>
            <a:r>
              <a:rPr sz="4400" spc="-100" dirty="0"/>
              <a:t>LINU</a:t>
            </a:r>
            <a:r>
              <a:rPr sz="4400" dirty="0"/>
              <a:t>X</a:t>
            </a:r>
            <a:r>
              <a:rPr sz="4400" spc="-465" dirty="0"/>
              <a:t> </a:t>
            </a:r>
            <a:r>
              <a:rPr sz="4400" spc="-95" dirty="0"/>
              <a:t>A</a:t>
            </a:r>
            <a:r>
              <a:rPr sz="4400" spc="-100" dirty="0"/>
              <a:t>D</a:t>
            </a:r>
            <a:r>
              <a:rPr sz="4400" spc="-95" dirty="0"/>
              <a:t>M</a:t>
            </a:r>
            <a:r>
              <a:rPr sz="4400" spc="-100" dirty="0"/>
              <a:t>I</a:t>
            </a:r>
            <a:r>
              <a:rPr sz="4400" dirty="0"/>
              <a:t>N</a:t>
            </a:r>
            <a:r>
              <a:rPr sz="4400" spc="-245" dirty="0"/>
              <a:t> </a:t>
            </a:r>
            <a:r>
              <a:rPr sz="4400" spc="-95" dirty="0"/>
              <a:t>BAS</a:t>
            </a:r>
            <a:r>
              <a:rPr sz="4400" spc="-100" dirty="0"/>
              <a:t>I</a:t>
            </a:r>
            <a:r>
              <a:rPr sz="4400" dirty="0"/>
              <a:t>C</a:t>
            </a:r>
            <a:r>
              <a:rPr sz="4400" spc="-215" dirty="0"/>
              <a:t> </a:t>
            </a:r>
            <a:r>
              <a:rPr sz="4400" spc="-95" dirty="0"/>
              <a:t>SK</a:t>
            </a:r>
            <a:r>
              <a:rPr sz="4400" spc="-100" dirty="0"/>
              <a:t>ILL</a:t>
            </a:r>
            <a:r>
              <a:rPr sz="4400" dirty="0"/>
              <a:t>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535940" y="5589219"/>
            <a:ext cx="3701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6566D"/>
                </a:solidFill>
                <a:latin typeface="Arial MT"/>
                <a:cs typeface="Arial MT"/>
              </a:rPr>
              <a:t>By:</a:t>
            </a:r>
            <a:r>
              <a:rPr sz="2400" spc="-25" dirty="0">
                <a:solidFill>
                  <a:srgbClr val="56566D"/>
                </a:solidFill>
                <a:latin typeface="Arial MT"/>
                <a:cs typeface="Arial MT"/>
              </a:rPr>
              <a:t> </a:t>
            </a:r>
            <a:r>
              <a:rPr lang="en-US" sz="2400" spc="-5" dirty="0" err="1">
                <a:solidFill>
                  <a:srgbClr val="56566D"/>
                </a:solidFill>
                <a:latin typeface="Arial MT"/>
                <a:cs typeface="Arial MT"/>
              </a:rPr>
              <a:t>Ramy</a:t>
            </a:r>
            <a:r>
              <a:rPr lang="en-US" sz="2400" spc="-5" dirty="0">
                <a:solidFill>
                  <a:srgbClr val="56566D"/>
                </a:solidFill>
                <a:latin typeface="Arial MT"/>
                <a:cs typeface="Arial MT"/>
              </a:rPr>
              <a:t> Adel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6673" y="4127372"/>
            <a:ext cx="3096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Shel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l</a:t>
            </a:r>
            <a:r>
              <a:rPr sz="40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rip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in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464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0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r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952105" cy="175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simplest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case,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nothing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than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list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commands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stored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 file.</a:t>
            </a:r>
            <a:endParaRPr sz="240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20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very least,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saves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effort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retyping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particular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sequence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each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time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it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invoked.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933" y="3837614"/>
            <a:ext cx="2074333" cy="26271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464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r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86"/>
            <a:ext cx="6717030" cy="37585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may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contain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one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these 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variables</a:t>
            </a:r>
            <a:r>
              <a:rPr sz="2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definition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r>
              <a:rPr sz="2000" spc="-8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execution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read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input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from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user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loops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conditional</a:t>
            </a:r>
            <a:r>
              <a:rPr sz="2000" spc="-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statements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print</a:t>
            </a:r>
            <a:r>
              <a:rPr sz="2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output</a:t>
            </a:r>
            <a:r>
              <a:rPr sz="20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terminal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pipe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redirection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other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files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call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other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……..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996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0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How</a:t>
            </a:r>
            <a:r>
              <a:rPr sz="4000" spc="-555" dirty="0"/>
              <a:t>T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8798"/>
            <a:ext cx="7981315" cy="408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2375"/>
              </a:lnSpc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i="1" spc="-5" dirty="0">
                <a:solidFill>
                  <a:srgbClr val="292934"/>
                </a:solidFill>
                <a:latin typeface="Arial"/>
                <a:cs typeface="Arial"/>
              </a:rPr>
              <a:t>sha-bang</a:t>
            </a:r>
            <a:r>
              <a:rPr sz="22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#!)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head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tells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your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endParaRPr sz="2200">
              <a:latin typeface="Arial MT"/>
              <a:cs typeface="Arial MT"/>
            </a:endParaRPr>
          </a:p>
          <a:p>
            <a:pPr marL="194945">
              <a:lnSpc>
                <a:spcPts val="2115"/>
              </a:lnSpc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this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is a set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 be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fed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  <a:p>
            <a:pPr marL="194945">
              <a:lnSpc>
                <a:spcPts val="2370"/>
              </a:lnSpc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 command</a:t>
            </a:r>
            <a:r>
              <a:rPr sz="2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interpreter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indicated.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ts val="2275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  <a:tab pos="1016635" algn="l"/>
              </a:tabLst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E.x.	</a:t>
            </a:r>
            <a:r>
              <a:rPr sz="1900" b="1" spc="-5" dirty="0">
                <a:solidFill>
                  <a:srgbClr val="D2523B"/>
                </a:solidFill>
                <a:latin typeface="Courier New"/>
                <a:cs typeface="Courier New"/>
              </a:rPr>
              <a:t>#!/bin/bash</a:t>
            </a:r>
            <a:endParaRPr sz="1900">
              <a:latin typeface="Courier New"/>
              <a:cs typeface="Courier New"/>
            </a:endParaRPr>
          </a:p>
          <a:p>
            <a:pPr marL="744220" lvl="2" indent="-183515"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17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line should be 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first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line in 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your</a:t>
            </a:r>
            <a:r>
              <a:rPr sz="17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endParaRPr sz="17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1750">
              <a:latin typeface="Arial MT"/>
              <a:cs typeface="Arial MT"/>
            </a:endParaRPr>
          </a:p>
          <a:p>
            <a:pPr marL="195580" indent="-182880">
              <a:lnSpc>
                <a:spcPts val="2375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Scripts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normal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text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files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x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(read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</a:t>
            </a:r>
            <a:endParaRPr sz="2200">
              <a:latin typeface="Arial MT"/>
              <a:cs typeface="Arial MT"/>
            </a:endParaRPr>
          </a:p>
          <a:p>
            <a:pPr marL="194945">
              <a:lnSpc>
                <a:spcPts val="2345"/>
              </a:lnSpc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necessary also):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ts val="2610"/>
              </a:lnSpc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touch</a:t>
            </a:r>
            <a:r>
              <a:rPr sz="22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scriptname</a:t>
            </a:r>
            <a:endParaRPr sz="2200">
              <a:latin typeface="Courier New"/>
              <a:cs typeface="Courier New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chmod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 u+rx</a:t>
            </a: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 scriptname</a:t>
            </a:r>
            <a:endParaRPr sz="2200">
              <a:latin typeface="Courier New"/>
              <a:cs typeface="Courier New"/>
            </a:endParaRPr>
          </a:p>
          <a:p>
            <a:pPr marL="194945" marR="233045" indent="-182880">
              <a:lnSpc>
                <a:spcPct val="80100"/>
              </a:lnSpc>
              <a:spcBef>
                <a:spcPts val="2165"/>
              </a:spcBef>
              <a:buClr>
                <a:srgbClr val="92A199"/>
              </a:buClr>
              <a:buSzPct val="84782"/>
              <a:buChar char="•"/>
              <a:tabLst>
                <a:tab pos="195580" algn="l"/>
              </a:tabLst>
            </a:pP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A shell script may be named .sh or .bash according to the </a:t>
            </a:r>
            <a:r>
              <a:rPr sz="2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23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defined</a:t>
            </a:r>
            <a:r>
              <a:rPr sz="23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3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3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"sha-bang"</a:t>
            </a:r>
            <a:r>
              <a:rPr sz="23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line,</a:t>
            </a:r>
            <a:r>
              <a:rPr sz="23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but</a:t>
            </a:r>
            <a:r>
              <a:rPr sz="23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remember</a:t>
            </a:r>
            <a:r>
              <a:rPr sz="23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3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this </a:t>
            </a:r>
            <a:r>
              <a:rPr sz="2300" spc="-6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extension</a:t>
            </a:r>
            <a:r>
              <a:rPr sz="23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doesn’t</a:t>
            </a:r>
            <a:r>
              <a:rPr sz="23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r>
              <a:rPr sz="23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any</a:t>
            </a:r>
            <a:r>
              <a:rPr sz="23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Arial MT"/>
                <a:cs typeface="Arial MT"/>
              </a:rPr>
              <a:t>effect</a:t>
            </a:r>
            <a:r>
              <a:rPr sz="23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3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92934"/>
                </a:solidFill>
                <a:latin typeface="Arial MT"/>
                <a:cs typeface="Arial MT"/>
              </a:rPr>
              <a:t>execution.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996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How</a:t>
            </a:r>
            <a:r>
              <a:rPr sz="4000" spc="-555" dirty="0"/>
              <a:t>T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74571"/>
            <a:ext cx="8061325" cy="45256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12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run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may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one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following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methods: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13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./scriptname</a:t>
            </a:r>
            <a:endParaRPr sz="2200">
              <a:latin typeface="Courier New"/>
              <a:cs typeface="Courier New"/>
            </a:endParaRPr>
          </a:p>
          <a:p>
            <a:pPr marL="744220" marR="415925" lvl="2" indent="-182880">
              <a:lnSpc>
                <a:spcPts val="2290"/>
              </a:lnSpc>
              <a:spcBef>
                <a:spcPts val="765"/>
              </a:spcBef>
              <a:buClr>
                <a:srgbClr val="92A199"/>
              </a:buClr>
              <a:buSzPct val="88636"/>
              <a:buChar char="•"/>
              <a:tabLst>
                <a:tab pos="744855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 "sha-bang" with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shell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bin path is required and execute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is required.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00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sh</a:t>
            </a:r>
            <a:r>
              <a:rPr sz="2200" b="1" spc="-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scriptname</a:t>
            </a:r>
            <a:endParaRPr sz="2200">
              <a:latin typeface="Courier New"/>
              <a:cs typeface="Courier New"/>
            </a:endParaRPr>
          </a:p>
          <a:p>
            <a:pPr marL="744220" lvl="2" indent="-183515">
              <a:lnSpc>
                <a:spcPts val="2510"/>
              </a:lnSpc>
              <a:spcBef>
                <a:spcPts val="395"/>
              </a:spcBef>
              <a:buClr>
                <a:srgbClr val="92A199"/>
              </a:buClr>
              <a:buSzPct val="88636"/>
              <a:buChar char="•"/>
              <a:tabLst>
                <a:tab pos="744855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script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using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sh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shell,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endParaRPr sz="2200">
              <a:latin typeface="Arial MT"/>
              <a:cs typeface="Arial MT"/>
            </a:endParaRPr>
          </a:p>
          <a:p>
            <a:pPr marL="744220">
              <a:lnSpc>
                <a:spcPts val="2510"/>
              </a:lnSpc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not</a:t>
            </a:r>
            <a:r>
              <a:rPr sz="2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required.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130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bash</a:t>
            </a:r>
            <a:r>
              <a:rPr sz="2200" b="1" spc="-2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scriptname</a:t>
            </a:r>
            <a:endParaRPr sz="2200">
              <a:latin typeface="Courier New"/>
              <a:cs typeface="Courier New"/>
            </a:endParaRPr>
          </a:p>
          <a:p>
            <a:pPr marL="744220" lvl="2" indent="-183515">
              <a:lnSpc>
                <a:spcPts val="2510"/>
              </a:lnSpc>
              <a:spcBef>
                <a:spcPts val="395"/>
              </a:spcBef>
              <a:buClr>
                <a:srgbClr val="92A199"/>
              </a:buClr>
              <a:buSzPct val="88636"/>
              <a:buChar char="•"/>
              <a:tabLst>
                <a:tab pos="744855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script using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bash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shell,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endParaRPr sz="2200">
              <a:latin typeface="Arial MT"/>
              <a:cs typeface="Arial MT"/>
            </a:endParaRPr>
          </a:p>
          <a:p>
            <a:pPr marL="744220">
              <a:lnSpc>
                <a:spcPts val="2510"/>
              </a:lnSpc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is not required.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13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source</a:t>
            </a:r>
            <a:r>
              <a:rPr sz="2200" b="1" spc="-1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scriptname</a:t>
            </a:r>
            <a:endParaRPr sz="2200">
              <a:latin typeface="Courier New"/>
              <a:cs typeface="Courier New"/>
            </a:endParaRPr>
          </a:p>
          <a:p>
            <a:pPr marL="744220" marR="982344" lvl="2" indent="-182880">
              <a:lnSpc>
                <a:spcPts val="2290"/>
              </a:lnSpc>
              <a:spcBef>
                <a:spcPts val="765"/>
              </a:spcBef>
              <a:buClr>
                <a:srgbClr val="92A199"/>
              </a:buClr>
              <a:buSzPct val="88636"/>
              <a:buChar char="•"/>
              <a:tabLst>
                <a:tab pos="744855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script in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current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session (i.e.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shell),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permission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not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required.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996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How</a:t>
            </a:r>
            <a:r>
              <a:rPr sz="4000" spc="-555" dirty="0"/>
              <a:t>T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4998"/>
            <a:ext cx="7981950" cy="44348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4945" marR="449580" indent="-182880">
              <a:lnSpc>
                <a:spcPts val="2110"/>
              </a:lnSpc>
              <a:spcBef>
                <a:spcPts val="60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It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good practice to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end you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script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with an exit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holding 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exit status.</a:t>
            </a:r>
            <a:endParaRPr sz="2200">
              <a:latin typeface="Arial MT"/>
              <a:cs typeface="Arial MT"/>
            </a:endParaRPr>
          </a:p>
          <a:p>
            <a:pPr marL="194945" marR="5080" indent="-182880">
              <a:lnSpc>
                <a:spcPct val="80000"/>
              </a:lnSpc>
              <a:spcBef>
                <a:spcPts val="1870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ends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"/>
                <a:cs typeface="Arial"/>
              </a:rPr>
              <a:t>exit</a:t>
            </a:r>
            <a:r>
              <a:rPr sz="22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has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parameter,</a:t>
            </a:r>
            <a:r>
              <a:rPr sz="2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exit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status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 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script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is 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exit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status of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last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executed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(previous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 the</a:t>
            </a:r>
            <a:r>
              <a:rPr sz="22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"/>
                <a:cs typeface="Arial"/>
              </a:rPr>
              <a:t>exit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).</a:t>
            </a:r>
            <a:endParaRPr sz="22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32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75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your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own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exit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status to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exit command.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ts val="2245"/>
              </a:lnSpc>
              <a:spcBef>
                <a:spcPts val="10"/>
              </a:spcBef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E.x</a:t>
            </a:r>
            <a:endParaRPr sz="1900">
              <a:latin typeface="Arial MT"/>
              <a:cs typeface="Arial MT"/>
            </a:endParaRPr>
          </a:p>
          <a:p>
            <a:pPr marL="744220" lvl="2" indent="-183515">
              <a:lnSpc>
                <a:spcPts val="2605"/>
              </a:lnSpc>
              <a:buClr>
                <a:srgbClr val="92A199"/>
              </a:buClr>
              <a:buSzPct val="88636"/>
              <a:buFont typeface="Arial MT"/>
              <a:buChar char="•"/>
              <a:tabLst>
                <a:tab pos="744855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exit</a:t>
            </a:r>
            <a:r>
              <a:rPr sz="2200" b="1" spc="-83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0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(success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ul e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x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ecution)</a:t>
            </a:r>
            <a:endParaRPr sz="17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buClr>
                <a:srgbClr val="92A199"/>
              </a:buClr>
              <a:buSzPct val="88636"/>
              <a:buFont typeface="Arial MT"/>
              <a:buChar char="•"/>
              <a:tabLst>
                <a:tab pos="744855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exit</a:t>
            </a:r>
            <a:r>
              <a:rPr sz="2200" b="1" spc="-83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1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255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(unsuccessful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x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ecu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ion)</a:t>
            </a:r>
            <a:endParaRPr sz="17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92A199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195580" indent="-182880">
              <a:lnSpc>
                <a:spcPts val="26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12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debug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your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script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use: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ts val="2610"/>
              </a:lnSpc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bash</a:t>
            </a:r>
            <a:r>
              <a:rPr sz="2200" b="1" spc="-78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-x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scriptna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9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4090"/>
              <a:buFont typeface="Arial MT"/>
              <a:buChar char="•"/>
              <a:tabLst>
                <a:tab pos="470534" algn="l"/>
              </a:tabLst>
            </a:pP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set</a:t>
            </a:r>
            <a:r>
              <a:rPr sz="2200" b="1" spc="-78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-x and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D2523B"/>
                </a:solidFill>
                <a:latin typeface="Courier New"/>
                <a:cs typeface="Courier New"/>
              </a:rPr>
              <a:t>set</a:t>
            </a:r>
            <a:r>
              <a:rPr sz="2200" b="1" spc="-77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+x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w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ithin</a:t>
            </a:r>
            <a:r>
              <a:rPr sz="19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itself.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397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0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spc="-100" dirty="0"/>
              <a:t>x</a:t>
            </a:r>
            <a:r>
              <a:rPr sz="4000" spc="-105" dirty="0"/>
              <a:t>ampl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6006465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Here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 an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example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simple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470534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961" y="2583942"/>
            <a:ext cx="6934200" cy="2586355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46685" marR="566737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9933CC"/>
                </a:solidFill>
                <a:latin typeface="Arial MT"/>
                <a:cs typeface="Arial MT"/>
              </a:rPr>
              <a:t>#</a:t>
            </a:r>
            <a:r>
              <a:rPr sz="1800" spc="-40" dirty="0">
                <a:solidFill>
                  <a:srgbClr val="9933CC"/>
                </a:solidFill>
                <a:latin typeface="Arial MT"/>
                <a:cs typeface="Arial MT"/>
              </a:rPr>
              <a:t>!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/bi</a:t>
            </a:r>
            <a:r>
              <a:rPr sz="1800" spc="-15" dirty="0">
                <a:solidFill>
                  <a:srgbClr val="9933CC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/b</a:t>
            </a:r>
            <a:r>
              <a:rPr sz="1800" spc="-15" dirty="0">
                <a:solidFill>
                  <a:srgbClr val="9933CC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sh 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clear</a:t>
            </a:r>
            <a:endParaRPr sz="1800">
              <a:latin typeface="Arial MT"/>
              <a:cs typeface="Arial MT"/>
            </a:endParaRPr>
          </a:p>
          <a:p>
            <a:pPr marL="146685" marR="39566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"The</a:t>
            </a:r>
            <a:r>
              <a:rPr sz="1800" spc="-3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script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starts</a:t>
            </a:r>
            <a:r>
              <a:rPr sz="1800" spc="-2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now" </a:t>
            </a:r>
            <a:r>
              <a:rPr sz="1800" spc="-484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"Hello,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$USER!"</a:t>
            </a:r>
            <a:endParaRPr sz="1800">
              <a:latin typeface="Arial MT"/>
              <a:cs typeface="Arial MT"/>
            </a:endParaRPr>
          </a:p>
          <a:p>
            <a:pPr marL="146685" marR="244475">
              <a:lnSpc>
                <a:spcPct val="100000"/>
              </a:lnSpc>
              <a:tabLst>
                <a:tab pos="5054600" algn="l"/>
              </a:tabLst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"Here are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some interesting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information</a:t>
            </a:r>
            <a:r>
              <a:rPr sz="18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about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your</a:t>
            </a:r>
            <a:r>
              <a:rPr sz="1800" spc="4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system:" </a:t>
            </a:r>
            <a:r>
              <a:rPr sz="1800" spc="-484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r>
              <a:rPr sz="1800" u="heavy" spc="-5" dirty="0">
                <a:solidFill>
                  <a:srgbClr val="66CC33"/>
                </a:solidFill>
                <a:uFill>
                  <a:solidFill>
                    <a:srgbClr val="65CB32"/>
                  </a:solidFill>
                </a:u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uname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-a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  <a:tabLst>
                <a:tab pos="5054600" algn="l"/>
              </a:tabLst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r>
              <a:rPr sz="1800" u="heavy" spc="-5" dirty="0">
                <a:solidFill>
                  <a:srgbClr val="66CC33"/>
                </a:solidFill>
                <a:uFill>
                  <a:solidFill>
                    <a:srgbClr val="65CB32"/>
                  </a:solidFill>
                </a:u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"I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am giving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you</a:t>
            </a:r>
            <a:r>
              <a:rPr sz="18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prompt 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now"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76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405" dirty="0"/>
              <a:t>V</a:t>
            </a:r>
            <a:r>
              <a:rPr sz="4000" spc="-105" dirty="0"/>
              <a:t>ariable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7987030" cy="43599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Make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sure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setting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variable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there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spaces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around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the =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sign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1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myvar=5</a:t>
            </a:r>
            <a:endParaRPr sz="20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74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the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value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variable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$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160"/>
              </a:spcBef>
              <a:buClr>
                <a:srgbClr val="92A199"/>
              </a:buClr>
              <a:buSzPct val="85000"/>
              <a:buFont typeface="Arial MT"/>
              <a:buChar char="•"/>
              <a:tabLst>
                <a:tab pos="470534" algn="l"/>
              </a:tabLst>
            </a:pPr>
            <a:r>
              <a:rPr sz="2000" b="1" dirty="0">
                <a:solidFill>
                  <a:srgbClr val="D2523B"/>
                </a:solidFill>
                <a:latin typeface="Courier New"/>
                <a:cs typeface="Courier New"/>
              </a:rPr>
              <a:t>echo</a:t>
            </a:r>
            <a:r>
              <a:rPr sz="2000" b="1" spc="-6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$PATH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19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take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input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value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from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user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to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variable: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160"/>
              </a:spcBef>
              <a:buClr>
                <a:srgbClr val="92A199"/>
              </a:buClr>
              <a:buSzPct val="85000"/>
              <a:buFont typeface="Arial MT"/>
              <a:buChar char="•"/>
              <a:tabLst>
                <a:tab pos="470534" algn="l"/>
              </a:tabLst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read</a:t>
            </a:r>
            <a:r>
              <a:rPr sz="2000" b="1" spc="-1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–p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“please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enter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value:”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variablename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92A199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read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passed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 script: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$0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$1,$2,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$3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…..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passed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301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Quoi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493634" cy="172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Quoting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means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just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that,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bracketing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string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quotes.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8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Quoting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remove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special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meaning</a:t>
            </a:r>
            <a:endParaRPr sz="2400">
              <a:latin typeface="Arial MT"/>
              <a:cs typeface="Arial MT"/>
            </a:endParaRPr>
          </a:p>
          <a:p>
            <a:pPr marL="194945">
              <a:lnSpc>
                <a:spcPct val="100000"/>
              </a:lnSpc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characters or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words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force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its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literal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meaning.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E.x.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4388" y="3460717"/>
            <a:ext cx="6899909" cy="1488440"/>
            <a:chOff x="1394388" y="3460717"/>
            <a:chExt cx="6899909" cy="1488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4388" y="3460717"/>
              <a:ext cx="6899291" cy="14878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2955" y="3619499"/>
              <a:ext cx="6402324" cy="990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301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Quoi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920355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referencing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variable,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it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generally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advisable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enclose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its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double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quotes.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prevents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reinterpretation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all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special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characters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within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quoted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string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except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$,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`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(backquote),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\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(escape),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single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quotes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if you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want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 remove the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effect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 $, `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(backquote),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\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(escape).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9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E.x.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5127" y="3995940"/>
            <a:ext cx="6314440" cy="1859280"/>
            <a:chOff x="1405127" y="3995940"/>
            <a:chExt cx="6314440" cy="1859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5127" y="3995940"/>
              <a:ext cx="6313932" cy="18591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199" y="4190999"/>
              <a:ext cx="5743956" cy="1289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244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She</a:t>
            </a:r>
            <a:r>
              <a:rPr sz="3600" spc="-95" dirty="0"/>
              <a:t>l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Sc</a:t>
            </a:r>
            <a:r>
              <a:rPr sz="3600" spc="-95" dirty="0"/>
              <a:t>ri</a:t>
            </a:r>
            <a:r>
              <a:rPr sz="3600" spc="-100" dirty="0"/>
              <a:t>p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n</a:t>
            </a:r>
            <a:r>
              <a:rPr sz="3600" spc="-5" dirty="0"/>
              <a:t>g</a:t>
            </a:r>
            <a:r>
              <a:rPr sz="3600" spc="-235" dirty="0"/>
              <a:t> </a:t>
            </a:r>
            <a:r>
              <a:rPr sz="3600" dirty="0"/>
              <a:t>-</a:t>
            </a:r>
            <a:r>
              <a:rPr sz="3600" spc="-400" dirty="0"/>
              <a:t> </a:t>
            </a:r>
            <a:r>
              <a:rPr sz="3600" spc="-100" dirty="0"/>
              <a:t>A</a:t>
            </a:r>
            <a:r>
              <a:rPr sz="3600" spc="-95" dirty="0"/>
              <a:t>ri</a:t>
            </a:r>
            <a:r>
              <a:rPr sz="3600" spc="-105" dirty="0"/>
              <a:t>t</a:t>
            </a:r>
            <a:r>
              <a:rPr sz="3600" spc="-100" dirty="0"/>
              <a:t>h</a:t>
            </a:r>
            <a:r>
              <a:rPr sz="3600" spc="-95" dirty="0"/>
              <a:t>m</a:t>
            </a:r>
            <a:r>
              <a:rPr sz="3600" spc="-100" dirty="0"/>
              <a:t>e</a:t>
            </a:r>
            <a:r>
              <a:rPr sz="3600" spc="-105" dirty="0"/>
              <a:t>t</a:t>
            </a:r>
            <a:r>
              <a:rPr sz="3600" spc="-110" dirty="0"/>
              <a:t>i</a:t>
            </a:r>
            <a:r>
              <a:rPr sz="3600" dirty="0"/>
              <a:t>c</a:t>
            </a:r>
            <a:r>
              <a:rPr sz="3600" spc="-235" dirty="0"/>
              <a:t> </a:t>
            </a:r>
            <a:r>
              <a:rPr sz="3600" spc="-105" dirty="0"/>
              <a:t>O</a:t>
            </a:r>
            <a:r>
              <a:rPr sz="3600" spc="-100" dirty="0"/>
              <a:t>pe</a:t>
            </a:r>
            <a:r>
              <a:rPr sz="3600" spc="-95" dirty="0"/>
              <a:t>r</a:t>
            </a:r>
            <a:r>
              <a:rPr sz="3600" spc="-100" dirty="0"/>
              <a:t>a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on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86"/>
            <a:ext cx="7851140" cy="11976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write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an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arithmetic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operation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following</a:t>
            </a:r>
            <a:r>
              <a:rPr sz="24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syntax: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$[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EXPRESSION</a:t>
            </a:r>
            <a:r>
              <a:rPr sz="2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]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E.x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5283279"/>
            <a:ext cx="498983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590"/>
              </a:spcBef>
              <a:buClr>
                <a:srgbClr val="92A199"/>
              </a:buClr>
              <a:buSzPct val="85000"/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All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arithmetic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operators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allowed:</a:t>
            </a:r>
            <a:endParaRPr sz="2000">
              <a:latin typeface="Arial MT"/>
              <a:cs typeface="Arial MT"/>
            </a:endParaRPr>
          </a:p>
          <a:p>
            <a:pPr marL="287020">
              <a:lnSpc>
                <a:spcPct val="100000"/>
              </a:lnSpc>
              <a:spcBef>
                <a:spcPts val="440"/>
              </a:spcBef>
            </a:pPr>
            <a:r>
              <a:rPr sz="1600" spc="5" dirty="0">
                <a:solidFill>
                  <a:srgbClr val="92A199"/>
                </a:solidFill>
                <a:latin typeface="Arial MT"/>
                <a:cs typeface="Arial MT"/>
              </a:rPr>
              <a:t>•</a:t>
            </a:r>
            <a:r>
              <a:rPr sz="1600" spc="365" dirty="0">
                <a:solidFill>
                  <a:srgbClr val="92A1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+,-,*,/,**,%,+=,-=,*=,/=,%=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00327" y="2700527"/>
            <a:ext cx="7539355" cy="2627630"/>
            <a:chOff x="1100327" y="2700527"/>
            <a:chExt cx="7539355" cy="26276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2700527"/>
              <a:ext cx="7539228" cy="2627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399" y="2895599"/>
              <a:ext cx="6969252" cy="2057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587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She</a:t>
            </a:r>
            <a:r>
              <a:rPr sz="3600" spc="-95" dirty="0"/>
              <a:t>l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Sc</a:t>
            </a:r>
            <a:r>
              <a:rPr sz="3600" spc="-95" dirty="0"/>
              <a:t>ri</a:t>
            </a:r>
            <a:r>
              <a:rPr sz="3600" spc="-100" dirty="0"/>
              <a:t>p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n</a:t>
            </a:r>
            <a:r>
              <a:rPr sz="3600" spc="-5" dirty="0"/>
              <a:t>g</a:t>
            </a:r>
            <a:r>
              <a:rPr sz="3600" spc="-235" dirty="0"/>
              <a:t> </a:t>
            </a:r>
            <a:r>
              <a:rPr sz="3600" dirty="0"/>
              <a:t>-</a:t>
            </a:r>
            <a:r>
              <a:rPr sz="3600" spc="-210" dirty="0"/>
              <a:t> </a:t>
            </a:r>
            <a:r>
              <a:rPr sz="3600" spc="-95" dirty="0"/>
              <a:t>C</a:t>
            </a:r>
            <a:r>
              <a:rPr sz="3600" spc="-100" dirty="0"/>
              <a:t>ond</a:t>
            </a:r>
            <a:r>
              <a:rPr sz="3600" spc="-95" dirty="0"/>
              <a:t>i</a:t>
            </a:r>
            <a:r>
              <a:rPr sz="3600" spc="-105" dirty="0"/>
              <a:t>t</a:t>
            </a:r>
            <a:r>
              <a:rPr sz="3600" spc="-110" dirty="0"/>
              <a:t>i</a:t>
            </a:r>
            <a:r>
              <a:rPr sz="3600" spc="-100" dirty="0"/>
              <a:t>o</a:t>
            </a:r>
            <a:r>
              <a:rPr sz="3600" spc="-110" dirty="0"/>
              <a:t>na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</a:t>
            </a:r>
            <a:r>
              <a:rPr sz="3600" spc="-105" dirty="0"/>
              <a:t>t</a:t>
            </a:r>
            <a:r>
              <a:rPr sz="3600" spc="-100" dirty="0"/>
              <a:t>a</a:t>
            </a:r>
            <a:r>
              <a:rPr sz="3600" spc="-105" dirty="0"/>
              <a:t>t</a:t>
            </a:r>
            <a:r>
              <a:rPr sz="3600" spc="-100" dirty="0"/>
              <a:t>e</a:t>
            </a:r>
            <a:r>
              <a:rPr sz="3600" spc="-95" dirty="0"/>
              <a:t>m</a:t>
            </a:r>
            <a:r>
              <a:rPr sz="3600" spc="-100" dirty="0"/>
              <a:t>e</a:t>
            </a:r>
            <a:r>
              <a:rPr sz="3600" spc="-110" dirty="0"/>
              <a:t>n</a:t>
            </a:r>
            <a:r>
              <a:rPr sz="3600" spc="-105" dirty="0"/>
              <a:t>t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58798"/>
            <a:ext cx="5502275" cy="459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2580"/>
              </a:lnSpc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r>
              <a:rPr sz="2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statement</a:t>
            </a:r>
            <a:endParaRPr sz="2200">
              <a:latin typeface="Arial MT"/>
              <a:cs typeface="Arial MT"/>
            </a:endParaRPr>
          </a:p>
          <a:p>
            <a:pPr marL="286385" marR="1423670">
              <a:lnSpc>
                <a:spcPts val="3720"/>
              </a:lnSpc>
              <a:spcBef>
                <a:spcPts val="65"/>
              </a:spcBef>
            </a:pP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if [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condition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] </a:t>
            </a:r>
            <a:r>
              <a:rPr sz="3100" b="1" spc="-18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then</a:t>
            </a:r>
            <a:endParaRPr sz="3100">
              <a:latin typeface="Courier New"/>
              <a:cs typeface="Courier New"/>
            </a:endParaRPr>
          </a:p>
          <a:p>
            <a:pPr marL="469900">
              <a:lnSpc>
                <a:spcPts val="3595"/>
              </a:lnSpc>
            </a:pP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###things</a:t>
            </a:r>
            <a:r>
              <a:rPr sz="31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to</a:t>
            </a:r>
            <a:r>
              <a:rPr sz="31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10" dirty="0">
                <a:solidFill>
                  <a:srgbClr val="292934"/>
                </a:solidFill>
                <a:latin typeface="Courier New"/>
                <a:cs typeface="Courier New"/>
              </a:rPr>
              <a:t>do</a:t>
            </a:r>
            <a:endParaRPr sz="3100">
              <a:latin typeface="Courier New"/>
              <a:cs typeface="Courier New"/>
            </a:endParaRPr>
          </a:p>
          <a:p>
            <a:pPr marL="286385" marR="5080">
              <a:lnSpc>
                <a:spcPct val="100000"/>
              </a:lnSpc>
            </a:pP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elif [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another-cond.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] </a:t>
            </a:r>
            <a:r>
              <a:rPr sz="3100" b="1" spc="-18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then</a:t>
            </a:r>
            <a:endParaRPr sz="3100">
              <a:latin typeface="Courier New"/>
              <a:cs typeface="Courier New"/>
            </a:endParaRPr>
          </a:p>
          <a:p>
            <a:pPr marL="286385" marR="1480185" indent="182880">
              <a:lnSpc>
                <a:spcPct val="100000"/>
              </a:lnSpc>
            </a:pP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###things</a:t>
            </a:r>
            <a:r>
              <a:rPr sz="3100" b="1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to</a:t>
            </a:r>
            <a:r>
              <a:rPr sz="31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10" dirty="0">
                <a:solidFill>
                  <a:srgbClr val="292934"/>
                </a:solidFill>
                <a:latin typeface="Courier New"/>
                <a:cs typeface="Courier New"/>
              </a:rPr>
              <a:t>do </a:t>
            </a:r>
            <a:r>
              <a:rPr sz="3100" b="1" spc="-18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else</a:t>
            </a:r>
            <a:endParaRPr sz="3100">
              <a:latin typeface="Courier New"/>
              <a:cs typeface="Courier New"/>
            </a:endParaRPr>
          </a:p>
          <a:p>
            <a:pPr marL="286385" marR="1480185" indent="182880">
              <a:lnSpc>
                <a:spcPct val="100000"/>
              </a:lnSpc>
              <a:spcBef>
                <a:spcPts val="5"/>
              </a:spcBef>
            </a:pP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###things</a:t>
            </a:r>
            <a:r>
              <a:rPr sz="3100" b="1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to</a:t>
            </a:r>
            <a:r>
              <a:rPr sz="31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10" dirty="0">
                <a:solidFill>
                  <a:srgbClr val="292934"/>
                </a:solidFill>
                <a:latin typeface="Courier New"/>
                <a:cs typeface="Courier New"/>
              </a:rPr>
              <a:t>do </a:t>
            </a:r>
            <a:r>
              <a:rPr sz="3100" b="1" spc="-18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fi</a:t>
            </a:r>
            <a:endParaRPr sz="3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587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She</a:t>
            </a:r>
            <a:r>
              <a:rPr sz="3600" spc="-95" dirty="0"/>
              <a:t>l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Sc</a:t>
            </a:r>
            <a:r>
              <a:rPr sz="3600" spc="-95" dirty="0"/>
              <a:t>ri</a:t>
            </a:r>
            <a:r>
              <a:rPr sz="3600" spc="-100" dirty="0"/>
              <a:t>p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n</a:t>
            </a:r>
            <a:r>
              <a:rPr sz="3600" spc="-5" dirty="0"/>
              <a:t>g</a:t>
            </a:r>
            <a:r>
              <a:rPr sz="3600" spc="-235" dirty="0"/>
              <a:t> </a:t>
            </a:r>
            <a:r>
              <a:rPr sz="3600" dirty="0"/>
              <a:t>-</a:t>
            </a:r>
            <a:r>
              <a:rPr sz="3600" spc="-210" dirty="0"/>
              <a:t> </a:t>
            </a:r>
            <a:r>
              <a:rPr sz="3600" spc="-95" dirty="0"/>
              <a:t>C</a:t>
            </a:r>
            <a:r>
              <a:rPr sz="3600" spc="-100" dirty="0"/>
              <a:t>ond</a:t>
            </a:r>
            <a:r>
              <a:rPr sz="3600" spc="-95" dirty="0"/>
              <a:t>i</a:t>
            </a:r>
            <a:r>
              <a:rPr sz="3600" spc="-105" dirty="0"/>
              <a:t>t</a:t>
            </a:r>
            <a:r>
              <a:rPr sz="3600" spc="-110" dirty="0"/>
              <a:t>i</a:t>
            </a:r>
            <a:r>
              <a:rPr sz="3600" spc="-100" dirty="0"/>
              <a:t>o</a:t>
            </a:r>
            <a:r>
              <a:rPr sz="3600" spc="-110" dirty="0"/>
              <a:t>na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</a:t>
            </a:r>
            <a:r>
              <a:rPr sz="3600" spc="-105" dirty="0"/>
              <a:t>t</a:t>
            </a:r>
            <a:r>
              <a:rPr sz="3600" spc="-100" dirty="0"/>
              <a:t>a</a:t>
            </a:r>
            <a:r>
              <a:rPr sz="3600" spc="-105" dirty="0"/>
              <a:t>t</a:t>
            </a:r>
            <a:r>
              <a:rPr sz="3600" spc="-100" dirty="0"/>
              <a:t>e</a:t>
            </a:r>
            <a:r>
              <a:rPr sz="3600" spc="-95" dirty="0"/>
              <a:t>m</a:t>
            </a:r>
            <a:r>
              <a:rPr sz="3600" spc="-100" dirty="0"/>
              <a:t>e</a:t>
            </a:r>
            <a:r>
              <a:rPr sz="3600" spc="-110" dirty="0"/>
              <a:t>n</a:t>
            </a:r>
            <a:r>
              <a:rPr sz="3600" spc="-105" dirty="0"/>
              <a:t>t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4"/>
            <a:ext cx="8053705" cy="3596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marR="63500" indent="-182880">
              <a:lnSpc>
                <a:spcPct val="100000"/>
              </a:lnSpc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condition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often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involves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numerical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string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comparison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tests,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but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it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also be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any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22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returns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status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zero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it succeeds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some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other status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it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fails.</a:t>
            </a:r>
            <a:endParaRPr sz="22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70"/>
              </a:spcBef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Use</a:t>
            </a:r>
            <a:r>
              <a:rPr sz="19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cases:</a:t>
            </a:r>
            <a:endParaRPr sz="19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spcBef>
                <a:spcPts val="415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[-a</a:t>
            </a: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]</a:t>
            </a:r>
            <a:endParaRPr sz="1700">
              <a:latin typeface="Arial MT"/>
              <a:cs typeface="Arial MT"/>
            </a:endParaRPr>
          </a:p>
          <a:p>
            <a:pPr marL="1018540" lvl="3" indent="-183515">
              <a:lnSpc>
                <a:spcPct val="100000"/>
              </a:lnSpc>
              <a:spcBef>
                <a:spcPts val="370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500" spc="-20" dirty="0">
                <a:solidFill>
                  <a:srgbClr val="292934"/>
                </a:solidFill>
                <a:latin typeface="Arial MT"/>
                <a:cs typeface="Arial MT"/>
              </a:rPr>
              <a:t>True</a:t>
            </a:r>
            <a:r>
              <a:rPr sz="15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r>
              <a:rPr sz="15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5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exists.</a:t>
            </a:r>
            <a:endParaRPr sz="15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spcBef>
                <a:spcPts val="400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[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STRING1</a:t>
            </a:r>
            <a:r>
              <a:rPr sz="17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==</a:t>
            </a: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STRING2</a:t>
            </a:r>
            <a:r>
              <a:rPr sz="17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]</a:t>
            </a:r>
            <a:endParaRPr sz="1700">
              <a:latin typeface="Arial MT"/>
              <a:cs typeface="Arial MT"/>
            </a:endParaRPr>
          </a:p>
          <a:p>
            <a:pPr marL="1018540" lvl="3" indent="-183515">
              <a:lnSpc>
                <a:spcPct val="100000"/>
              </a:lnSpc>
              <a:spcBef>
                <a:spcPts val="370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500" spc="-15" dirty="0">
                <a:solidFill>
                  <a:srgbClr val="292934"/>
                </a:solidFill>
                <a:latin typeface="Arial MT"/>
                <a:cs typeface="Arial MT"/>
              </a:rPr>
              <a:t>True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5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strings</a:t>
            </a:r>
            <a:r>
              <a:rPr sz="15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5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equal."="</a:t>
            </a:r>
            <a:r>
              <a:rPr sz="15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may</a:t>
            </a:r>
            <a:r>
              <a:rPr sz="15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be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used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also.</a:t>
            </a:r>
            <a:endParaRPr sz="15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spcBef>
                <a:spcPts val="400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[</a:t>
            </a:r>
            <a:r>
              <a:rPr sz="1700" spc="-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1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1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2 ]</a:t>
            </a:r>
            <a:endParaRPr sz="1700">
              <a:latin typeface="Arial MT"/>
              <a:cs typeface="Arial MT"/>
            </a:endParaRPr>
          </a:p>
          <a:p>
            <a:pPr marL="1018540" marR="5080" lvl="3" indent="-182880">
              <a:lnSpc>
                <a:spcPct val="100000"/>
              </a:lnSpc>
              <a:spcBef>
                <a:spcPts val="365"/>
              </a:spcBef>
              <a:buClr>
                <a:srgbClr val="92A199"/>
              </a:buClr>
              <a:buFont typeface="Arial MT"/>
              <a:buChar char="•"/>
              <a:tabLst>
                <a:tab pos="1059815" algn="l"/>
                <a:tab pos="1060450" algn="l"/>
              </a:tabLst>
            </a:pPr>
            <a:r>
              <a:rPr dirty="0"/>
              <a:t>	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ARG1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and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ARG2 are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integers.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"OP" is one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of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-eq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(equal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to)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-ne (not equal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to)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-lt </a:t>
            </a:r>
            <a:r>
              <a:rPr sz="1500" b="1" spc="-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(less than)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-le (less than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or equal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to)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-gt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(greater than)</a:t>
            </a:r>
            <a:r>
              <a:rPr sz="15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or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-ge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(greater than </a:t>
            </a:r>
            <a:r>
              <a:rPr sz="1500" b="1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or </a:t>
            </a:r>
            <a:r>
              <a:rPr sz="15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5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equal)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587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She</a:t>
            </a:r>
            <a:r>
              <a:rPr sz="3600" spc="-95" dirty="0"/>
              <a:t>l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Sc</a:t>
            </a:r>
            <a:r>
              <a:rPr sz="3600" spc="-95" dirty="0"/>
              <a:t>ri</a:t>
            </a:r>
            <a:r>
              <a:rPr sz="3600" spc="-100" dirty="0"/>
              <a:t>p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n</a:t>
            </a:r>
            <a:r>
              <a:rPr sz="3600" spc="-5" dirty="0"/>
              <a:t>g</a:t>
            </a:r>
            <a:r>
              <a:rPr sz="3600" spc="-235" dirty="0"/>
              <a:t> </a:t>
            </a:r>
            <a:r>
              <a:rPr sz="3600" dirty="0"/>
              <a:t>-</a:t>
            </a:r>
            <a:r>
              <a:rPr sz="3600" spc="-210" dirty="0"/>
              <a:t> </a:t>
            </a:r>
            <a:r>
              <a:rPr sz="3600" spc="-95" dirty="0"/>
              <a:t>C</a:t>
            </a:r>
            <a:r>
              <a:rPr sz="3600" spc="-100" dirty="0"/>
              <a:t>ond</a:t>
            </a:r>
            <a:r>
              <a:rPr sz="3600" spc="-95" dirty="0"/>
              <a:t>i</a:t>
            </a:r>
            <a:r>
              <a:rPr sz="3600" spc="-105" dirty="0"/>
              <a:t>t</a:t>
            </a:r>
            <a:r>
              <a:rPr sz="3600" spc="-110" dirty="0"/>
              <a:t>i</a:t>
            </a:r>
            <a:r>
              <a:rPr sz="3600" spc="-100" dirty="0"/>
              <a:t>o</a:t>
            </a:r>
            <a:r>
              <a:rPr sz="3600" spc="-110" dirty="0"/>
              <a:t>na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</a:t>
            </a:r>
            <a:r>
              <a:rPr sz="3600" spc="-105" dirty="0"/>
              <a:t>t</a:t>
            </a:r>
            <a:r>
              <a:rPr sz="3600" spc="-100" dirty="0"/>
              <a:t>a</a:t>
            </a:r>
            <a:r>
              <a:rPr sz="3600" spc="-105" dirty="0"/>
              <a:t>t</a:t>
            </a:r>
            <a:r>
              <a:rPr sz="3600" spc="-100" dirty="0"/>
              <a:t>e</a:t>
            </a:r>
            <a:r>
              <a:rPr sz="3600" spc="-95" dirty="0"/>
              <a:t>m</a:t>
            </a:r>
            <a:r>
              <a:rPr sz="3600" spc="-100" dirty="0"/>
              <a:t>e</a:t>
            </a:r>
            <a:r>
              <a:rPr sz="3600" spc="-110" dirty="0"/>
              <a:t>n</a:t>
            </a:r>
            <a:r>
              <a:rPr sz="3600" spc="-105" dirty="0"/>
              <a:t>t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458210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Example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on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r>
              <a:rPr sz="24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condition: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470534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961" y="2583942"/>
            <a:ext cx="6934200" cy="3970020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#!/bin/bash</a:t>
            </a:r>
            <a:endParaRPr sz="1800">
              <a:latin typeface="Arial MT"/>
              <a:cs typeface="Arial MT"/>
            </a:endParaRPr>
          </a:p>
          <a:p>
            <a:pPr marL="146685" marR="81534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"This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scripts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checks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the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existence</a:t>
            </a:r>
            <a:r>
              <a:rPr sz="1800" spc="2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of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the main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c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files." </a:t>
            </a:r>
            <a:r>
              <a:rPr sz="1800" spc="-484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"Checking..."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if</a:t>
            </a:r>
            <a:r>
              <a:rPr sz="1800" spc="-1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[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-f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main.c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then</a:t>
            </a:r>
            <a:endParaRPr sz="1800">
              <a:latin typeface="Arial MT"/>
              <a:cs typeface="Arial MT"/>
            </a:endParaRPr>
          </a:p>
          <a:p>
            <a:pPr marL="146685" marR="3871595" indent="98425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"main exists.“ </a:t>
            </a:r>
            <a:r>
              <a:rPr sz="1800" spc="-49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elif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[ -f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main2.c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then</a:t>
            </a:r>
            <a:endParaRPr sz="1800">
              <a:latin typeface="Arial MT"/>
              <a:cs typeface="Arial MT"/>
            </a:endParaRPr>
          </a:p>
          <a:p>
            <a:pPr marL="113157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-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"main2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exists."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"main.c or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main2.c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doesn't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exist."</a:t>
            </a:r>
            <a:endParaRPr sz="1800">
              <a:latin typeface="Arial MT"/>
              <a:cs typeface="Arial MT"/>
            </a:endParaRPr>
          </a:p>
          <a:p>
            <a:pPr marL="146685" marR="6284595">
              <a:lnSpc>
                <a:spcPct val="100000"/>
              </a:lnSpc>
            </a:pPr>
            <a:r>
              <a:rPr sz="1800" dirty="0">
                <a:solidFill>
                  <a:srgbClr val="CC7833"/>
                </a:solidFill>
                <a:latin typeface="Arial MT"/>
                <a:cs typeface="Arial MT"/>
              </a:rPr>
              <a:t>fi </a:t>
            </a:r>
            <a:r>
              <a:rPr sz="1800" spc="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</a:t>
            </a:r>
            <a:r>
              <a:rPr sz="1800" spc="-15" dirty="0">
                <a:solidFill>
                  <a:srgbClr val="C7372F"/>
                </a:solidFill>
                <a:latin typeface="Arial MT"/>
                <a:cs typeface="Arial MT"/>
              </a:rPr>
              <a:t>h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o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-2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"...done."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587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She</a:t>
            </a:r>
            <a:r>
              <a:rPr sz="3600" spc="-95" dirty="0"/>
              <a:t>l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Sc</a:t>
            </a:r>
            <a:r>
              <a:rPr sz="3600" spc="-95" dirty="0"/>
              <a:t>ri</a:t>
            </a:r>
            <a:r>
              <a:rPr sz="3600" spc="-100" dirty="0"/>
              <a:t>p</a:t>
            </a:r>
            <a:r>
              <a:rPr sz="3600" spc="-105" dirty="0"/>
              <a:t>t</a:t>
            </a:r>
            <a:r>
              <a:rPr sz="3600" spc="-95" dirty="0"/>
              <a:t>i</a:t>
            </a:r>
            <a:r>
              <a:rPr sz="3600" spc="-110" dirty="0"/>
              <a:t>n</a:t>
            </a:r>
            <a:r>
              <a:rPr sz="3600" spc="-5" dirty="0"/>
              <a:t>g</a:t>
            </a:r>
            <a:r>
              <a:rPr sz="3600" spc="-235" dirty="0"/>
              <a:t> </a:t>
            </a:r>
            <a:r>
              <a:rPr sz="3600" dirty="0"/>
              <a:t>-</a:t>
            </a:r>
            <a:r>
              <a:rPr sz="3600" spc="-210" dirty="0"/>
              <a:t> </a:t>
            </a:r>
            <a:r>
              <a:rPr sz="3600" spc="-95" dirty="0"/>
              <a:t>C</a:t>
            </a:r>
            <a:r>
              <a:rPr sz="3600" spc="-100" dirty="0"/>
              <a:t>ond</a:t>
            </a:r>
            <a:r>
              <a:rPr sz="3600" spc="-95" dirty="0"/>
              <a:t>i</a:t>
            </a:r>
            <a:r>
              <a:rPr sz="3600" spc="-105" dirty="0"/>
              <a:t>t</a:t>
            </a:r>
            <a:r>
              <a:rPr sz="3600" spc="-110" dirty="0"/>
              <a:t>i</a:t>
            </a:r>
            <a:r>
              <a:rPr sz="3600" spc="-100" dirty="0"/>
              <a:t>o</a:t>
            </a:r>
            <a:r>
              <a:rPr sz="3600" spc="-110" dirty="0"/>
              <a:t>na</a:t>
            </a:r>
            <a:r>
              <a:rPr sz="3600" spc="-5" dirty="0"/>
              <a:t>l</a:t>
            </a:r>
            <a:r>
              <a:rPr sz="3600" spc="-229" dirty="0"/>
              <a:t> </a:t>
            </a:r>
            <a:r>
              <a:rPr sz="3600" spc="-100" dirty="0"/>
              <a:t>S</a:t>
            </a:r>
            <a:r>
              <a:rPr sz="3600" spc="-105" dirty="0"/>
              <a:t>t</a:t>
            </a:r>
            <a:r>
              <a:rPr sz="3600" spc="-100" dirty="0"/>
              <a:t>a</a:t>
            </a:r>
            <a:r>
              <a:rPr sz="3600" spc="-105" dirty="0"/>
              <a:t>t</a:t>
            </a:r>
            <a:r>
              <a:rPr sz="3600" spc="-100" dirty="0"/>
              <a:t>e</a:t>
            </a:r>
            <a:r>
              <a:rPr sz="3600" spc="-95" dirty="0"/>
              <a:t>m</a:t>
            </a:r>
            <a:r>
              <a:rPr sz="3600" spc="-100" dirty="0"/>
              <a:t>e</a:t>
            </a:r>
            <a:r>
              <a:rPr sz="3600" spc="-110" dirty="0"/>
              <a:t>n</a:t>
            </a:r>
            <a:r>
              <a:rPr sz="3600" spc="-105" dirty="0"/>
              <a:t>t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5266055" cy="415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ts val="282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Case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statement</a:t>
            </a:r>
            <a:endParaRPr sz="2400">
              <a:latin typeface="Arial MT"/>
              <a:cs typeface="Arial MT"/>
            </a:endParaRPr>
          </a:p>
          <a:p>
            <a:pPr marL="286385" marR="5080">
              <a:lnSpc>
                <a:spcPts val="3720"/>
              </a:lnSpc>
              <a:spcBef>
                <a:spcPts val="65"/>
              </a:spcBef>
            </a:pP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case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$variablename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in </a:t>
            </a:r>
            <a:r>
              <a:rPr sz="3100" b="1" spc="-18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value_1)</a:t>
            </a:r>
            <a:endParaRPr sz="3100">
              <a:latin typeface="Courier New"/>
              <a:cs typeface="Courier New"/>
            </a:endParaRPr>
          </a:p>
          <a:p>
            <a:pPr marL="286385" marR="770255" indent="182880">
              <a:lnSpc>
                <a:spcPts val="3720"/>
              </a:lnSpc>
            </a:pP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###things to </a:t>
            </a:r>
            <a:r>
              <a:rPr sz="3100" b="1" spc="-10" dirty="0">
                <a:solidFill>
                  <a:srgbClr val="292934"/>
                </a:solidFill>
                <a:latin typeface="Courier New"/>
                <a:cs typeface="Courier New"/>
              </a:rPr>
              <a:t>do;; </a:t>
            </a:r>
            <a:r>
              <a:rPr sz="3100" b="1" spc="-18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value_2) </a:t>
            </a:r>
            <a:r>
              <a:rPr sz="31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###things</a:t>
            </a:r>
            <a:r>
              <a:rPr sz="31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to</a:t>
            </a:r>
            <a:r>
              <a:rPr sz="3100" b="1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do;;</a:t>
            </a:r>
            <a:endParaRPr sz="3100">
              <a:latin typeface="Courier New"/>
              <a:cs typeface="Courier New"/>
            </a:endParaRPr>
          </a:p>
          <a:p>
            <a:pPr marL="286385">
              <a:lnSpc>
                <a:spcPts val="3600"/>
              </a:lnSpc>
            </a:pP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*)</a:t>
            </a:r>
            <a:endParaRPr sz="3100">
              <a:latin typeface="Courier New"/>
              <a:cs typeface="Courier New"/>
            </a:endParaRPr>
          </a:p>
          <a:p>
            <a:pPr marL="286385" marR="297815" indent="182880">
              <a:lnSpc>
                <a:spcPct val="100000"/>
              </a:lnSpc>
            </a:pPr>
            <a:r>
              <a:rPr sz="3100" b="1" spc="-5" dirty="0">
                <a:solidFill>
                  <a:srgbClr val="292934"/>
                </a:solidFill>
                <a:latin typeface="Courier New"/>
                <a:cs typeface="Courier New"/>
              </a:rPr>
              <a:t>###default action;; </a:t>
            </a:r>
            <a:r>
              <a:rPr sz="3100" b="1" spc="-18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3100" b="1" spc="-5" dirty="0">
                <a:solidFill>
                  <a:srgbClr val="D2523B"/>
                </a:solidFill>
                <a:latin typeface="Courier New"/>
                <a:cs typeface="Courier New"/>
              </a:rPr>
              <a:t>esac</a:t>
            </a:r>
            <a:endParaRPr sz="3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894334"/>
            <a:ext cx="195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/>
              <a:t>She</a:t>
            </a:r>
            <a:r>
              <a:rPr sz="2400" spc="-5" dirty="0"/>
              <a:t>l</a:t>
            </a:r>
            <a:r>
              <a:rPr sz="2400" spc="240" dirty="0"/>
              <a:t> </a:t>
            </a:r>
            <a:r>
              <a:rPr sz="2400" spc="-105" dirty="0"/>
              <a:t>S</a:t>
            </a:r>
            <a:r>
              <a:rPr sz="2400" spc="-100" dirty="0"/>
              <a:t>c</a:t>
            </a:r>
            <a:r>
              <a:rPr sz="2400" spc="-95" dirty="0"/>
              <a:t>r</a:t>
            </a:r>
            <a:r>
              <a:rPr sz="2400" spc="-110" dirty="0"/>
              <a:t>i</a:t>
            </a:r>
            <a:r>
              <a:rPr sz="2400" spc="-105" dirty="0"/>
              <a:t>p</a:t>
            </a:r>
            <a:r>
              <a:rPr sz="2400" spc="-95" dirty="0"/>
              <a:t>t</a:t>
            </a:r>
            <a:r>
              <a:rPr sz="2400" spc="-110" dirty="0"/>
              <a:t>i</a:t>
            </a:r>
            <a:r>
              <a:rPr sz="2400" spc="-105" dirty="0"/>
              <a:t>n</a:t>
            </a:r>
            <a:r>
              <a:rPr sz="2400" spc="-5" dirty="0"/>
              <a:t>g</a:t>
            </a:r>
            <a:r>
              <a:rPr sz="2400" spc="-215" dirty="0"/>
              <a:t> </a:t>
            </a:r>
            <a:r>
              <a:rPr sz="2400" dirty="0"/>
              <a:t>-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83540" y="1260094"/>
            <a:ext cx="1678939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7329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solidFill>
                  <a:srgbClr val="D2523B"/>
                </a:solidFill>
                <a:latin typeface="Arial MT"/>
                <a:cs typeface="Arial MT"/>
              </a:rPr>
              <a:t>Conditional </a:t>
            </a:r>
            <a:r>
              <a:rPr sz="2400" spc="-65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2400" spc="-95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2400" spc="-105" dirty="0">
                <a:solidFill>
                  <a:srgbClr val="D2523B"/>
                </a:solidFill>
                <a:latin typeface="Arial MT"/>
                <a:cs typeface="Arial MT"/>
              </a:rPr>
              <a:t>a</a:t>
            </a:r>
            <a:r>
              <a:rPr sz="2400" spc="-95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2400" spc="-10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2400" spc="-95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2400" spc="-105" dirty="0">
                <a:solidFill>
                  <a:srgbClr val="D2523B"/>
                </a:solidFill>
                <a:latin typeface="Arial MT"/>
                <a:cs typeface="Arial MT"/>
              </a:rPr>
              <a:t>ent</a:t>
            </a:r>
            <a:r>
              <a:rPr sz="2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  <a:p>
            <a:pPr marL="128270" marR="5080" indent="-116205">
              <a:lnSpc>
                <a:spcPct val="100000"/>
              </a:lnSpc>
              <a:spcBef>
                <a:spcPts val="1340"/>
              </a:spcBef>
              <a:buClr>
                <a:srgbClr val="92A199"/>
              </a:buClr>
              <a:buSzPct val="84375"/>
              <a:buChar char="•"/>
              <a:tabLst>
                <a:tab pos="128905" algn="l"/>
              </a:tabLst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Example</a:t>
            </a:r>
            <a:r>
              <a:rPr sz="1600" spc="-1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on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ase  statement:</a:t>
            </a:r>
            <a:endParaRPr sz="1600">
              <a:latin typeface="Arial MT"/>
              <a:cs typeface="Arial MT"/>
            </a:endParaRPr>
          </a:p>
          <a:p>
            <a:pPr marL="615950" lvl="1" indent="-146685">
              <a:lnSpc>
                <a:spcPct val="100000"/>
              </a:lnSpc>
              <a:spcBef>
                <a:spcPts val="865"/>
              </a:spcBef>
              <a:buClr>
                <a:srgbClr val="92A199"/>
              </a:buClr>
              <a:buSzPct val="106250"/>
              <a:buChar char="•"/>
              <a:tabLst>
                <a:tab pos="616585" algn="l"/>
              </a:tabLst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script3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97607" y="1283208"/>
            <a:ext cx="6884034" cy="5535295"/>
            <a:chOff x="2197607" y="1283208"/>
            <a:chExt cx="6884034" cy="5535295"/>
          </a:xfrm>
        </p:grpSpPr>
        <p:sp>
          <p:nvSpPr>
            <p:cNvPr id="5" name="object 5"/>
            <p:cNvSpPr/>
            <p:nvPr/>
          </p:nvSpPr>
          <p:spPr>
            <a:xfrm>
              <a:off x="2210561" y="1296162"/>
              <a:ext cx="6858000" cy="5509260"/>
            </a:xfrm>
            <a:custGeom>
              <a:avLst/>
              <a:gdLst/>
              <a:ahLst/>
              <a:cxnLst/>
              <a:rect l="l" t="t" r="r" b="b"/>
              <a:pathLst>
                <a:path w="6858000" h="5509259">
                  <a:moveTo>
                    <a:pt x="6858000" y="0"/>
                  </a:moveTo>
                  <a:lnTo>
                    <a:pt x="0" y="0"/>
                  </a:lnTo>
                  <a:lnTo>
                    <a:pt x="0" y="5509260"/>
                  </a:lnTo>
                  <a:lnTo>
                    <a:pt x="6858000" y="550926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0561" y="1296162"/>
              <a:ext cx="6858000" cy="5509260"/>
            </a:xfrm>
            <a:custGeom>
              <a:avLst/>
              <a:gdLst/>
              <a:ahLst/>
              <a:cxnLst/>
              <a:rect l="l" t="t" r="r" b="b"/>
              <a:pathLst>
                <a:path w="6858000" h="5509259">
                  <a:moveTo>
                    <a:pt x="0" y="5509260"/>
                  </a:moveTo>
                  <a:lnTo>
                    <a:pt x="6858000" y="5509260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5509260"/>
                  </a:lnTo>
                  <a:close/>
                </a:path>
              </a:pathLst>
            </a:custGeom>
            <a:ln w="25908">
              <a:solidFill>
                <a:srgbClr val="1B1B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5182" y="1324102"/>
            <a:ext cx="10140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9933CC"/>
                </a:solidFill>
                <a:latin typeface="Arial MT"/>
                <a:cs typeface="Arial MT"/>
              </a:rPr>
              <a:t>#!/bin/bash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5182" y="1811477"/>
            <a:ext cx="601789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read</a:t>
            </a:r>
            <a:r>
              <a:rPr sz="16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-p</a:t>
            </a:r>
            <a:r>
              <a:rPr sz="16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"Please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enter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your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generation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name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(Traditionalist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 [63-86],</a:t>
            </a:r>
            <a:r>
              <a:rPr sz="1600" spc="5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Baby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Boomer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[44-62],</a:t>
            </a:r>
            <a:r>
              <a:rPr sz="1600" spc="5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Generation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X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[28-43], </a:t>
            </a:r>
            <a:r>
              <a:rPr sz="1600" spc="-4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Millennial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[8-27]):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user_gen_name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5182" y="2787523"/>
            <a:ext cx="6156325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5381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C7833"/>
                </a:solidFill>
                <a:latin typeface="Arial MT"/>
                <a:cs typeface="Arial MT"/>
              </a:rPr>
              <a:t>case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$user_gen_name </a:t>
            </a:r>
            <a:r>
              <a:rPr sz="1600" spc="-5" dirty="0">
                <a:solidFill>
                  <a:srgbClr val="CC7833"/>
                </a:solidFill>
                <a:latin typeface="Arial MT"/>
                <a:cs typeface="Arial MT"/>
              </a:rPr>
              <a:t>in </a:t>
            </a:r>
            <a:r>
              <a:rPr sz="1600" spc="-430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"Traditionalist"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600" spc="-35" dirty="0">
                <a:solidFill>
                  <a:srgbClr val="66CC33"/>
                </a:solidFill>
                <a:latin typeface="Arial MT"/>
                <a:cs typeface="Arial MT"/>
              </a:rPr>
              <a:t>"Your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birth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year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is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between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1900-1945"</a:t>
            </a:r>
            <a:endParaRPr sz="1600">
              <a:latin typeface="Arial MT"/>
              <a:cs typeface="Arial MT"/>
            </a:endParaRPr>
          </a:p>
          <a:p>
            <a:pPr marL="12700" marR="1673225" indent="8578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600" spc="-45" dirty="0">
                <a:solidFill>
                  <a:srgbClr val="66CC33"/>
                </a:solidFill>
                <a:latin typeface="Arial MT"/>
                <a:cs typeface="Arial MT"/>
              </a:rPr>
              <a:t>"You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may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have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witnessed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WWII"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;; </a:t>
            </a:r>
            <a:r>
              <a:rPr sz="1600" spc="-4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"Baby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Boomer"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870585" marR="98742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66CC33"/>
                </a:solidFill>
                <a:latin typeface="Arial MT"/>
                <a:cs typeface="Arial MT"/>
              </a:rPr>
              <a:t>"Your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birth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year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is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between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1946-1964" 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66CC33"/>
                </a:solidFill>
                <a:latin typeface="Arial MT"/>
                <a:cs typeface="Arial MT"/>
              </a:rPr>
              <a:t>"You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may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have witnessed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Space</a:t>
            </a:r>
            <a:r>
              <a:rPr sz="1600" spc="-2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5" dirty="0">
                <a:solidFill>
                  <a:srgbClr val="66CC33"/>
                </a:solidFill>
                <a:latin typeface="Arial MT"/>
                <a:cs typeface="Arial MT"/>
              </a:rPr>
              <a:t>Travel"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"Generation</a:t>
            </a:r>
            <a:r>
              <a:rPr sz="16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X"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66CC33"/>
                </a:solidFill>
                <a:latin typeface="Arial MT"/>
                <a:cs typeface="Arial MT"/>
              </a:rPr>
              <a:t>"Your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birth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year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is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between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1965-1980"</a:t>
            </a:r>
            <a:endParaRPr sz="1600">
              <a:latin typeface="Arial MT"/>
              <a:cs typeface="Arial MT"/>
            </a:endParaRPr>
          </a:p>
          <a:p>
            <a:pPr marL="12700" marR="370840" indent="85788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66CC33"/>
                </a:solidFill>
                <a:latin typeface="Arial MT"/>
                <a:cs typeface="Arial MT"/>
              </a:rPr>
              <a:t>"You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may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have witnessed the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end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of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Cold</a:t>
            </a:r>
            <a:r>
              <a:rPr sz="16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66CC33"/>
                </a:solidFill>
                <a:latin typeface="Arial MT"/>
                <a:cs typeface="Arial MT"/>
              </a:rPr>
              <a:t>War"</a:t>
            </a:r>
            <a:r>
              <a:rPr sz="1600" spc="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;; </a:t>
            </a:r>
            <a:r>
              <a:rPr sz="1600" spc="-4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"Millennial"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66CC33"/>
                </a:solidFill>
                <a:latin typeface="Arial MT"/>
                <a:cs typeface="Arial MT"/>
              </a:rPr>
              <a:t>"Your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birth</a:t>
            </a:r>
            <a:r>
              <a:rPr sz="16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year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is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between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1981-2000"</a:t>
            </a:r>
            <a:endParaRPr sz="16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6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66CC33"/>
                </a:solidFill>
                <a:latin typeface="Arial MT"/>
                <a:cs typeface="Arial MT"/>
              </a:rPr>
              <a:t>"You</a:t>
            </a:r>
            <a:r>
              <a:rPr sz="1600" spc="2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have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witnessed</a:t>
            </a:r>
            <a:r>
              <a:rPr sz="16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the</a:t>
            </a:r>
            <a:r>
              <a:rPr sz="16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evolution</a:t>
            </a:r>
            <a:r>
              <a:rPr sz="16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of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Digital</a:t>
            </a:r>
            <a:r>
              <a:rPr sz="16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Media"</a:t>
            </a:r>
            <a:r>
              <a:rPr sz="1600" spc="3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C7833"/>
                </a:solidFill>
                <a:latin typeface="Arial MT"/>
                <a:cs typeface="Arial MT"/>
              </a:rPr>
              <a:t>*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16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"Invalid</a:t>
            </a:r>
            <a:r>
              <a:rPr sz="16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gerneration</a:t>
            </a:r>
            <a:r>
              <a:rPr sz="16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66CC33"/>
                </a:solidFill>
                <a:latin typeface="Arial MT"/>
                <a:cs typeface="Arial MT"/>
              </a:rPr>
              <a:t>name"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C7833"/>
                </a:solidFill>
                <a:latin typeface="Arial MT"/>
                <a:cs typeface="Arial MT"/>
              </a:rPr>
              <a:t>esac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81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Loops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80752"/>
            <a:ext cx="5375910" cy="24511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5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loop</a:t>
            </a:r>
            <a:endParaRPr sz="24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405"/>
              </a:spcBef>
            </a:pP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for</a:t>
            </a:r>
            <a:r>
              <a:rPr sz="2800" b="1" spc="-3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VARIABLE</a:t>
            </a:r>
            <a:r>
              <a:rPr sz="28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D2523B"/>
                </a:solidFill>
                <a:latin typeface="Courier New"/>
                <a:cs typeface="Courier New"/>
              </a:rPr>
              <a:t>in</a:t>
            </a:r>
            <a:r>
              <a:rPr sz="2800" b="1" spc="-2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LIST</a:t>
            </a:r>
            <a:endParaRPr sz="28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do</a:t>
            </a:r>
            <a:endParaRPr sz="2800">
              <a:latin typeface="Courier New"/>
              <a:cs typeface="Courier New"/>
            </a:endParaRPr>
          </a:p>
          <a:p>
            <a:pPr marL="286385" marR="5080" indent="182880">
              <a:lnSpc>
                <a:spcPts val="4029"/>
              </a:lnSpc>
              <a:spcBef>
                <a:spcPts val="105"/>
              </a:spcBef>
            </a:pP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###things </a:t>
            </a:r>
            <a:r>
              <a:rPr sz="2800" b="1" spc="-5" dirty="0">
                <a:solidFill>
                  <a:srgbClr val="292934"/>
                </a:solidFill>
                <a:latin typeface="Courier New"/>
                <a:cs typeface="Courier New"/>
              </a:rPr>
              <a:t>on </a:t>
            </a: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each value </a:t>
            </a:r>
            <a:r>
              <a:rPr sz="2800" b="1" spc="-16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done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81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Loops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3710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loop,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VARIABLE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be any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variable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name,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although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very often.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LIST</a:t>
            </a:r>
            <a:r>
              <a:rPr sz="24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any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list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words,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strings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numbers,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which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literal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generated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any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command.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59" y="3694853"/>
            <a:ext cx="1884679" cy="22876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81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Loops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7230745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Example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on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loop: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470534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Script4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(this</a:t>
            </a:r>
            <a:r>
              <a:rPr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example</a:t>
            </a:r>
            <a:r>
              <a:rPr sz="1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assumes</a:t>
            </a:r>
            <a:r>
              <a:rPr sz="12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r>
              <a:rPr sz="1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directory</a:t>
            </a:r>
            <a:r>
              <a:rPr sz="1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r>
              <a:rPr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sources</a:t>
            </a:r>
            <a:r>
              <a:rPr sz="1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which</a:t>
            </a:r>
            <a:r>
              <a:rPr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hold</a:t>
            </a:r>
            <a:r>
              <a:rPr sz="1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.c</a:t>
            </a:r>
            <a:r>
              <a:rPr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.h</a:t>
            </a:r>
            <a:r>
              <a:rPr sz="1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files)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762" y="2515361"/>
            <a:ext cx="8001000" cy="4154804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#!/bin/bash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"This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script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makes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backup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for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each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.c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or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.h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file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in sources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directory"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  <a:spcBef>
                <a:spcPts val="48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target_files=`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2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$(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ls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sources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/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*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.c,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*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.h})`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"Starting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backup:</a:t>
            </a:r>
            <a:r>
              <a:rPr sz="18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$target_files"</a:t>
            </a:r>
            <a:endParaRPr sz="1800">
              <a:latin typeface="Arial MT"/>
              <a:cs typeface="Arial MT"/>
            </a:endParaRPr>
          </a:p>
          <a:p>
            <a:pPr marL="1005205" marR="5918835" indent="-858519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solidFill>
                  <a:srgbClr val="CC7833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$target_files </a:t>
            </a:r>
            <a:r>
              <a:rPr sz="1800" spc="-48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CC7833"/>
                </a:solidFill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113157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cp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"$i"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"$i"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.bak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</a:pPr>
            <a:r>
              <a:rPr sz="1800" spc="-10" dirty="0">
                <a:solidFill>
                  <a:srgbClr val="CC7833"/>
                </a:solidFill>
                <a:latin typeface="Arial MT"/>
                <a:cs typeface="Arial MT"/>
              </a:rPr>
              <a:t>done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  <a:spcBef>
                <a:spcPts val="1325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endParaRPr sz="1800">
              <a:latin typeface="Arial MT"/>
              <a:cs typeface="Arial MT"/>
            </a:endParaRPr>
          </a:p>
          <a:p>
            <a:pPr marL="147320" marR="12827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1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"The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following</a:t>
            </a:r>
            <a:r>
              <a:rPr sz="1800" spc="6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backup</a:t>
            </a:r>
            <a:r>
              <a:rPr sz="18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files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were</a:t>
            </a:r>
            <a:r>
              <a:rPr sz="1800" spc="5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created:</a:t>
            </a:r>
            <a:r>
              <a:rPr sz="1800" spc="2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`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2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$(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ls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sources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/*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.bak)`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 </a:t>
            </a:r>
            <a:r>
              <a:rPr sz="1800" spc="-484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-3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"Done"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81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Loops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80752"/>
            <a:ext cx="4344035" cy="24511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5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While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loop</a:t>
            </a:r>
            <a:endParaRPr sz="24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405"/>
              </a:spcBef>
            </a:pP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while</a:t>
            </a:r>
            <a:r>
              <a:rPr sz="28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[</a:t>
            </a:r>
            <a:r>
              <a:rPr sz="28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condition</a:t>
            </a:r>
            <a:r>
              <a:rPr sz="28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]</a:t>
            </a:r>
            <a:endParaRPr sz="28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do</a:t>
            </a:r>
            <a:endParaRPr sz="2800">
              <a:latin typeface="Courier New"/>
              <a:cs typeface="Courier New"/>
            </a:endParaRPr>
          </a:p>
          <a:p>
            <a:pPr marL="286385" marR="674370" indent="182880">
              <a:lnSpc>
                <a:spcPts val="4029"/>
              </a:lnSpc>
              <a:spcBef>
                <a:spcPts val="105"/>
              </a:spcBef>
            </a:pP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###things</a:t>
            </a:r>
            <a:r>
              <a:rPr sz="2800" b="1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Courier New"/>
                <a:cs typeface="Courier New"/>
              </a:rPr>
              <a:t>to</a:t>
            </a:r>
            <a:r>
              <a:rPr sz="2800" b="1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292934"/>
                </a:solidFill>
                <a:latin typeface="Courier New"/>
                <a:cs typeface="Courier New"/>
              </a:rPr>
              <a:t>do </a:t>
            </a:r>
            <a:r>
              <a:rPr sz="2800" b="1" spc="-166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D2523B"/>
                </a:solidFill>
                <a:latin typeface="Courier New"/>
                <a:cs typeface="Courier New"/>
              </a:rPr>
              <a:t>done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81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Loops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345179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Example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while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loop: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470534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Script5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361" y="2667761"/>
            <a:ext cx="5181600" cy="3416935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#!/bin/bash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#</a:t>
            </a:r>
            <a:r>
              <a:rPr sz="1800" spc="-45" dirty="0">
                <a:solidFill>
                  <a:srgbClr val="9933C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This script</a:t>
            </a:r>
            <a:r>
              <a:rPr sz="1800" spc="5" dirty="0">
                <a:solidFill>
                  <a:srgbClr val="9933C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opens</a:t>
            </a:r>
            <a:r>
              <a:rPr sz="1800" spc="15" dirty="0">
                <a:solidFill>
                  <a:srgbClr val="9933C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4 terminal</a:t>
            </a:r>
            <a:r>
              <a:rPr sz="1800" spc="5" dirty="0">
                <a:solidFill>
                  <a:srgbClr val="9933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windows.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i=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"0"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15" dirty="0">
                <a:solidFill>
                  <a:srgbClr val="CC7833"/>
                </a:solidFill>
                <a:latin typeface="Arial MT"/>
                <a:cs typeface="Arial MT"/>
              </a:rPr>
              <a:t>while</a:t>
            </a:r>
            <a:r>
              <a:rPr sz="1800" spc="3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[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$i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-lt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10" dirty="0">
                <a:solidFill>
                  <a:srgbClr val="CC7833"/>
                </a:solidFill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1131570" marR="101028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"opening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terminal no: $i" </a:t>
            </a:r>
            <a:r>
              <a:rPr sz="1800" spc="-484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xterm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7833"/>
                </a:solidFill>
                <a:latin typeface="Arial MT"/>
                <a:cs typeface="Arial MT"/>
              </a:rPr>
              <a:t>&amp;</a:t>
            </a:r>
            <a:endParaRPr sz="1800">
              <a:latin typeface="Arial MT"/>
              <a:cs typeface="Arial MT"/>
            </a:endParaRPr>
          </a:p>
          <a:p>
            <a:pPr marL="113157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i=$[$i+1]</a:t>
            </a:r>
            <a:endParaRPr sz="1800">
              <a:latin typeface="Arial MT"/>
              <a:cs typeface="Arial MT"/>
            </a:endParaRPr>
          </a:p>
          <a:p>
            <a:pPr marL="146685" marR="4520565">
              <a:lnSpc>
                <a:spcPct val="100000"/>
              </a:lnSpc>
            </a:pPr>
            <a:r>
              <a:rPr sz="1800" spc="-10" dirty="0">
                <a:solidFill>
                  <a:srgbClr val="CC7833"/>
                </a:solidFill>
                <a:latin typeface="Arial MT"/>
                <a:cs typeface="Arial MT"/>
              </a:rPr>
              <a:t>done 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</a:t>
            </a:r>
            <a:r>
              <a:rPr sz="1800" spc="-15" dirty="0">
                <a:solidFill>
                  <a:srgbClr val="C7372F"/>
                </a:solidFill>
                <a:latin typeface="Arial MT"/>
                <a:cs typeface="Arial MT"/>
              </a:rPr>
              <a:t>h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o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-3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"Done"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67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Dem</a:t>
            </a:r>
            <a:r>
              <a:rPr sz="4000" spc="-5" dirty="0"/>
              <a:t>o</a:t>
            </a:r>
            <a:r>
              <a:rPr sz="4000" spc="-180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86"/>
            <a:ext cx="1971675" cy="11620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Demo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Script6</a:t>
            </a:r>
            <a:endParaRPr sz="20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4855" algn="l"/>
              </a:tabLst>
            </a:pP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UserLogin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2561" y="1753361"/>
            <a:ext cx="5791200" cy="4800600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7320" marR="3439160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#!/bin/bash </a:t>
            </a:r>
            <a:r>
              <a:rPr sz="1800" spc="-5" dirty="0">
                <a:solidFill>
                  <a:srgbClr val="9933CC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r_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am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"$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USE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R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 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password=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"34"</a:t>
            </a:r>
            <a:endParaRPr sz="1800">
              <a:latin typeface="Arial MT"/>
              <a:cs typeface="Arial MT"/>
            </a:endParaRPr>
          </a:p>
          <a:p>
            <a:pPr marL="147320" marR="216281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read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-p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"User Name: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login_name </a:t>
            </a:r>
            <a:r>
              <a:rPr sz="1800" spc="-4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read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-p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"Password:</a:t>
            </a:r>
            <a:r>
              <a:rPr sz="1800" spc="3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login_pass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if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[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$login_name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$user_name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then</a:t>
            </a:r>
            <a:endParaRPr sz="1800">
              <a:latin typeface="Arial MT"/>
              <a:cs typeface="Arial MT"/>
            </a:endParaRPr>
          </a:p>
          <a:p>
            <a:pPr marL="1259840" marR="1633220" indent="-128270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if</a:t>
            </a:r>
            <a:r>
              <a:rPr sz="1800" spc="-10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[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$login_pass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$password</a:t>
            </a:r>
            <a:r>
              <a:rPr sz="1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] </a:t>
            </a:r>
            <a:r>
              <a:rPr sz="1800" spc="-48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then</a:t>
            </a:r>
            <a:endParaRPr sz="1800">
              <a:latin typeface="Arial MT"/>
              <a:cs typeface="Arial MT"/>
            </a:endParaRPr>
          </a:p>
          <a:p>
            <a:pPr marL="1386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"Now</a:t>
            </a:r>
            <a:r>
              <a:rPr sz="1800" spc="-2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you</a:t>
            </a:r>
            <a:r>
              <a:rPr sz="18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logged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in....."</a:t>
            </a:r>
            <a:endParaRPr sz="1800">
              <a:latin typeface="Arial MT"/>
              <a:cs typeface="Arial MT"/>
            </a:endParaRPr>
          </a:p>
          <a:p>
            <a:pPr marL="1259840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138620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66CC33"/>
                </a:solidFill>
                <a:latin typeface="Arial MT"/>
                <a:cs typeface="Arial MT"/>
              </a:rPr>
              <a:t>"Error,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wrong</a:t>
            </a:r>
            <a:r>
              <a:rPr sz="1800" spc="4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password,</a:t>
            </a:r>
            <a:r>
              <a:rPr sz="1800" spc="5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try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again"</a:t>
            </a:r>
            <a:endParaRPr sz="1800">
              <a:latin typeface="Arial MT"/>
              <a:cs typeface="Arial MT"/>
            </a:endParaRPr>
          </a:p>
          <a:p>
            <a:pPr marL="1131570">
              <a:lnSpc>
                <a:spcPct val="100000"/>
              </a:lnSpc>
            </a:pPr>
            <a:r>
              <a:rPr sz="1800" dirty="0">
                <a:solidFill>
                  <a:srgbClr val="CC7833"/>
                </a:solidFill>
                <a:latin typeface="Arial MT"/>
                <a:cs typeface="Arial MT"/>
              </a:rPr>
              <a:t>fi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else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66CC33"/>
                </a:solidFill>
                <a:latin typeface="Arial MT"/>
                <a:cs typeface="Arial MT"/>
              </a:rPr>
              <a:t>"Error,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user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name doesn't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exist"</a:t>
            </a:r>
            <a:endParaRPr sz="1800">
              <a:latin typeface="Arial MT"/>
              <a:cs typeface="Arial MT"/>
            </a:endParaRPr>
          </a:p>
          <a:p>
            <a:pPr marL="147320">
              <a:lnSpc>
                <a:spcPct val="100000"/>
              </a:lnSpc>
            </a:pPr>
            <a:r>
              <a:rPr sz="1800" dirty="0">
                <a:solidFill>
                  <a:srgbClr val="CC7833"/>
                </a:solidFill>
                <a:latin typeface="Arial MT"/>
                <a:cs typeface="Arial MT"/>
              </a:rPr>
              <a:t>fi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67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Shel</a:t>
            </a:r>
            <a:r>
              <a:rPr sz="4000" spc="-5" dirty="0"/>
              <a:t>l</a:t>
            </a:r>
            <a:r>
              <a:rPr sz="4000" spc="-215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100" dirty="0"/>
              <a:t>t</a:t>
            </a:r>
            <a:r>
              <a:rPr sz="4000" spc="-105" dirty="0"/>
              <a:t>in</a:t>
            </a:r>
            <a:r>
              <a:rPr sz="4000" spc="-5" dirty="0"/>
              <a:t>g</a:t>
            </a:r>
            <a:r>
              <a:rPr sz="4000" spc="-215" dirty="0"/>
              <a:t> </a:t>
            </a:r>
            <a:r>
              <a:rPr sz="4000" spc="-5" dirty="0"/>
              <a:t>-</a:t>
            </a:r>
            <a:r>
              <a:rPr sz="4000" spc="-200" dirty="0"/>
              <a:t> </a:t>
            </a:r>
            <a:r>
              <a:rPr sz="4000" spc="-105" dirty="0"/>
              <a:t>Dem</a:t>
            </a:r>
            <a:r>
              <a:rPr sz="4000" spc="-5" dirty="0"/>
              <a:t>o</a:t>
            </a:r>
            <a:r>
              <a:rPr sz="4000" spc="-180" dirty="0"/>
              <a:t> </a:t>
            </a:r>
            <a:r>
              <a:rPr sz="4000" spc="-105" dirty="0"/>
              <a:t>S</a:t>
            </a:r>
            <a:r>
              <a:rPr sz="4000" spc="-100" dirty="0"/>
              <a:t>c</a:t>
            </a:r>
            <a:r>
              <a:rPr sz="4000" spc="-105" dirty="0"/>
              <a:t>rip</a:t>
            </a:r>
            <a:r>
              <a:rPr sz="4000" spc="-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86"/>
            <a:ext cx="2544445" cy="11620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Demo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Script: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Script7</a:t>
            </a:r>
            <a:endParaRPr sz="2000">
              <a:latin typeface="Arial MT"/>
              <a:cs typeface="Arial MT"/>
            </a:endParaRPr>
          </a:p>
          <a:p>
            <a:pPr marL="744220" lvl="2" indent="-183515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4855" algn="l"/>
              </a:tabLst>
            </a:pP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Simple</a:t>
            </a:r>
            <a:r>
              <a:rPr sz="18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Calculator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761" y="2812542"/>
            <a:ext cx="7010400" cy="3970020"/>
          </a:xfrm>
          <a:prstGeom prst="rect">
            <a:avLst/>
          </a:prstGeom>
          <a:solidFill>
            <a:srgbClr val="292934"/>
          </a:solidFill>
          <a:ln w="25907">
            <a:solidFill>
              <a:srgbClr val="1B1B22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solidFill>
                  <a:srgbClr val="9933CC"/>
                </a:solidFill>
                <a:latin typeface="Arial MT"/>
                <a:cs typeface="Arial MT"/>
              </a:rPr>
              <a:t>#!/bin/bash</a:t>
            </a:r>
            <a:endParaRPr sz="1800">
              <a:latin typeface="Arial MT"/>
              <a:cs typeface="Arial MT"/>
            </a:endParaRPr>
          </a:p>
          <a:p>
            <a:pPr marL="146685" marR="2769870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read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-p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"Enter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First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Number: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f_num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read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-p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"Enter Second Number: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s_num </a:t>
            </a:r>
            <a:r>
              <a:rPr sz="1800" spc="-4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read</a:t>
            </a:r>
            <a:r>
              <a:rPr sz="1800" spc="10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-p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"Enter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Operation(+,-,x,/):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"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op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case</a:t>
            </a:r>
            <a:r>
              <a:rPr sz="1800" spc="-15" dirty="0">
                <a:solidFill>
                  <a:srgbClr val="CC78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$op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+)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"$f_num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+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$s_num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$[$f_num+$s_num]"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-)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"$f_num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-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$s_num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$[$f_num-$s_num]"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x)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"$f_num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x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$s_num</a:t>
            </a:r>
            <a:r>
              <a:rPr sz="1800" spc="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$[$f_num*$s_num]"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/)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C7372F"/>
                </a:solidFill>
                <a:latin typeface="Arial MT"/>
                <a:cs typeface="Arial MT"/>
              </a:rPr>
              <a:t>echo</a:t>
            </a:r>
            <a:r>
              <a:rPr sz="1800" spc="5" dirty="0">
                <a:solidFill>
                  <a:srgbClr val="C7372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"$f_num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 /</a:t>
            </a:r>
            <a:r>
              <a:rPr sz="1800" spc="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$s_num</a:t>
            </a:r>
            <a:r>
              <a:rPr sz="1800" spc="15" dirty="0">
                <a:solidFill>
                  <a:srgbClr val="66CC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6CC33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66CC33"/>
                </a:solidFill>
                <a:latin typeface="Arial MT"/>
                <a:cs typeface="Arial MT"/>
              </a:rPr>
              <a:t> $[$f_num/$s_num]"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;;</a:t>
            </a:r>
            <a:endParaRPr sz="1800">
              <a:latin typeface="Arial MT"/>
              <a:cs typeface="Arial MT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CC7833"/>
                </a:solidFill>
                <a:latin typeface="Arial MT"/>
                <a:cs typeface="Arial MT"/>
              </a:rPr>
              <a:t>esac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1625</Words>
  <Application>Microsoft Macintosh PowerPoint</Application>
  <PresentationFormat>On-screen Show (4:3)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MT</vt:lpstr>
      <vt:lpstr>Calibri</vt:lpstr>
      <vt:lpstr>Courier New</vt:lpstr>
      <vt:lpstr>Times New Roman</vt:lpstr>
      <vt:lpstr>Office Theme</vt:lpstr>
      <vt:lpstr> LINUX ADMIN BASIC SKILLS</vt:lpstr>
      <vt:lpstr>PowerPoint Presentation</vt:lpstr>
      <vt:lpstr>Shell Scripting - Intro</vt:lpstr>
      <vt:lpstr>Shell Scripting - Intro</vt:lpstr>
      <vt:lpstr>Shell Scripting - HowTo</vt:lpstr>
      <vt:lpstr>Shell Scripting - HowTo</vt:lpstr>
      <vt:lpstr>Shell Scripting - HowTo</vt:lpstr>
      <vt:lpstr>Shell Scripting - Example</vt:lpstr>
      <vt:lpstr>Shell Scripting - Variables</vt:lpstr>
      <vt:lpstr>Shell Scripting - Quoiting</vt:lpstr>
      <vt:lpstr>Shell Scripting - Quoiting</vt:lpstr>
      <vt:lpstr>Shell Scripting - Arithmetic Operations</vt:lpstr>
      <vt:lpstr>Shell Scripting - Conditional Statements</vt:lpstr>
      <vt:lpstr>Shell Scripting - Conditional Statements</vt:lpstr>
      <vt:lpstr>Shell Scripting - Conditional Statements</vt:lpstr>
      <vt:lpstr>Shell Scripting - Conditional Statements</vt:lpstr>
      <vt:lpstr>Shel Scripting -</vt:lpstr>
      <vt:lpstr>Shell Scripting - Loops</vt:lpstr>
      <vt:lpstr>Shell Scripting - Loops</vt:lpstr>
      <vt:lpstr>Shell Scripting - Loops</vt:lpstr>
      <vt:lpstr>Shell Scripting - Loops</vt:lpstr>
      <vt:lpstr>Shell Scripting - Loops</vt:lpstr>
      <vt:lpstr>Shell Scripting - Demo Script</vt:lpstr>
      <vt:lpstr>Shell Scripting - Demo 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</dc:creator>
  <cp:lastModifiedBy>Microsoft Office User</cp:lastModifiedBy>
  <cp:revision>1</cp:revision>
  <dcterms:created xsi:type="dcterms:W3CDTF">2022-11-12T12:26:36Z</dcterms:created>
  <dcterms:modified xsi:type="dcterms:W3CDTF">2025-10-31T10:28:54Z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2022-11-12T00:00:00Z</vt:filetime>
  </property>
</Properties>
</file>