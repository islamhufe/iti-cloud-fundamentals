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5" roundtripDataSignature="AMtx7mh3VoV3ED8Q99W+R6NWY4YTU7tG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customschemas.google.com/relationships/presentationmetadata" Target="meta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" name="Google Shape;3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process of running a virtual instance of a computer system in a layer abstracted from the actual hardware. </a:t>
            </a:r>
            <a:endParaRPr/>
          </a:p>
        </p:txBody>
      </p:sp>
      <p:sp>
        <p:nvSpPr>
          <p:cNvPr id="381" name="Google Shape;38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9" name="Google Shape;47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3" name="Google Shape;55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8" name="Google Shape;59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5" name="Google Shape;60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2" name="Google Shape;61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3" name="Google Shape;65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4" name="Google Shape;68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4" name="Google Shape;74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0" name="Google Shape;75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8" name="Google Shape;75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5" name="Google Shape;76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1" name="Google Shape;77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7" name="Google Shape;77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3" name="Google Shape;78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9" name="Google Shape;78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5" name="Google Shape;79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3" name="Google Shape;80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0" name="Google Shape;81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7" name="Google Shape;81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4" name="Google Shape;82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0" name="Google Shape;83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9" name="Google Shape;83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5" name="Google Shape;84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1" name="Google Shape;85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7" name="Google Shape;857;p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8" name="Google Shape;858;p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7" name="Google Shape;92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0" name="Google Shape;98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1" name="Google Shape;101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2" name="Google Shape;106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3" name="Google Shape;1073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9" name="Google Shape;107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5" name="Google Shape;1085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8" name="Google Shape;113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9" name="Google Shape;1169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0" name="Google Shape;1200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1" name="Google Shape;1231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2" name="Google Shape;1262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4" name="Google Shape;1294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0" name="Google Shape;1300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55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9" name="Google Shape;19;p55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55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55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55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55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55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55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55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55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55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55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55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55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55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55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55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55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55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55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55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55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" name="Google Shape;40;p55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41" name="Google Shape;41;p55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55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55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" name="Google Shape;44;p55"/>
          <p:cNvSpPr txBox="1"/>
          <p:nvPr>
            <p:ph type="title"/>
          </p:nvPr>
        </p:nvSpPr>
        <p:spPr>
          <a:xfrm>
            <a:off x="888631" y="2349925"/>
            <a:ext cx="3498979" cy="24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5"/>
          <p:cNvSpPr txBox="1"/>
          <p:nvPr>
            <p:ph idx="1" type="body"/>
          </p:nvPr>
        </p:nvSpPr>
        <p:spPr>
          <a:xfrm>
            <a:off x="5118447" y="803186"/>
            <a:ext cx="6281873" cy="5248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46" name="Google Shape;46;p55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5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5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5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51" name="Google Shape;51;p56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56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56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56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56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56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56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56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56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56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56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56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56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56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56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56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56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56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56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56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6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" name="Google Shape;72;p5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73" name="Google Shape;73;p56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56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5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" name="Google Shape;76;p56"/>
          <p:cNvSpPr txBox="1"/>
          <p:nvPr>
            <p:ph type="title"/>
          </p:nvPr>
        </p:nvSpPr>
        <p:spPr>
          <a:xfrm>
            <a:off x="889000" y="2339669"/>
            <a:ext cx="3500828" cy="2470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6"/>
          <p:cNvSpPr txBox="1"/>
          <p:nvPr>
            <p:ph idx="1" type="body"/>
          </p:nvPr>
        </p:nvSpPr>
        <p:spPr>
          <a:xfrm>
            <a:off x="5120878" y="803187"/>
            <a:ext cx="6269591" cy="2382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78" name="Google Shape;78;p56"/>
          <p:cNvSpPr txBox="1"/>
          <p:nvPr>
            <p:ph idx="2" type="body"/>
          </p:nvPr>
        </p:nvSpPr>
        <p:spPr>
          <a:xfrm>
            <a:off x="5118447" y="3672162"/>
            <a:ext cx="6272022" cy="2383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79" name="Google Shape;79;p56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6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6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57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4" name="Google Shape;84;p57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7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57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57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57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7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57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57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57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57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57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57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57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57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57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57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57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57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57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57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57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" name="Google Shape;105;p57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106" name="Google Shape;106;p5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57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57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57"/>
          <p:cNvSpPr txBox="1"/>
          <p:nvPr>
            <p:ph type="title"/>
          </p:nvPr>
        </p:nvSpPr>
        <p:spPr>
          <a:xfrm>
            <a:off x="888632" y="2349925"/>
            <a:ext cx="3501196" cy="24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7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7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57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60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5" name="Google Shape;115;p60"/>
            <p:cNvSpPr/>
            <p:nvPr/>
          </p:nvSpPr>
          <p:spPr>
            <a:xfrm>
              <a:off x="-329674" y="1298404"/>
              <a:ext cx="9702800" cy="5573512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60"/>
            <p:cNvSpPr/>
            <p:nvPr/>
          </p:nvSpPr>
          <p:spPr>
            <a:xfrm>
              <a:off x="670451" y="2018236"/>
              <a:ext cx="7373938" cy="4848892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60"/>
            <p:cNvSpPr/>
            <p:nvPr/>
          </p:nvSpPr>
          <p:spPr>
            <a:xfrm>
              <a:off x="251351" y="1788400"/>
              <a:ext cx="8035925" cy="5083516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60"/>
            <p:cNvSpPr/>
            <p:nvPr/>
          </p:nvSpPr>
          <p:spPr>
            <a:xfrm>
              <a:off x="-1061" y="549842"/>
              <a:ext cx="10334625" cy="6322075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60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60"/>
            <p:cNvSpPr/>
            <p:nvPr/>
          </p:nvSpPr>
          <p:spPr>
            <a:xfrm>
              <a:off x="-1061" y="-51881"/>
              <a:ext cx="11091863" cy="6923796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60"/>
            <p:cNvSpPr/>
            <p:nvPr/>
          </p:nvSpPr>
          <p:spPr>
            <a:xfrm>
              <a:off x="5426601" y="5579"/>
              <a:ext cx="5788025" cy="6847184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60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60"/>
            <p:cNvSpPr/>
            <p:nvPr/>
          </p:nvSpPr>
          <p:spPr>
            <a:xfrm>
              <a:off x="5821889" y="5579"/>
              <a:ext cx="5588000" cy="6866337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60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0"/>
            <p:cNvSpPr/>
            <p:nvPr/>
          </p:nvSpPr>
          <p:spPr>
            <a:xfrm>
              <a:off x="6012389" y="5579"/>
              <a:ext cx="5497513" cy="6866337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0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60"/>
            <p:cNvSpPr/>
            <p:nvPr/>
          </p:nvSpPr>
          <p:spPr>
            <a:xfrm>
              <a:off x="6210826" y="790"/>
              <a:ext cx="5522913" cy="6871126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60"/>
            <p:cNvSpPr/>
            <p:nvPr/>
          </p:nvSpPr>
          <p:spPr>
            <a:xfrm>
              <a:off x="6463239" y="5579"/>
              <a:ext cx="5413375" cy="6866337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60"/>
            <p:cNvSpPr/>
            <p:nvPr/>
          </p:nvSpPr>
          <p:spPr>
            <a:xfrm>
              <a:off x="6877576" y="5579"/>
              <a:ext cx="5037138" cy="6861550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60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60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60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60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" name="Google Shape;134;p60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135" name="Google Shape;135;p60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60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6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p60"/>
          <p:cNvSpPr txBox="1"/>
          <p:nvPr>
            <p:ph type="ctrTitle"/>
          </p:nvPr>
        </p:nvSpPr>
        <p:spPr>
          <a:xfrm>
            <a:off x="1759236" y="2075504"/>
            <a:ext cx="8679915" cy="17487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5400"/>
              <a:buFont typeface="Calibri"/>
              <a:buNone/>
              <a:defRPr sz="5400"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60"/>
          <p:cNvSpPr txBox="1"/>
          <p:nvPr>
            <p:ph idx="1" type="subTitle"/>
          </p:nvPr>
        </p:nvSpPr>
        <p:spPr>
          <a:xfrm>
            <a:off x="1759237" y="3906266"/>
            <a:ext cx="8673427" cy="132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  <a:defRPr b="0" sz="1800">
                <a:solidFill>
                  <a:srgbClr val="FFFEF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/>
            </a:lvl9pPr>
          </a:lstStyle>
          <a:p/>
        </p:txBody>
      </p:sp>
      <p:sp>
        <p:nvSpPr>
          <p:cNvPr id="140" name="Google Shape;140;p60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60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60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61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45" name="Google Shape;145;p61"/>
            <p:cNvSpPr/>
            <p:nvPr/>
          </p:nvSpPr>
          <p:spPr>
            <a:xfrm>
              <a:off x="-329674" y="1298404"/>
              <a:ext cx="9702800" cy="5573512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61"/>
            <p:cNvSpPr/>
            <p:nvPr/>
          </p:nvSpPr>
          <p:spPr>
            <a:xfrm>
              <a:off x="670451" y="2018236"/>
              <a:ext cx="7373938" cy="4848892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61"/>
            <p:cNvSpPr/>
            <p:nvPr/>
          </p:nvSpPr>
          <p:spPr>
            <a:xfrm>
              <a:off x="251351" y="1788400"/>
              <a:ext cx="8035925" cy="5083516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61"/>
            <p:cNvSpPr/>
            <p:nvPr/>
          </p:nvSpPr>
          <p:spPr>
            <a:xfrm>
              <a:off x="-1061" y="549842"/>
              <a:ext cx="10334625" cy="6322075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61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61"/>
            <p:cNvSpPr/>
            <p:nvPr/>
          </p:nvSpPr>
          <p:spPr>
            <a:xfrm>
              <a:off x="-1061" y="-51881"/>
              <a:ext cx="11091863" cy="6923796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61"/>
            <p:cNvSpPr/>
            <p:nvPr/>
          </p:nvSpPr>
          <p:spPr>
            <a:xfrm>
              <a:off x="5426601" y="5579"/>
              <a:ext cx="5788025" cy="6847184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61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61"/>
            <p:cNvSpPr/>
            <p:nvPr/>
          </p:nvSpPr>
          <p:spPr>
            <a:xfrm>
              <a:off x="5821889" y="5579"/>
              <a:ext cx="5588000" cy="6866337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61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61"/>
            <p:cNvSpPr/>
            <p:nvPr/>
          </p:nvSpPr>
          <p:spPr>
            <a:xfrm>
              <a:off x="6012389" y="5579"/>
              <a:ext cx="5497513" cy="6866337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61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61"/>
            <p:cNvSpPr/>
            <p:nvPr/>
          </p:nvSpPr>
          <p:spPr>
            <a:xfrm>
              <a:off x="6210826" y="790"/>
              <a:ext cx="5522913" cy="6871126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61"/>
            <p:cNvSpPr/>
            <p:nvPr/>
          </p:nvSpPr>
          <p:spPr>
            <a:xfrm>
              <a:off x="6463239" y="5579"/>
              <a:ext cx="5413375" cy="6866337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61"/>
            <p:cNvSpPr/>
            <p:nvPr/>
          </p:nvSpPr>
          <p:spPr>
            <a:xfrm>
              <a:off x="6877576" y="5579"/>
              <a:ext cx="5037138" cy="6861550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61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61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61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61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" name="Google Shape;164;p61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165" name="Google Shape;165;p61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61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61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p61"/>
          <p:cNvSpPr txBox="1"/>
          <p:nvPr>
            <p:ph type="title"/>
          </p:nvPr>
        </p:nvSpPr>
        <p:spPr>
          <a:xfrm>
            <a:off x="3344216" y="2074730"/>
            <a:ext cx="5490224" cy="16893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400"/>
              <a:buFont typeface="Calibri"/>
              <a:buNone/>
              <a:defRPr sz="4400"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61"/>
          <p:cNvSpPr txBox="1"/>
          <p:nvPr>
            <p:ph idx="1" type="body"/>
          </p:nvPr>
        </p:nvSpPr>
        <p:spPr>
          <a:xfrm>
            <a:off x="3344215" y="3846851"/>
            <a:ext cx="5490223" cy="1383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FFFEF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0" name="Google Shape;170;p61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61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61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62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75" name="Google Shape;175;p62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62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62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62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62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62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62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62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62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62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62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62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62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62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62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62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62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62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62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62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62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" name="Google Shape;196;p62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197" name="Google Shape;197;p6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6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6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62"/>
          <p:cNvSpPr txBox="1"/>
          <p:nvPr>
            <p:ph type="title"/>
          </p:nvPr>
        </p:nvSpPr>
        <p:spPr>
          <a:xfrm>
            <a:off x="889001" y="2363915"/>
            <a:ext cx="3500828" cy="246049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62"/>
          <p:cNvSpPr txBox="1"/>
          <p:nvPr>
            <p:ph idx="1" type="body"/>
          </p:nvPr>
        </p:nvSpPr>
        <p:spPr>
          <a:xfrm>
            <a:off x="5125137" y="803185"/>
            <a:ext cx="62650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2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9pPr>
          </a:lstStyle>
          <a:p/>
        </p:txBody>
      </p:sp>
      <p:sp>
        <p:nvSpPr>
          <p:cNvPr id="202" name="Google Shape;202;p62"/>
          <p:cNvSpPr txBox="1"/>
          <p:nvPr>
            <p:ph idx="2" type="body"/>
          </p:nvPr>
        </p:nvSpPr>
        <p:spPr>
          <a:xfrm>
            <a:off x="5125305" y="1488985"/>
            <a:ext cx="6264350" cy="1696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203" name="Google Shape;203;p62"/>
          <p:cNvSpPr txBox="1"/>
          <p:nvPr>
            <p:ph idx="3" type="body"/>
          </p:nvPr>
        </p:nvSpPr>
        <p:spPr>
          <a:xfrm>
            <a:off x="5118653" y="3665887"/>
            <a:ext cx="626441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2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9pPr>
          </a:lstStyle>
          <a:p/>
        </p:txBody>
      </p:sp>
      <p:sp>
        <p:nvSpPr>
          <p:cNvPr id="204" name="Google Shape;204;p62"/>
          <p:cNvSpPr txBox="1"/>
          <p:nvPr>
            <p:ph idx="4" type="body"/>
          </p:nvPr>
        </p:nvSpPr>
        <p:spPr>
          <a:xfrm>
            <a:off x="5118447" y="4351687"/>
            <a:ext cx="6265588" cy="170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205" name="Google Shape;205;p62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62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62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3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63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63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6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214" name="Google Shape;214;p64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64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64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64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64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64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64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64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64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64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64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64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64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64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64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64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64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64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64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64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64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64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6" name="Google Shape;236;p6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64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6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9" name="Google Shape;239;p64"/>
          <p:cNvSpPr txBox="1"/>
          <p:nvPr>
            <p:ph type="title"/>
          </p:nvPr>
        </p:nvSpPr>
        <p:spPr>
          <a:xfrm>
            <a:off x="888631" y="2352026"/>
            <a:ext cx="3501197" cy="12232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3200"/>
              <a:buFont typeface="Calibri"/>
              <a:buNone/>
              <a:defRPr sz="3200"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64"/>
          <p:cNvSpPr txBox="1"/>
          <p:nvPr>
            <p:ph idx="1" type="body"/>
          </p:nvPr>
        </p:nvSpPr>
        <p:spPr>
          <a:xfrm>
            <a:off x="5109983" y="802809"/>
            <a:ext cx="6275035" cy="5249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241" name="Google Shape;241;p64"/>
          <p:cNvSpPr txBox="1"/>
          <p:nvPr>
            <p:ph idx="2" type="body"/>
          </p:nvPr>
        </p:nvSpPr>
        <p:spPr>
          <a:xfrm>
            <a:off x="888631" y="3580186"/>
            <a:ext cx="3501197" cy="1221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FFFEF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4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2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9pPr>
          </a:lstStyle>
          <a:p/>
        </p:txBody>
      </p:sp>
      <p:sp>
        <p:nvSpPr>
          <p:cNvPr id="242" name="Google Shape;242;p64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64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64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65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247" name="Google Shape;247;p65"/>
            <p:cNvSpPr/>
            <p:nvPr/>
          </p:nvSpPr>
          <p:spPr>
            <a:xfrm>
              <a:off x="-329674" y="1298404"/>
              <a:ext cx="9702800" cy="5573512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65"/>
            <p:cNvSpPr/>
            <p:nvPr/>
          </p:nvSpPr>
          <p:spPr>
            <a:xfrm>
              <a:off x="670451" y="2018236"/>
              <a:ext cx="7373938" cy="4848892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65"/>
            <p:cNvSpPr/>
            <p:nvPr/>
          </p:nvSpPr>
          <p:spPr>
            <a:xfrm>
              <a:off x="251351" y="1788400"/>
              <a:ext cx="8035925" cy="5083516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65"/>
            <p:cNvSpPr/>
            <p:nvPr/>
          </p:nvSpPr>
          <p:spPr>
            <a:xfrm>
              <a:off x="-1061" y="549842"/>
              <a:ext cx="10334625" cy="6322075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65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65"/>
            <p:cNvSpPr/>
            <p:nvPr/>
          </p:nvSpPr>
          <p:spPr>
            <a:xfrm>
              <a:off x="-1061" y="-51881"/>
              <a:ext cx="11091863" cy="6923796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65"/>
            <p:cNvSpPr/>
            <p:nvPr/>
          </p:nvSpPr>
          <p:spPr>
            <a:xfrm>
              <a:off x="5426601" y="5579"/>
              <a:ext cx="5788025" cy="6847184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65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65"/>
            <p:cNvSpPr/>
            <p:nvPr/>
          </p:nvSpPr>
          <p:spPr>
            <a:xfrm>
              <a:off x="5821889" y="5579"/>
              <a:ext cx="5588000" cy="6866337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65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65"/>
            <p:cNvSpPr/>
            <p:nvPr/>
          </p:nvSpPr>
          <p:spPr>
            <a:xfrm>
              <a:off x="6012389" y="5579"/>
              <a:ext cx="5497513" cy="6866337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65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65"/>
            <p:cNvSpPr/>
            <p:nvPr/>
          </p:nvSpPr>
          <p:spPr>
            <a:xfrm>
              <a:off x="6210826" y="790"/>
              <a:ext cx="5522913" cy="6871126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65"/>
            <p:cNvSpPr/>
            <p:nvPr/>
          </p:nvSpPr>
          <p:spPr>
            <a:xfrm>
              <a:off x="6463239" y="5579"/>
              <a:ext cx="5413375" cy="6866337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65"/>
            <p:cNvSpPr/>
            <p:nvPr/>
          </p:nvSpPr>
          <p:spPr>
            <a:xfrm>
              <a:off x="6877576" y="5579"/>
              <a:ext cx="5037138" cy="6861550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65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65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65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65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6" name="Google Shape;266;p6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267" name="Google Shape;267;p65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65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65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0" name="Google Shape;270;p65"/>
          <p:cNvSpPr/>
          <p:nvPr>
            <p:ph idx="2" type="pic"/>
          </p:nvPr>
        </p:nvSpPr>
        <p:spPr>
          <a:xfrm>
            <a:off x="7543510" y="0"/>
            <a:ext cx="4648490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</p:sp>
      <p:sp>
        <p:nvSpPr>
          <p:cNvPr id="271" name="Google Shape;271;p65"/>
          <p:cNvSpPr txBox="1"/>
          <p:nvPr>
            <p:ph type="title"/>
          </p:nvPr>
        </p:nvSpPr>
        <p:spPr>
          <a:xfrm>
            <a:off x="885443" y="2360255"/>
            <a:ext cx="5776646" cy="11780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3600"/>
              <a:buFont typeface="Calibri"/>
              <a:buNone/>
              <a:defRPr sz="3600"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65"/>
          <p:cNvSpPr txBox="1"/>
          <p:nvPr>
            <p:ph idx="1" type="body"/>
          </p:nvPr>
        </p:nvSpPr>
        <p:spPr>
          <a:xfrm>
            <a:off x="885443" y="3545012"/>
            <a:ext cx="5776646" cy="1274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FFFEF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4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2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9pPr>
          </a:lstStyle>
          <a:p/>
        </p:txBody>
      </p:sp>
      <p:sp>
        <p:nvSpPr>
          <p:cNvPr id="273" name="Google Shape;273;p65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65"/>
          <p:cNvSpPr txBox="1"/>
          <p:nvPr>
            <p:ph idx="11" type="ftr"/>
          </p:nvPr>
        </p:nvSpPr>
        <p:spPr>
          <a:xfrm>
            <a:off x="804672" y="6227064"/>
            <a:ext cx="5942203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65"/>
          <p:cNvSpPr txBox="1"/>
          <p:nvPr>
            <p:ph idx="12" type="sldNum"/>
          </p:nvPr>
        </p:nvSpPr>
        <p:spPr>
          <a:xfrm>
            <a:off x="5828377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6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278" name="Google Shape;278;p66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66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66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66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66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66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66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66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66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66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66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66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66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66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66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66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66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66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66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66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66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9" name="Google Shape;299;p6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300" name="Google Shape;300;p66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66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6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66"/>
          <p:cNvSpPr txBox="1"/>
          <p:nvPr>
            <p:ph type="title"/>
          </p:nvPr>
        </p:nvSpPr>
        <p:spPr>
          <a:xfrm>
            <a:off x="888632" y="2349925"/>
            <a:ext cx="3501196" cy="2456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66"/>
          <p:cNvSpPr txBox="1"/>
          <p:nvPr>
            <p:ph idx="1" type="body"/>
          </p:nvPr>
        </p:nvSpPr>
        <p:spPr>
          <a:xfrm rot="5400000">
            <a:off x="5618955" y="285747"/>
            <a:ext cx="5257090" cy="62750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305" name="Google Shape;305;p66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66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66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67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310" name="Google Shape;310;p67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67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67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67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67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67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67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67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67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67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67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67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67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67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67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67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67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67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67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67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67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1" name="Google Shape;331;p67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332" name="Google Shape;332;p6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67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67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5" name="Google Shape;335;p67"/>
          <p:cNvSpPr txBox="1"/>
          <p:nvPr>
            <p:ph type="title"/>
          </p:nvPr>
        </p:nvSpPr>
        <p:spPr>
          <a:xfrm rot="5400000">
            <a:off x="8329814" y="1827549"/>
            <a:ext cx="2456442" cy="3501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67"/>
          <p:cNvSpPr txBox="1"/>
          <p:nvPr>
            <p:ph idx="1" type="body"/>
          </p:nvPr>
        </p:nvSpPr>
        <p:spPr>
          <a:xfrm rot="5400000">
            <a:off x="1308407" y="292785"/>
            <a:ext cx="5257303" cy="6268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337" name="Google Shape;337;p67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67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67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3"/>
          <p:cNvSpPr txBox="1"/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>
            <a:lvl1pPr lv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3"/>
          <p:cNvSpPr txBox="1"/>
          <p:nvPr>
            <p:ph idx="1" type="body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4036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2639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1242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1242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1242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1242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1242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1242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2" name="Google Shape;12;p53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3" name="Google Shape;13;p53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4" name="Google Shape;14;p53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53"/>
          <p:cNvSpPr txBox="1"/>
          <p:nvPr/>
        </p:nvSpPr>
        <p:spPr>
          <a:xfrm>
            <a:off x="0" y="6751320"/>
            <a:ext cx="419100" cy="10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C2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cs.docker.com/engine/install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30.png"/><Relationship Id="rId5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Relationship Id="rId4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8.png"/><Relationship Id="rId4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2.png"/><Relationship Id="rId4" Type="http://schemas.openxmlformats.org/officeDocument/2006/relationships/image" Target="../media/image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20330" y="1765773"/>
            <a:ext cx="4777759" cy="596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"/>
          <p:cNvSpPr txBox="1"/>
          <p:nvPr/>
        </p:nvSpPr>
        <p:spPr>
          <a:xfrm>
            <a:off x="4926842" y="1765773"/>
            <a:ext cx="307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99600" y="6311900"/>
            <a:ext cx="2692400" cy="54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646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56" name="Google Shape;356;p2"/>
          <p:cNvSpPr txBox="1"/>
          <p:nvPr/>
        </p:nvSpPr>
        <p:spPr>
          <a:xfrm>
            <a:off x="401781" y="400487"/>
            <a:ext cx="9820893" cy="5853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Agenda</a:t>
            </a:r>
            <a:r>
              <a:rPr b="0" i="0" lang="en-US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Applications lifecycle before and After docker.</a:t>
            </a:r>
            <a:endParaRPr b="0" i="0" sz="2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containerization vs virtualization.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Image VS container.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What is docker ?.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Install Docker .</a:t>
            </a:r>
            <a:endParaRPr b="0" i="0" sz="2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Docker Commands.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Docker volumes.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Labs.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635" y="1612653"/>
            <a:ext cx="3365500" cy="199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40014"/>
            <a:ext cx="3365500" cy="199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86504" y="6155726"/>
            <a:ext cx="2905496" cy="702274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"/>
          <p:cNvSpPr txBox="1"/>
          <p:nvPr/>
        </p:nvSpPr>
        <p:spPr>
          <a:xfrm>
            <a:off x="2737842" y="2759308"/>
            <a:ext cx="645689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32CD"/>
                </a:solidFill>
                <a:latin typeface="Avenir"/>
                <a:ea typeface="Avenir"/>
                <a:cs typeface="Avenir"/>
                <a:sym typeface="Avenir"/>
              </a:rPr>
              <a:t>1. Application life cycle Before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32CD"/>
                </a:solidFill>
                <a:latin typeface="Avenir"/>
                <a:ea typeface="Avenir"/>
                <a:cs typeface="Avenir"/>
                <a:sym typeface="Avenir"/>
              </a:rPr>
              <a:t> and After Docker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"/>
          <p:cNvSpPr txBox="1"/>
          <p:nvPr>
            <p:ph type="title"/>
          </p:nvPr>
        </p:nvSpPr>
        <p:spPr>
          <a:xfrm>
            <a:off x="888631" y="2349925"/>
            <a:ext cx="3498979" cy="24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72" name="Google Shape;372;p4"/>
          <p:cNvSpPr txBox="1"/>
          <p:nvPr>
            <p:ph idx="1" type="body"/>
          </p:nvPr>
        </p:nvSpPr>
        <p:spPr>
          <a:xfrm>
            <a:off x="5118447" y="803186"/>
            <a:ext cx="6281873" cy="5248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0287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</p:txBody>
      </p:sp>
      <p:pic>
        <p:nvPicPr>
          <p:cNvPr id="373" name="Google Shape;37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3741"/>
            <a:ext cx="12377738" cy="6962476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"/>
          <p:cNvSpPr txBox="1"/>
          <p:nvPr/>
        </p:nvSpPr>
        <p:spPr>
          <a:xfrm>
            <a:off x="6763847" y="803186"/>
            <a:ext cx="62203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End-to-end application stack</a:t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75" name="Google Shape;375;p4"/>
          <p:cNvSpPr txBox="1"/>
          <p:nvPr/>
        </p:nvSpPr>
        <p:spPr>
          <a:xfrm>
            <a:off x="157794" y="4728369"/>
            <a:ext cx="384699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For new onboarding developer it is very defaullt to set up  identical new environmnet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High wasted resources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"/>
          <p:cNvSpPr txBox="1"/>
          <p:nvPr/>
        </p:nvSpPr>
        <p:spPr>
          <a:xfrm>
            <a:off x="465446" y="3976254"/>
            <a:ext cx="39221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Different  env.  Hard to be identical.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7" name="Google Shape;37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9698038" y="6613302"/>
            <a:ext cx="2679700" cy="244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"/>
          <p:cNvSpPr/>
          <p:nvPr/>
        </p:nvSpPr>
        <p:spPr>
          <a:xfrm>
            <a:off x="0" y="-1"/>
            <a:ext cx="12192000" cy="6869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384" name="Google Shape;384;p5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5" name="Google Shape;385;p5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5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5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5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5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5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lt1">
                  <a:alpha val="34902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5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5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6" name="Google Shape;406;p5"/>
          <p:cNvSpPr/>
          <p:nvPr/>
        </p:nvSpPr>
        <p:spPr>
          <a:xfrm>
            <a:off x="1923665" y="0"/>
            <a:ext cx="10268336" cy="686920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07" name="Google Shape;407;p5"/>
          <p:cNvSpPr txBox="1"/>
          <p:nvPr>
            <p:ph type="title"/>
          </p:nvPr>
        </p:nvSpPr>
        <p:spPr>
          <a:xfrm>
            <a:off x="2036802" y="619559"/>
            <a:ext cx="6230857" cy="123057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228600" spcFirstLastPara="1" rIns="228600" wrap="square" tIns="2286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>
                <a:solidFill>
                  <a:schemeClr val="accent1"/>
                </a:solidFill>
              </a:rPr>
              <a:t>virtualization</a:t>
            </a:r>
            <a:endParaRPr sz="3600">
              <a:solidFill>
                <a:schemeClr val="accent1"/>
              </a:solidFill>
            </a:endParaRPr>
          </a:p>
        </p:txBody>
      </p:sp>
      <p:sp>
        <p:nvSpPr>
          <p:cNvPr id="408" name="Google Shape;408;p5"/>
          <p:cNvSpPr/>
          <p:nvPr/>
        </p:nvSpPr>
        <p:spPr>
          <a:xfrm rot="5400000">
            <a:off x="1797903" y="954813"/>
            <a:ext cx="300774" cy="25928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descr="Icon&#10;&#10;Description automatically generated" id="409" name="Google Shape;40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325" y="1679266"/>
            <a:ext cx="2018747" cy="123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, icon&#10;&#10;Description automatically generated" id="410" name="Google Shape;41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3462" y="1536021"/>
            <a:ext cx="1700042" cy="143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, company name&#10;&#10;Description automatically generated" id="411" name="Google Shape;41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99300" y="1892740"/>
            <a:ext cx="2622276" cy="874092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5"/>
          <p:cNvSpPr/>
          <p:nvPr/>
        </p:nvSpPr>
        <p:spPr>
          <a:xfrm>
            <a:off x="2721429" y="5928519"/>
            <a:ext cx="8581571" cy="60291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AB1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Hardware Infrastructure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5"/>
          <p:cNvSpPr/>
          <p:nvPr/>
        </p:nvSpPr>
        <p:spPr>
          <a:xfrm>
            <a:off x="2705553" y="4592041"/>
            <a:ext cx="8581571" cy="60291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5875">
            <a:solidFill>
              <a:srgbClr val="AE51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Hypervisor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5"/>
          <p:cNvSpPr/>
          <p:nvPr/>
        </p:nvSpPr>
        <p:spPr>
          <a:xfrm>
            <a:off x="2504281" y="1535502"/>
            <a:ext cx="2921734" cy="2932981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B12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15" name="Google Shape;415;p5"/>
          <p:cNvSpPr/>
          <p:nvPr/>
        </p:nvSpPr>
        <p:spPr>
          <a:xfrm>
            <a:off x="2812257" y="3209040"/>
            <a:ext cx="1152891" cy="500332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5875">
            <a:solidFill>
              <a:srgbClr val="AE51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Lib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5"/>
          <p:cNvSpPr/>
          <p:nvPr/>
        </p:nvSpPr>
        <p:spPr>
          <a:xfrm>
            <a:off x="3998822" y="3209040"/>
            <a:ext cx="1152891" cy="500332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5875">
            <a:solidFill>
              <a:srgbClr val="AE51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Dep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5"/>
          <p:cNvSpPr/>
          <p:nvPr/>
        </p:nvSpPr>
        <p:spPr>
          <a:xfrm>
            <a:off x="2812258" y="3849436"/>
            <a:ext cx="2339456" cy="500332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5875">
            <a:solidFill>
              <a:srgbClr val="AE51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5"/>
          <p:cNvSpPr/>
          <p:nvPr/>
        </p:nvSpPr>
        <p:spPr>
          <a:xfrm>
            <a:off x="5683148" y="1530340"/>
            <a:ext cx="2921734" cy="2932981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B12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19" name="Google Shape;419;p5"/>
          <p:cNvSpPr/>
          <p:nvPr/>
        </p:nvSpPr>
        <p:spPr>
          <a:xfrm>
            <a:off x="5991124" y="3203878"/>
            <a:ext cx="1152891" cy="500332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5875">
            <a:solidFill>
              <a:srgbClr val="AE51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Lib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5"/>
          <p:cNvSpPr/>
          <p:nvPr/>
        </p:nvSpPr>
        <p:spPr>
          <a:xfrm>
            <a:off x="7177689" y="3203878"/>
            <a:ext cx="1152891" cy="500332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5875">
            <a:solidFill>
              <a:srgbClr val="AE51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Dep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5"/>
          <p:cNvSpPr/>
          <p:nvPr/>
        </p:nvSpPr>
        <p:spPr>
          <a:xfrm>
            <a:off x="5991125" y="3844274"/>
            <a:ext cx="2339456" cy="500332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5875">
            <a:solidFill>
              <a:srgbClr val="AE51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5"/>
          <p:cNvSpPr/>
          <p:nvPr/>
        </p:nvSpPr>
        <p:spPr>
          <a:xfrm>
            <a:off x="8743573" y="1530340"/>
            <a:ext cx="2921734" cy="2932981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B12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23" name="Google Shape;423;p5"/>
          <p:cNvSpPr/>
          <p:nvPr/>
        </p:nvSpPr>
        <p:spPr>
          <a:xfrm>
            <a:off x="9051549" y="3203878"/>
            <a:ext cx="1152891" cy="500332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5875">
            <a:solidFill>
              <a:srgbClr val="AE51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Lib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5"/>
          <p:cNvSpPr/>
          <p:nvPr/>
        </p:nvSpPr>
        <p:spPr>
          <a:xfrm>
            <a:off x="10238114" y="3203878"/>
            <a:ext cx="1152891" cy="500332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5875">
            <a:solidFill>
              <a:srgbClr val="AE51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Dep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5"/>
          <p:cNvSpPr/>
          <p:nvPr/>
        </p:nvSpPr>
        <p:spPr>
          <a:xfrm>
            <a:off x="9051550" y="3844274"/>
            <a:ext cx="2339456" cy="500332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5875">
            <a:solidFill>
              <a:srgbClr val="AE51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5"/>
          <p:cNvSpPr/>
          <p:nvPr/>
        </p:nvSpPr>
        <p:spPr>
          <a:xfrm>
            <a:off x="2715784" y="5259293"/>
            <a:ext cx="8581571" cy="60291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AB1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Host 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5"/>
          <p:cNvSpPr txBox="1"/>
          <p:nvPr/>
        </p:nvSpPr>
        <p:spPr>
          <a:xfrm>
            <a:off x="9820726" y="6007821"/>
            <a:ext cx="1312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2F2F2"/>
                </a:solidFill>
                <a:latin typeface="Rockwell"/>
                <a:ea typeface="Rockwell"/>
                <a:cs typeface="Rockwell"/>
                <a:sym typeface="Rockwell"/>
              </a:rPr>
              <a:t>Mem: 400 GB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2F2F2"/>
                </a:solidFill>
                <a:latin typeface="Rockwell"/>
                <a:ea typeface="Rockwell"/>
                <a:cs typeface="Rockwell"/>
                <a:sym typeface="Rockwell"/>
              </a:rPr>
              <a:t>CPU : 200 Cores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5"/>
          <p:cNvSpPr txBox="1"/>
          <p:nvPr/>
        </p:nvSpPr>
        <p:spPr>
          <a:xfrm>
            <a:off x="2838639" y="3866386"/>
            <a:ext cx="132374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Mem: 30 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CPU : 10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5"/>
          <p:cNvSpPr txBox="1"/>
          <p:nvPr/>
        </p:nvSpPr>
        <p:spPr>
          <a:xfrm>
            <a:off x="9133471" y="3867387"/>
            <a:ext cx="86538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Mem: 25 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CPU : 8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5"/>
          <p:cNvSpPr txBox="1"/>
          <p:nvPr/>
        </p:nvSpPr>
        <p:spPr>
          <a:xfrm>
            <a:off x="6071900" y="3895327"/>
            <a:ext cx="11893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Mem: 40 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CPU : 20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"/>
          <p:cNvSpPr/>
          <p:nvPr/>
        </p:nvSpPr>
        <p:spPr>
          <a:xfrm>
            <a:off x="0" y="-1"/>
            <a:ext cx="12192000" cy="6869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436" name="Google Shape;436;p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37" name="Google Shape;437;p6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6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6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6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6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lt1">
                  <a:alpha val="34902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8" name="Google Shape;458;p6"/>
          <p:cNvSpPr/>
          <p:nvPr/>
        </p:nvSpPr>
        <p:spPr>
          <a:xfrm>
            <a:off x="1923665" y="0"/>
            <a:ext cx="10268336" cy="686920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59" name="Google Shape;459;p6"/>
          <p:cNvSpPr txBox="1"/>
          <p:nvPr>
            <p:ph type="title"/>
          </p:nvPr>
        </p:nvSpPr>
        <p:spPr>
          <a:xfrm>
            <a:off x="2008188" y="614090"/>
            <a:ext cx="6230857" cy="123057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228600" spcFirstLastPara="1" rIns="228600" wrap="square" tIns="2286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>
                <a:solidFill>
                  <a:schemeClr val="accent1"/>
                </a:solidFill>
              </a:rPr>
              <a:t>containerization</a:t>
            </a:r>
            <a:endParaRPr sz="3600">
              <a:solidFill>
                <a:schemeClr val="accent1"/>
              </a:solidFill>
            </a:endParaRPr>
          </a:p>
        </p:txBody>
      </p:sp>
      <p:sp>
        <p:nvSpPr>
          <p:cNvPr id="460" name="Google Shape;460;p6"/>
          <p:cNvSpPr/>
          <p:nvPr/>
        </p:nvSpPr>
        <p:spPr>
          <a:xfrm rot="5400000">
            <a:off x="1797903" y="954813"/>
            <a:ext cx="300774" cy="25928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descr="Icon&#10;&#10;Description automatically generated" id="461" name="Google Shape;46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6442" y="1905986"/>
            <a:ext cx="2011833" cy="1230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, icon&#10;&#10;Description automatically generated" id="462" name="Google Shape;46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40193" y="1701457"/>
            <a:ext cx="1700042" cy="143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, company name&#10;&#10;Description automatically generated" id="463" name="Google Shape;46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46695" y="2089080"/>
            <a:ext cx="2622276" cy="874092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6"/>
          <p:cNvSpPr/>
          <p:nvPr/>
        </p:nvSpPr>
        <p:spPr>
          <a:xfrm>
            <a:off x="2721429" y="5928519"/>
            <a:ext cx="8581571" cy="60291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AB1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Hardware Infrastructure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6"/>
          <p:cNvSpPr/>
          <p:nvPr/>
        </p:nvSpPr>
        <p:spPr>
          <a:xfrm>
            <a:off x="2721428" y="5202957"/>
            <a:ext cx="8581571" cy="60291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AB1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Host 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6"/>
          <p:cNvSpPr/>
          <p:nvPr/>
        </p:nvSpPr>
        <p:spPr>
          <a:xfrm>
            <a:off x="2721427" y="4477395"/>
            <a:ext cx="8581571" cy="60291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5875">
            <a:solidFill>
              <a:srgbClr val="AE51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6"/>
          <p:cNvSpPr/>
          <p:nvPr/>
        </p:nvSpPr>
        <p:spPr>
          <a:xfrm>
            <a:off x="2715836" y="4474341"/>
            <a:ext cx="8581571" cy="60291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5875">
            <a:solidFill>
              <a:srgbClr val="AE51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Docker Engine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68" name="Google Shape;468;p6"/>
          <p:cNvSpPr/>
          <p:nvPr/>
        </p:nvSpPr>
        <p:spPr>
          <a:xfrm>
            <a:off x="2504281" y="1535502"/>
            <a:ext cx="2921734" cy="2855343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B12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69" name="Google Shape;469;p6"/>
          <p:cNvSpPr/>
          <p:nvPr/>
        </p:nvSpPr>
        <p:spPr>
          <a:xfrm>
            <a:off x="5612480" y="1535501"/>
            <a:ext cx="2921734" cy="2855343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B12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70" name="Google Shape;470;p6"/>
          <p:cNvSpPr/>
          <p:nvPr/>
        </p:nvSpPr>
        <p:spPr>
          <a:xfrm>
            <a:off x="8657385" y="1485648"/>
            <a:ext cx="2921734" cy="2855343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B12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71" name="Google Shape;471;p6"/>
          <p:cNvSpPr/>
          <p:nvPr/>
        </p:nvSpPr>
        <p:spPr>
          <a:xfrm>
            <a:off x="2812257" y="3761117"/>
            <a:ext cx="1152891" cy="500332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5875">
            <a:solidFill>
              <a:srgbClr val="AE51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Lib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6"/>
          <p:cNvSpPr/>
          <p:nvPr/>
        </p:nvSpPr>
        <p:spPr>
          <a:xfrm>
            <a:off x="3998822" y="3761117"/>
            <a:ext cx="1152891" cy="500332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5875">
            <a:solidFill>
              <a:srgbClr val="AE51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Dep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6"/>
          <p:cNvSpPr/>
          <p:nvPr/>
        </p:nvSpPr>
        <p:spPr>
          <a:xfrm>
            <a:off x="5853731" y="3761117"/>
            <a:ext cx="1152891" cy="500332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5875">
            <a:solidFill>
              <a:srgbClr val="AE51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Lib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6"/>
          <p:cNvSpPr/>
          <p:nvPr/>
        </p:nvSpPr>
        <p:spPr>
          <a:xfrm>
            <a:off x="7079671" y="3761117"/>
            <a:ext cx="1152891" cy="500332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5875">
            <a:solidFill>
              <a:srgbClr val="AE51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Dep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6"/>
          <p:cNvSpPr/>
          <p:nvPr/>
        </p:nvSpPr>
        <p:spPr>
          <a:xfrm>
            <a:off x="8914499" y="3746635"/>
            <a:ext cx="1152891" cy="500332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5875">
            <a:solidFill>
              <a:srgbClr val="AE51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Lib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6"/>
          <p:cNvSpPr/>
          <p:nvPr/>
        </p:nvSpPr>
        <p:spPr>
          <a:xfrm>
            <a:off x="10175509" y="3744987"/>
            <a:ext cx="1152891" cy="500332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5875">
            <a:solidFill>
              <a:srgbClr val="AE51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Dep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7"/>
          <p:cNvSpPr txBox="1"/>
          <p:nvPr>
            <p:ph type="title"/>
          </p:nvPr>
        </p:nvSpPr>
        <p:spPr>
          <a:xfrm>
            <a:off x="888631" y="2349925"/>
            <a:ext cx="3498979" cy="24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482" name="Google Shape;482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3128" y="-81485"/>
            <a:ext cx="12358255" cy="6951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9595427" y="6525491"/>
            <a:ext cx="2679700" cy="332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488;p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89" name="Google Shape;489;p8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8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8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8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8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8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8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8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8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8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8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8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8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8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8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8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8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8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8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8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8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0" name="Google Shape;510;p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511" name="Google Shape;511;p8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8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8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4" name="Google Shape;514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515" name="Google Shape;515;p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516" name="Google Shape;516;p8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17" name="Google Shape;517;p8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18" name="Google Shape;518;p8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19" name="Google Shape;519;p8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20" name="Google Shape;520;p8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21" name="Google Shape;521;p8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22" name="Google Shape;522;p8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23" name="Google Shape;523;p8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24" name="Google Shape;524;p8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25" name="Google Shape;525;p8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26" name="Google Shape;526;p8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27" name="Google Shape;527;p8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28" name="Google Shape;528;p8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29" name="Google Shape;529;p8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30" name="Google Shape;530;p8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31" name="Google Shape;531;p8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14902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32" name="Google Shape;532;p8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33" name="Google Shape;533;p8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34" name="Google Shape;534;p8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35" name="Google Shape;535;p8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36" name="Google Shape;536;p8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537" name="Google Shape;537;p8"/>
          <p:cNvSpPr txBox="1"/>
          <p:nvPr>
            <p:ph type="title"/>
          </p:nvPr>
        </p:nvSpPr>
        <p:spPr>
          <a:xfrm>
            <a:off x="1759287" y="798881"/>
            <a:ext cx="8673427" cy="1048945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containerization vs virtualization</a:t>
            </a:r>
            <a:endParaRPr/>
          </a:p>
        </p:txBody>
      </p:sp>
      <p:grpSp>
        <p:nvGrpSpPr>
          <p:cNvPr id="538" name="Google Shape;538;p8"/>
          <p:cNvGrpSpPr/>
          <p:nvPr/>
        </p:nvGrpSpPr>
        <p:grpSpPr>
          <a:xfrm>
            <a:off x="819751" y="2458709"/>
            <a:ext cx="10552500" cy="3240001"/>
            <a:chOff x="12029" y="467733"/>
            <a:chExt cx="10552500" cy="3240001"/>
          </a:xfrm>
        </p:grpSpPr>
        <p:sp>
          <p:nvSpPr>
            <p:cNvPr id="539" name="Google Shape;539;p8"/>
            <p:cNvSpPr/>
            <p:nvPr/>
          </p:nvSpPr>
          <p:spPr>
            <a:xfrm>
              <a:off x="626279" y="467733"/>
              <a:ext cx="1921500" cy="1921500"/>
            </a:xfrm>
            <a:prstGeom prst="ellipse">
              <a:avLst/>
            </a:prstGeom>
            <a:solidFill>
              <a:srgbClr val="FA771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8"/>
            <p:cNvSpPr/>
            <p:nvPr/>
          </p:nvSpPr>
          <p:spPr>
            <a:xfrm>
              <a:off x="1035779" y="877233"/>
              <a:ext cx="1102500" cy="11025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8"/>
            <p:cNvSpPr/>
            <p:nvPr/>
          </p:nvSpPr>
          <p:spPr>
            <a:xfrm>
              <a:off x="12029" y="2987734"/>
              <a:ext cx="315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8"/>
            <p:cNvSpPr txBox="1"/>
            <p:nvPr/>
          </p:nvSpPr>
          <p:spPr>
            <a:xfrm>
              <a:off x="12029" y="2987734"/>
              <a:ext cx="315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Rockwell"/>
                <a:buNone/>
              </a:pPr>
              <a:r>
                <a:rPr b="0" i="0" lang="en-US" sz="4000" u="none" cap="none" strike="noStrik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UTILIZATION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8"/>
            <p:cNvSpPr/>
            <p:nvPr/>
          </p:nvSpPr>
          <p:spPr>
            <a:xfrm>
              <a:off x="4327529" y="467733"/>
              <a:ext cx="1921500" cy="1921500"/>
            </a:xfrm>
            <a:prstGeom prst="ellipse">
              <a:avLst/>
            </a:prstGeom>
            <a:solidFill>
              <a:srgbClr val="AEBF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8"/>
            <p:cNvSpPr/>
            <p:nvPr/>
          </p:nvSpPr>
          <p:spPr>
            <a:xfrm>
              <a:off x="4737029" y="877233"/>
              <a:ext cx="1102500" cy="11025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8"/>
            <p:cNvSpPr/>
            <p:nvPr/>
          </p:nvSpPr>
          <p:spPr>
            <a:xfrm>
              <a:off x="3713279" y="2987734"/>
              <a:ext cx="315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8"/>
            <p:cNvSpPr txBox="1"/>
            <p:nvPr/>
          </p:nvSpPr>
          <p:spPr>
            <a:xfrm>
              <a:off x="3713279" y="2987734"/>
              <a:ext cx="315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Rockwell"/>
                <a:buNone/>
              </a:pPr>
              <a:r>
                <a:rPr b="0" i="0" lang="en-US" sz="4000" u="none" cap="none" strike="noStrik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SIZE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8"/>
            <p:cNvSpPr/>
            <p:nvPr/>
          </p:nvSpPr>
          <p:spPr>
            <a:xfrm>
              <a:off x="8028779" y="467733"/>
              <a:ext cx="1921500" cy="1921500"/>
            </a:xfrm>
            <a:prstGeom prst="ellipse">
              <a:avLst/>
            </a:prstGeom>
            <a:solidFill>
              <a:srgbClr val="4FC2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8"/>
            <p:cNvSpPr/>
            <p:nvPr/>
          </p:nvSpPr>
          <p:spPr>
            <a:xfrm>
              <a:off x="8438279" y="877233"/>
              <a:ext cx="1102500" cy="11025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8"/>
            <p:cNvSpPr/>
            <p:nvPr/>
          </p:nvSpPr>
          <p:spPr>
            <a:xfrm>
              <a:off x="7414529" y="2987734"/>
              <a:ext cx="315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8"/>
            <p:cNvSpPr txBox="1"/>
            <p:nvPr/>
          </p:nvSpPr>
          <p:spPr>
            <a:xfrm>
              <a:off x="7414529" y="2987734"/>
              <a:ext cx="315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Rockwell"/>
                <a:buNone/>
              </a:pPr>
              <a:r>
                <a:rPr b="0" i="0" lang="en-US" sz="4000" u="none" cap="none" strike="noStrik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BOOT UP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9"/>
          <p:cNvSpPr txBox="1"/>
          <p:nvPr>
            <p:ph type="title"/>
          </p:nvPr>
        </p:nvSpPr>
        <p:spPr>
          <a:xfrm>
            <a:off x="888631" y="2349925"/>
            <a:ext cx="3498979" cy="24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556" name="Google Shape;556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1360" y="0"/>
            <a:ext cx="12474720" cy="7017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02760" y="6267729"/>
            <a:ext cx="3530600" cy="74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564" name="Google Shape;564;p10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565" name="Google Shape;565;p10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66" name="Google Shape;566;p10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67" name="Google Shape;567;p10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68" name="Google Shape;568;p10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69" name="Google Shape;569;p10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70" name="Google Shape;570;p10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71" name="Google Shape;571;p10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72" name="Google Shape;572;p10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73" name="Google Shape;573;p10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74" name="Google Shape;574;p10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75" name="Google Shape;575;p10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76" name="Google Shape;576;p10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77" name="Google Shape;577;p10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78" name="Google Shape;578;p10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79" name="Google Shape;579;p10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80" name="Google Shape;580;p10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14902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81" name="Google Shape;581;p10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82" name="Google Shape;582;p10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83" name="Google Shape;583;p10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84" name="Google Shape;584;p10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85" name="Google Shape;585;p10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586" name="Google Shape;586;p10"/>
          <p:cNvSpPr txBox="1"/>
          <p:nvPr>
            <p:ph type="title"/>
          </p:nvPr>
        </p:nvSpPr>
        <p:spPr>
          <a:xfrm>
            <a:off x="1759287" y="798881"/>
            <a:ext cx="8673427" cy="1048945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vocabularies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87" name="Google Shape;587;p10"/>
          <p:cNvGrpSpPr/>
          <p:nvPr/>
        </p:nvGrpSpPr>
        <p:grpSpPr>
          <a:xfrm>
            <a:off x="807722" y="2036081"/>
            <a:ext cx="10576558" cy="4085257"/>
            <a:chOff x="0" y="45105"/>
            <a:chExt cx="10576558" cy="4085257"/>
          </a:xfrm>
        </p:grpSpPr>
        <p:sp>
          <p:nvSpPr>
            <p:cNvPr id="588" name="Google Shape;588;p10"/>
            <p:cNvSpPr/>
            <p:nvPr/>
          </p:nvSpPr>
          <p:spPr>
            <a:xfrm>
              <a:off x="0" y="502665"/>
              <a:ext cx="10576558" cy="1708875"/>
            </a:xfrm>
            <a:prstGeom prst="rect">
              <a:avLst/>
            </a:prstGeom>
            <a:solidFill>
              <a:schemeClr val="lt1">
                <a:alpha val="89804"/>
              </a:schemeClr>
            </a:solidFill>
            <a:ln cap="flat" cmpd="sng" w="15875">
              <a:solidFill>
                <a:srgbClr val="FA771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0"/>
            <p:cNvSpPr txBox="1"/>
            <p:nvPr/>
          </p:nvSpPr>
          <p:spPr>
            <a:xfrm>
              <a:off x="0" y="502665"/>
              <a:ext cx="10576558" cy="1708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0450" lIns="820850" spcFirstLastPara="1" rIns="820850" wrap="square" tIns="645650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Rockwell"/>
                <a:buChar char="•"/>
              </a:pPr>
              <a:r>
                <a:rPr b="0" i="0" lang="en-US" sz="3100" u="none" cap="none" strike="noStrik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Single file with all the deps and config required to run a program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0"/>
            <p:cNvSpPr/>
            <p:nvPr/>
          </p:nvSpPr>
          <p:spPr>
            <a:xfrm>
              <a:off x="528827" y="45105"/>
              <a:ext cx="7403590" cy="915120"/>
            </a:xfrm>
            <a:prstGeom prst="roundRect">
              <a:avLst>
                <a:gd fmla="val 16667" name="adj"/>
              </a:avLst>
            </a:prstGeom>
            <a:solidFill>
              <a:srgbClr val="FA771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0"/>
            <p:cNvSpPr txBox="1"/>
            <p:nvPr/>
          </p:nvSpPr>
          <p:spPr>
            <a:xfrm>
              <a:off x="573499" y="89777"/>
              <a:ext cx="7314246" cy="825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79825" spcFirstLastPara="1" rIns="2798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Rockwell"/>
                <a:buNone/>
              </a:pPr>
              <a:r>
                <a:rPr b="0" i="0" lang="en-US" sz="3100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Image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10"/>
            <p:cNvSpPr/>
            <p:nvPr/>
          </p:nvSpPr>
          <p:spPr>
            <a:xfrm>
              <a:off x="0" y="2836500"/>
              <a:ext cx="10576558" cy="1293862"/>
            </a:xfrm>
            <a:prstGeom prst="rect">
              <a:avLst/>
            </a:prstGeom>
            <a:solidFill>
              <a:schemeClr val="lt1">
                <a:alpha val="89804"/>
              </a:schemeClr>
            </a:solidFill>
            <a:ln cap="flat" cmpd="sng" w="15875">
              <a:solidFill>
                <a:srgbClr val="ADBD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10"/>
            <p:cNvSpPr txBox="1"/>
            <p:nvPr/>
          </p:nvSpPr>
          <p:spPr>
            <a:xfrm>
              <a:off x="0" y="2836500"/>
              <a:ext cx="10576558" cy="1293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0450" lIns="820850" spcFirstLastPara="1" rIns="820850" wrap="square" tIns="645650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Rockwell"/>
                <a:buChar char="•"/>
              </a:pPr>
              <a:r>
                <a:rPr b="0" i="0" lang="en-US" sz="3100" u="none" cap="none" strike="noStrik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Instance of an image.  Runs a program.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10"/>
            <p:cNvSpPr/>
            <p:nvPr/>
          </p:nvSpPr>
          <p:spPr>
            <a:xfrm>
              <a:off x="528827" y="2378940"/>
              <a:ext cx="7403590" cy="915120"/>
            </a:xfrm>
            <a:prstGeom prst="roundRect">
              <a:avLst>
                <a:gd fmla="val 16667" name="adj"/>
              </a:avLst>
            </a:prstGeom>
            <a:solidFill>
              <a:srgbClr val="ADBD4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10"/>
            <p:cNvSpPr txBox="1"/>
            <p:nvPr/>
          </p:nvSpPr>
          <p:spPr>
            <a:xfrm>
              <a:off x="573499" y="2423612"/>
              <a:ext cx="7314246" cy="825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79825" spcFirstLastPara="1" rIns="2798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Rockwell"/>
                <a:buNone/>
              </a:pPr>
              <a:r>
                <a:rPr b="0" i="0" lang="en-US" sz="3100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Container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1"/>
          <p:cNvSpPr txBox="1"/>
          <p:nvPr>
            <p:ph type="title"/>
          </p:nvPr>
        </p:nvSpPr>
        <p:spPr>
          <a:xfrm>
            <a:off x="888631" y="2349925"/>
            <a:ext cx="3498979" cy="24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601" name="Google Shape;601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12316691" cy="6928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9595427" y="6525491"/>
            <a:ext cx="2679700" cy="332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2"/>
          <p:cNvSpPr txBox="1"/>
          <p:nvPr>
            <p:ph type="title"/>
          </p:nvPr>
        </p:nvSpPr>
        <p:spPr>
          <a:xfrm>
            <a:off x="888632" y="2349925"/>
            <a:ext cx="3501196" cy="24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608" name="Google Shape;60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7407" y="6160418"/>
            <a:ext cx="2692400" cy="54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3"/>
          <p:cNvSpPr txBox="1"/>
          <p:nvPr>
            <p:ph type="title"/>
          </p:nvPr>
        </p:nvSpPr>
        <p:spPr>
          <a:xfrm>
            <a:off x="888632" y="2349925"/>
            <a:ext cx="3501196" cy="24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615" name="Google Shape;61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9512300" y="6525491"/>
            <a:ext cx="2679700" cy="332509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13"/>
          <p:cNvSpPr txBox="1"/>
          <p:nvPr/>
        </p:nvSpPr>
        <p:spPr>
          <a:xfrm>
            <a:off x="3080084" y="5125453"/>
            <a:ext cx="6014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Avenir"/>
                <a:ea typeface="Avenir"/>
                <a:cs typeface="Avenir"/>
                <a:sym typeface="Avenir"/>
              </a:rPr>
              <a:t>FREE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3"/>
          <p:cNvSpPr txBox="1"/>
          <p:nvPr/>
        </p:nvSpPr>
        <p:spPr>
          <a:xfrm>
            <a:off x="7688179" y="5197642"/>
            <a:ext cx="203773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Avenir"/>
                <a:ea typeface="Avenir"/>
                <a:cs typeface="Avenir"/>
                <a:sym typeface="Avenir"/>
              </a:rPr>
              <a:t>Not Free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2"/>
                </a:solidFill>
                <a:latin typeface="Avenir"/>
                <a:ea typeface="Avenir"/>
                <a:cs typeface="Avenir"/>
                <a:sym typeface="Avenir"/>
              </a:rPr>
              <a:t>Image security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2"/>
                </a:solidFill>
                <a:latin typeface="Avenir"/>
                <a:ea typeface="Avenir"/>
                <a:cs typeface="Avenir"/>
                <a:sym typeface="Avenir"/>
              </a:rPr>
              <a:t>Image mangement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2"/>
                </a:solidFill>
                <a:latin typeface="Avenir"/>
                <a:ea typeface="Avenir"/>
                <a:cs typeface="Avenir"/>
                <a:sym typeface="Avenir"/>
              </a:rPr>
              <a:t>orchestration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4"/>
          <p:cNvSpPr/>
          <p:nvPr/>
        </p:nvSpPr>
        <p:spPr>
          <a:xfrm>
            <a:off x="0" y="-1"/>
            <a:ext cx="12192000" cy="6869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624" name="Google Shape;624;p1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625" name="Google Shape;625;p14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14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14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14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14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14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14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14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14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14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14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14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14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14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14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4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lt1">
                  <a:alpha val="34902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14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4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14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14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14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6" name="Google Shape;646;p14"/>
          <p:cNvSpPr/>
          <p:nvPr/>
        </p:nvSpPr>
        <p:spPr>
          <a:xfrm>
            <a:off x="1923665" y="0"/>
            <a:ext cx="10268336" cy="686920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47" name="Google Shape;647;p14"/>
          <p:cNvSpPr txBox="1"/>
          <p:nvPr>
            <p:ph type="title"/>
          </p:nvPr>
        </p:nvSpPr>
        <p:spPr>
          <a:xfrm>
            <a:off x="2880485" y="841375"/>
            <a:ext cx="6230857" cy="123057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228600" spcFirstLastPara="1" rIns="228600" wrap="square" tIns="2286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en-US" sz="3600">
                <a:solidFill>
                  <a:schemeClr val="accent1"/>
                </a:solidFill>
              </a:rPr>
              <a:t>Install Docker for linux</a:t>
            </a:r>
            <a:br>
              <a:rPr lang="en-US" sz="3600">
                <a:solidFill>
                  <a:schemeClr val="accent1"/>
                </a:solidFill>
              </a:rPr>
            </a:br>
            <a:endParaRPr sz="3600">
              <a:solidFill>
                <a:schemeClr val="accent1"/>
              </a:solidFill>
            </a:endParaRPr>
          </a:p>
        </p:txBody>
      </p:sp>
      <p:sp>
        <p:nvSpPr>
          <p:cNvPr id="648" name="Google Shape;648;p14"/>
          <p:cNvSpPr/>
          <p:nvPr/>
        </p:nvSpPr>
        <p:spPr>
          <a:xfrm rot="5400000">
            <a:off x="1797903" y="954813"/>
            <a:ext cx="300774" cy="25928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49" name="Google Shape;649;p14"/>
          <p:cNvSpPr txBox="1"/>
          <p:nvPr>
            <p:ph idx="1" type="body"/>
          </p:nvPr>
        </p:nvSpPr>
        <p:spPr>
          <a:xfrm>
            <a:off x="2352962" y="2071946"/>
            <a:ext cx="6123900" cy="3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60"/>
              <a:buChar char="▪"/>
            </a:pPr>
            <a:r>
              <a:rPr lang="en-US" sz="1600"/>
              <a:t> got o URL :  </a:t>
            </a:r>
            <a:r>
              <a:rPr lang="en-US" sz="1600" u="sng">
                <a:solidFill>
                  <a:schemeClr val="hlink"/>
                </a:solidFill>
                <a:hlinkClick r:id="rId3"/>
              </a:rPr>
              <a:t>https://docs.docker.com/engine/install/</a:t>
            </a:r>
            <a:endParaRPr sz="1600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760"/>
              <a:buChar char="▪"/>
            </a:pPr>
            <a:r>
              <a:rPr lang="en-US" sz="1600"/>
              <a:t>Choose OS platform  (Centos / RHEL / UBUNTU /…. ) 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40"/>
              <a:buChar char="▪"/>
            </a:pPr>
            <a:r>
              <a:rPr lang="en-US" sz="1400"/>
              <a:t>To check you OS Platform tun this command : </a:t>
            </a:r>
            <a:br>
              <a:rPr lang="en-US" sz="1400"/>
            </a:br>
            <a:r>
              <a:rPr lang="en-US" sz="1400"/>
              <a:t>$ cat /etc/*release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Follow the steps on the URL :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▪"/>
            </a:pPr>
            <a:r>
              <a:rPr lang="en-US"/>
              <a:t>Uninstall previous version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▪"/>
            </a:pPr>
            <a:r>
              <a:rPr lang="en-US"/>
              <a:t>Install Docker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760"/>
              <a:buNone/>
            </a:pPr>
            <a:r>
              <a:t/>
            </a:r>
            <a:endParaRPr sz="1600"/>
          </a:p>
        </p:txBody>
      </p:sp>
      <p:sp>
        <p:nvSpPr>
          <p:cNvPr id="650" name="Google Shape;650;p14"/>
          <p:cNvSpPr txBox="1"/>
          <p:nvPr/>
        </p:nvSpPr>
        <p:spPr>
          <a:xfrm>
            <a:off x="678873" y="371301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5"/>
          <p:cNvSpPr/>
          <p:nvPr/>
        </p:nvSpPr>
        <p:spPr>
          <a:xfrm>
            <a:off x="0" y="-1"/>
            <a:ext cx="12192000" cy="6869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656" name="Google Shape;656;p15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657" name="Google Shape;657;p15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5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15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15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15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5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15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15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15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15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15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15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15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15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15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15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lt1">
                  <a:alpha val="34902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15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15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15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15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15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2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8" name="Google Shape;678;p15"/>
          <p:cNvSpPr/>
          <p:nvPr/>
        </p:nvSpPr>
        <p:spPr>
          <a:xfrm>
            <a:off x="1923665" y="0"/>
            <a:ext cx="10268336" cy="686920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79" name="Google Shape;679;p15"/>
          <p:cNvSpPr txBox="1"/>
          <p:nvPr>
            <p:ph type="title"/>
          </p:nvPr>
        </p:nvSpPr>
        <p:spPr>
          <a:xfrm>
            <a:off x="2880485" y="841375"/>
            <a:ext cx="6230857" cy="123057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228600" spcFirstLastPara="1" rIns="228600" wrap="square" tIns="2286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en-US" sz="3600">
                <a:solidFill>
                  <a:schemeClr val="accent1"/>
                </a:solidFill>
              </a:rPr>
              <a:t>Install Docker for Windows or mac</a:t>
            </a:r>
            <a:br>
              <a:rPr lang="en-US" sz="3600">
                <a:solidFill>
                  <a:schemeClr val="accent1"/>
                </a:solidFill>
              </a:rPr>
            </a:br>
            <a:endParaRPr sz="3600">
              <a:solidFill>
                <a:schemeClr val="accent1"/>
              </a:solidFill>
            </a:endParaRPr>
          </a:p>
        </p:txBody>
      </p:sp>
      <p:sp>
        <p:nvSpPr>
          <p:cNvPr id="680" name="Google Shape;680;p15"/>
          <p:cNvSpPr/>
          <p:nvPr/>
        </p:nvSpPr>
        <p:spPr>
          <a:xfrm rot="5400000">
            <a:off x="1797903" y="954813"/>
            <a:ext cx="300774" cy="25928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81" name="Google Shape;681;p15"/>
          <p:cNvSpPr txBox="1"/>
          <p:nvPr>
            <p:ph idx="1" type="body"/>
          </p:nvPr>
        </p:nvSpPr>
        <p:spPr>
          <a:xfrm>
            <a:off x="2880487" y="2249046"/>
            <a:ext cx="6123783" cy="3802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60"/>
              <a:buChar char="▪"/>
            </a:pPr>
            <a:r>
              <a:rPr b="0" i="0" lang="en-US" sz="1600">
                <a:solidFill>
                  <a:srgbClr val="1C1D1F"/>
                </a:solidFill>
                <a:latin typeface="Arial"/>
                <a:ea typeface="Arial"/>
                <a:cs typeface="Arial"/>
                <a:sym typeface="Arial"/>
              </a:rPr>
              <a:t>You have 2 Options: 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760"/>
              <a:buChar char="▪"/>
            </a:pPr>
            <a:r>
              <a:rPr lang="en-US" sz="1600">
                <a:solidFill>
                  <a:srgbClr val="1C1D1F"/>
                </a:solidFill>
                <a:latin typeface="Arial"/>
                <a:ea typeface="Arial"/>
                <a:cs typeface="Arial"/>
                <a:sym typeface="Arial"/>
              </a:rPr>
              <a:t>1- install Docker Desktop for Windos/Mac</a:t>
            </a:r>
            <a:endParaRPr b="0" i="0" sz="1600">
              <a:solidFill>
                <a:srgbClr val="1C1D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760"/>
              <a:buChar char="▪"/>
            </a:pPr>
            <a:r>
              <a:rPr lang="en-US" sz="1600">
                <a:solidFill>
                  <a:srgbClr val="1C1D1F"/>
                </a:solidFill>
                <a:latin typeface="Arial"/>
                <a:ea typeface="Arial"/>
                <a:cs typeface="Arial"/>
                <a:sym typeface="Arial"/>
              </a:rPr>
              <a:t>2-</a:t>
            </a:r>
            <a:r>
              <a:rPr b="0" i="0" lang="en-US" sz="1600">
                <a:solidFill>
                  <a:srgbClr val="1C1D1F"/>
                </a:solidFill>
                <a:latin typeface="Arial"/>
                <a:ea typeface="Arial"/>
                <a:cs typeface="Arial"/>
                <a:sym typeface="Arial"/>
              </a:rPr>
              <a:t> Install Virtualbox and deploy a Linux VM and then follow the upcoming demo to install Docker on that Linux VM.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760"/>
              <a:buChar char="▪"/>
            </a:pPr>
            <a:r>
              <a:rPr lang="en-US" sz="1600">
                <a:solidFill>
                  <a:srgbClr val="1C1D1F"/>
                </a:solidFill>
                <a:latin typeface="Arial"/>
                <a:ea typeface="Arial"/>
                <a:cs typeface="Arial"/>
                <a:sym typeface="Arial"/>
              </a:rPr>
              <a:t>Then follow the previous steps for installing docker on linux </a:t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87" name="Google Shape;687;p16"/>
          <p:cNvSpPr/>
          <p:nvPr/>
        </p:nvSpPr>
        <p:spPr>
          <a:xfrm>
            <a:off x="4274788" y="-15796"/>
            <a:ext cx="7911916" cy="6889592"/>
          </a:xfrm>
          <a:custGeom>
            <a:rect b="b" l="l" r="r" t="t"/>
            <a:pathLst>
              <a:path extrusionOk="0" h="6889592" w="7911916">
                <a:moveTo>
                  <a:pt x="1144064" y="0"/>
                </a:moveTo>
                <a:lnTo>
                  <a:pt x="7911916" y="0"/>
                </a:lnTo>
                <a:lnTo>
                  <a:pt x="7911916" y="6889592"/>
                </a:lnTo>
                <a:lnTo>
                  <a:pt x="1282780" y="6889592"/>
                </a:lnTo>
                <a:lnTo>
                  <a:pt x="1021588" y="6461391"/>
                </a:lnTo>
                <a:cubicBezTo>
                  <a:pt x="-73086" y="4533675"/>
                  <a:pt x="-509682" y="2192905"/>
                  <a:pt x="841264" y="370936"/>
                </a:cubicBezTo>
                <a:cubicBezTo>
                  <a:pt x="928899" y="253509"/>
                  <a:pt x="1021859" y="138477"/>
                  <a:pt x="1119707" y="26053"/>
                </a:cubicBezTo>
                <a:close/>
              </a:path>
            </a:pathLst>
          </a:custGeom>
          <a:noFill/>
          <a:ln cap="flat" cmpd="sng" w="9525">
            <a:solidFill>
              <a:schemeClr val="dk1">
                <a:alpha val="9804"/>
              </a:scheme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6"/>
          <p:cNvSpPr/>
          <p:nvPr/>
        </p:nvSpPr>
        <p:spPr>
          <a:xfrm>
            <a:off x="6249750" y="-6726"/>
            <a:ext cx="5931659" cy="6871452"/>
          </a:xfrm>
          <a:custGeom>
            <a:rect b="b" l="l" r="r" t="t"/>
            <a:pathLst>
              <a:path extrusionOk="0" h="6871452" w="5931659">
                <a:moveTo>
                  <a:pt x="2429503" y="0"/>
                </a:moveTo>
                <a:lnTo>
                  <a:pt x="5931659" y="0"/>
                </a:lnTo>
                <a:lnTo>
                  <a:pt x="5931659" y="6871452"/>
                </a:lnTo>
                <a:lnTo>
                  <a:pt x="1302090" y="6871452"/>
                </a:lnTo>
                <a:lnTo>
                  <a:pt x="1257860" y="6820098"/>
                </a:lnTo>
                <a:cubicBezTo>
                  <a:pt x="121068" y="5395213"/>
                  <a:pt x="-469022" y="3541076"/>
                  <a:pt x="456609" y="1965059"/>
                </a:cubicBezTo>
                <a:cubicBezTo>
                  <a:pt x="919425" y="1178905"/>
                  <a:pt x="1583566" y="524859"/>
                  <a:pt x="2356353" y="42030"/>
                </a:cubicBezTo>
                <a:close/>
              </a:path>
            </a:pathLst>
          </a:custGeom>
          <a:noFill/>
          <a:ln cap="flat" cmpd="sng" w="9525">
            <a:solidFill>
              <a:schemeClr val="dk1">
                <a:alpha val="9804"/>
              </a:scheme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6"/>
          <p:cNvSpPr/>
          <p:nvPr/>
        </p:nvSpPr>
        <p:spPr>
          <a:xfrm>
            <a:off x="5433528" y="-3116"/>
            <a:ext cx="6766974" cy="6864232"/>
          </a:xfrm>
          <a:custGeom>
            <a:rect b="b" l="l" r="r" t="t"/>
            <a:pathLst>
              <a:path extrusionOk="0" h="6864232" w="6766974">
                <a:moveTo>
                  <a:pt x="2135088" y="0"/>
                </a:moveTo>
                <a:lnTo>
                  <a:pt x="6766974" y="0"/>
                </a:lnTo>
                <a:lnTo>
                  <a:pt x="6766974" y="6864232"/>
                </a:lnTo>
                <a:lnTo>
                  <a:pt x="1128977" y="6864232"/>
                </a:lnTo>
                <a:lnTo>
                  <a:pt x="1004776" y="6687663"/>
                </a:lnTo>
                <a:cubicBezTo>
                  <a:pt x="-54053" y="5122098"/>
                  <a:pt x="-463081" y="3202457"/>
                  <a:pt x="709736" y="1521351"/>
                </a:cubicBezTo>
                <a:cubicBezTo>
                  <a:pt x="1045443" y="1039181"/>
                  <a:pt x="1446565" y="592246"/>
                  <a:pt x="1896284" y="197391"/>
                </a:cubicBezTo>
                <a:close/>
              </a:path>
            </a:pathLst>
          </a:custGeom>
          <a:noFill/>
          <a:ln cap="flat" cmpd="sng" w="9525">
            <a:solidFill>
              <a:schemeClr val="dk1">
                <a:alpha val="9804"/>
              </a:schemeClr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6"/>
          <p:cNvSpPr/>
          <p:nvPr/>
        </p:nvSpPr>
        <p:spPr>
          <a:xfrm>
            <a:off x="6953136" y="0"/>
            <a:ext cx="5238864" cy="6858000"/>
          </a:xfrm>
          <a:custGeom>
            <a:rect b="b" l="l" r="r" t="t"/>
            <a:pathLst>
              <a:path extrusionOk="0" h="6864726" w="5238864">
                <a:moveTo>
                  <a:pt x="2829115" y="0"/>
                </a:moveTo>
                <a:lnTo>
                  <a:pt x="5238864" y="0"/>
                </a:lnTo>
                <a:lnTo>
                  <a:pt x="5238864" y="6864726"/>
                </a:lnTo>
                <a:lnTo>
                  <a:pt x="1518091" y="6864726"/>
                </a:lnTo>
                <a:lnTo>
                  <a:pt x="1435414" y="6778879"/>
                </a:lnTo>
                <a:cubicBezTo>
                  <a:pt x="226066" y="5476104"/>
                  <a:pt x="-499346" y="3635393"/>
                  <a:pt x="406006" y="2093910"/>
                </a:cubicBezTo>
                <a:cubicBezTo>
                  <a:pt x="907547" y="1241972"/>
                  <a:pt x="1674986" y="564513"/>
                  <a:pt x="2559142" y="12448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91" name="Google Shape;691;p16"/>
          <p:cNvSpPr txBox="1"/>
          <p:nvPr>
            <p:ph type="title"/>
          </p:nvPr>
        </p:nvSpPr>
        <p:spPr>
          <a:xfrm>
            <a:off x="7874928" y="1124998"/>
            <a:ext cx="3456122" cy="4589717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800"/>
              <a:buFont typeface="Calibri"/>
              <a:buNone/>
            </a:pPr>
            <a:r>
              <a:rPr lang="en-US" sz="4800"/>
              <a:t>What is Docker ?</a:t>
            </a:r>
            <a:endParaRPr/>
          </a:p>
        </p:txBody>
      </p:sp>
      <p:sp>
        <p:nvSpPr>
          <p:cNvPr id="692" name="Google Shape;692;p16"/>
          <p:cNvSpPr txBox="1"/>
          <p:nvPr>
            <p:ph idx="1" type="body"/>
          </p:nvPr>
        </p:nvSpPr>
        <p:spPr>
          <a:xfrm>
            <a:off x="860950" y="5119177"/>
            <a:ext cx="5427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-220218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10000"/>
              <a:buChar char="▪"/>
            </a:pPr>
            <a:r>
              <a:rPr lang="en-US" sz="1600"/>
              <a:t> Docker is a platform or ecosystem around creating and running something called containers.</a:t>
            </a:r>
            <a:endParaRPr/>
          </a:p>
          <a:p>
            <a:pPr indent="-220218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0000"/>
              <a:buChar char="▪"/>
            </a:pPr>
            <a:r>
              <a:rPr lang="en-US" sz="1600"/>
              <a:t>Docker is a tool designed to make it easier to create, deploy, and run applications by using containers.</a:t>
            </a:r>
            <a:endParaRPr/>
          </a:p>
          <a:p>
            <a:pPr indent="-125222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0000"/>
              <a:buNone/>
            </a:pPr>
            <a:r>
              <a:t/>
            </a:r>
            <a:endParaRPr sz="1600"/>
          </a:p>
        </p:txBody>
      </p:sp>
      <p:sp>
        <p:nvSpPr>
          <p:cNvPr id="693" name="Google Shape;693;p16"/>
          <p:cNvSpPr/>
          <p:nvPr/>
        </p:nvSpPr>
        <p:spPr>
          <a:xfrm>
            <a:off x="1153886" y="1124998"/>
            <a:ext cx="1894114" cy="94328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rgbClr val="AC5B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Docker </a:t>
            </a:r>
            <a:r>
              <a:rPr b="0" i="0" lang="en-US" sz="1800" u="none" cap="none" strike="noStrik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94" name="Google Shape;694;p16"/>
          <p:cNvSpPr/>
          <p:nvPr/>
        </p:nvSpPr>
        <p:spPr>
          <a:xfrm>
            <a:off x="3604472" y="1124998"/>
            <a:ext cx="1894114" cy="94328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rgbClr val="AC5B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Docker </a:t>
            </a:r>
            <a:r>
              <a:rPr b="0" i="0" lang="en-US" sz="1800" u="none" cap="none" strike="noStrik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95" name="Google Shape;695;p16"/>
          <p:cNvSpPr/>
          <p:nvPr/>
        </p:nvSpPr>
        <p:spPr>
          <a:xfrm>
            <a:off x="1153886" y="2476568"/>
            <a:ext cx="1894114" cy="94328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rgbClr val="AC5B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Docker </a:t>
            </a:r>
            <a:r>
              <a:rPr b="0" i="0" lang="en-US" sz="1800" u="none" cap="none" strike="noStrik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rPr>
              <a:t>Machine</a:t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96" name="Google Shape;696;p16"/>
          <p:cNvSpPr/>
          <p:nvPr/>
        </p:nvSpPr>
        <p:spPr>
          <a:xfrm>
            <a:off x="3604472" y="2485712"/>
            <a:ext cx="1894114" cy="94328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rgbClr val="AC5B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Docker </a:t>
            </a:r>
            <a:r>
              <a:rPr b="0" i="0" lang="en-US" sz="1800" u="none" cap="none" strike="noStrik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rPr>
              <a:t>Images</a:t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97" name="Google Shape;697;p16"/>
          <p:cNvSpPr/>
          <p:nvPr/>
        </p:nvSpPr>
        <p:spPr>
          <a:xfrm>
            <a:off x="1153886" y="3828138"/>
            <a:ext cx="1894114" cy="94328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rgbClr val="AC5B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Docker </a:t>
            </a:r>
            <a:r>
              <a:rPr b="0" i="0" lang="en-US" sz="1800" u="none" cap="none" strike="noStrik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rPr>
              <a:t>HUB</a:t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98" name="Google Shape;698;p16"/>
          <p:cNvSpPr/>
          <p:nvPr/>
        </p:nvSpPr>
        <p:spPr>
          <a:xfrm>
            <a:off x="3604472" y="3828138"/>
            <a:ext cx="1894114" cy="94328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rgbClr val="AC5B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Docker </a:t>
            </a:r>
            <a:r>
              <a:rPr b="0" i="0" lang="en-US" sz="1800" u="none" cap="none" strike="noStrik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rPr>
              <a:t>Compose</a:t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704" name="Google Shape;704;p17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05" name="Google Shape;705;p17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9804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06" name="Google Shape;706;p17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9804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07" name="Google Shape;707;p17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9804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08" name="Google Shape;708;p17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9804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09" name="Google Shape;709;p17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9804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10" name="Google Shape;710;p17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9804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11" name="Google Shape;711;p17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9804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12" name="Google Shape;712;p17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9804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13" name="Google Shape;713;p17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9804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14" name="Google Shape;714;p17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9804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15" name="Google Shape;715;p17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9804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16" name="Google Shape;716;p17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9804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17" name="Google Shape;717;p17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9804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18" name="Google Shape;718;p17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9804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19" name="Google Shape;719;p17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9804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20" name="Google Shape;720;p17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9804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21" name="Google Shape;721;p17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9804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22" name="Google Shape;722;p17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9804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23" name="Google Shape;723;p17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9804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24" name="Google Shape;724;p17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9804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25" name="Google Shape;725;p17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9804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726" name="Google Shape;726;p17"/>
          <p:cNvSpPr txBox="1"/>
          <p:nvPr>
            <p:ph type="title"/>
          </p:nvPr>
        </p:nvSpPr>
        <p:spPr>
          <a:xfrm>
            <a:off x="904877" y="795527"/>
            <a:ext cx="10488547" cy="1190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Types of Docker regestries</a:t>
            </a:r>
            <a:endParaRPr/>
          </a:p>
        </p:txBody>
      </p:sp>
      <p:sp>
        <p:nvSpPr>
          <p:cNvPr id="727" name="Google Shape;727;p17"/>
          <p:cNvSpPr/>
          <p:nvPr/>
        </p:nvSpPr>
        <p:spPr>
          <a:xfrm>
            <a:off x="937030" y="2250281"/>
            <a:ext cx="4959318" cy="3678237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descr="Building" id="728" name="Google Shape;7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3337" y="2416047"/>
            <a:ext cx="3346704" cy="33467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9" name="Google Shape;729;p17"/>
          <p:cNvGrpSpPr/>
          <p:nvPr/>
        </p:nvGrpSpPr>
        <p:grpSpPr>
          <a:xfrm>
            <a:off x="6380703" y="2787367"/>
            <a:ext cx="5028927" cy="2582634"/>
            <a:chOff x="0" y="558517"/>
            <a:chExt cx="5028927" cy="2582634"/>
          </a:xfrm>
        </p:grpSpPr>
        <p:sp>
          <p:nvSpPr>
            <p:cNvPr id="730" name="Google Shape;730;p17"/>
            <p:cNvSpPr/>
            <p:nvPr/>
          </p:nvSpPr>
          <p:spPr>
            <a:xfrm rot="5400000">
              <a:off x="2126957" y="649317"/>
              <a:ext cx="1396924" cy="1215324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81B00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17"/>
            <p:cNvSpPr txBox="1"/>
            <p:nvPr/>
          </p:nvSpPr>
          <p:spPr>
            <a:xfrm>
              <a:off x="2407145" y="776204"/>
              <a:ext cx="836548" cy="961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Rockwel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Public regestry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17"/>
            <p:cNvSpPr/>
            <p:nvPr/>
          </p:nvSpPr>
          <p:spPr>
            <a:xfrm>
              <a:off x="3469960" y="837902"/>
              <a:ext cx="1558967" cy="838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17"/>
            <p:cNvSpPr/>
            <p:nvPr/>
          </p:nvSpPr>
          <p:spPr>
            <a:xfrm rot="5400000">
              <a:off x="814406" y="649317"/>
              <a:ext cx="1396924" cy="1215324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lt1"/>
            </a:solidFill>
            <a:ln cap="flat" cmpd="sng" w="15875">
              <a:solidFill>
                <a:srgbClr val="EC19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17"/>
            <p:cNvSpPr txBox="1"/>
            <p:nvPr/>
          </p:nvSpPr>
          <p:spPr>
            <a:xfrm>
              <a:off x="1094594" y="776204"/>
              <a:ext cx="836548" cy="961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Rockwel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35" name="Google Shape;735;p17"/>
            <p:cNvSpPr/>
            <p:nvPr/>
          </p:nvSpPr>
          <p:spPr>
            <a:xfrm rot="5400000">
              <a:off x="1468167" y="1835027"/>
              <a:ext cx="1396924" cy="1215324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81B00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17"/>
            <p:cNvSpPr txBox="1"/>
            <p:nvPr/>
          </p:nvSpPr>
          <p:spPr>
            <a:xfrm>
              <a:off x="1748355" y="1961914"/>
              <a:ext cx="836548" cy="961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Rockwel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Private regestry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17"/>
            <p:cNvSpPr/>
            <p:nvPr/>
          </p:nvSpPr>
          <p:spPr>
            <a:xfrm>
              <a:off x="0" y="2023611"/>
              <a:ext cx="1508678" cy="838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17"/>
            <p:cNvSpPr/>
            <p:nvPr/>
          </p:nvSpPr>
          <p:spPr>
            <a:xfrm rot="5400000">
              <a:off x="2780717" y="1835027"/>
              <a:ext cx="1396924" cy="1215324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lt1"/>
            </a:solidFill>
            <a:ln cap="flat" cmpd="sng" w="15875">
              <a:solidFill>
                <a:srgbClr val="EC19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17"/>
            <p:cNvSpPr txBox="1"/>
            <p:nvPr/>
          </p:nvSpPr>
          <p:spPr>
            <a:xfrm>
              <a:off x="3060905" y="1961914"/>
              <a:ext cx="836548" cy="961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Rockwel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pic>
        <p:nvPicPr>
          <p:cNvPr descr="Logo&#10;&#10;Description automatically generated" id="740" name="Google Shape;7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8213" y="2974419"/>
            <a:ext cx="1219200" cy="96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&#10;&#10;Description automatically generated" id="741" name="Google Shape;7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41006" y="4244648"/>
            <a:ext cx="883853" cy="86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7407" y="6160418"/>
            <a:ext cx="2692400" cy="54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2" name="Google Shape;7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8724"/>
            <a:ext cx="121919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86504" y="6155726"/>
            <a:ext cx="2905496" cy="70227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19"/>
          <p:cNvSpPr txBox="1"/>
          <p:nvPr/>
        </p:nvSpPr>
        <p:spPr>
          <a:xfrm>
            <a:off x="96983" y="3847053"/>
            <a:ext cx="62068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32CD"/>
                </a:solidFill>
                <a:latin typeface="Avenir"/>
                <a:ea typeface="Avenir"/>
                <a:cs typeface="Avenir"/>
                <a:sym typeface="Avenir"/>
              </a:rPr>
              <a:t>Run – start container in background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19"/>
          <p:cNvSpPr txBox="1"/>
          <p:nvPr/>
        </p:nvSpPr>
        <p:spPr>
          <a:xfrm>
            <a:off x="1330037" y="4488873"/>
            <a:ext cx="334533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$ docker run -d nginx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" name="Google Shape;76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20"/>
          <p:cNvSpPr txBox="1"/>
          <p:nvPr/>
        </p:nvSpPr>
        <p:spPr>
          <a:xfrm>
            <a:off x="3847381" y="741872"/>
            <a:ext cx="22014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 specific version 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2" name="Google Shape;76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86504" y="6155726"/>
            <a:ext cx="2905496" cy="70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1"/>
          <p:cNvSpPr txBox="1"/>
          <p:nvPr/>
        </p:nvSpPr>
        <p:spPr>
          <a:xfrm>
            <a:off x="1259457" y="638355"/>
            <a:ext cx="3659463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can you check the app version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docker hub itself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8" name="Google Shape;76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916" y="2042125"/>
            <a:ext cx="9400737" cy="3416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3" name="Google Shape;77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6983" y="0"/>
            <a:ext cx="12427527" cy="6990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51143" y="6367029"/>
            <a:ext cx="2579401" cy="62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9" name="Google Shape;77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"/>
            <a:ext cx="12352097" cy="6948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12598" y="6234544"/>
            <a:ext cx="2579401" cy="62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5" name="Google Shape;78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88982" cy="6912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12598" y="6234544"/>
            <a:ext cx="2579401" cy="62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1" name="Google Shape;79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4692" y="12031"/>
            <a:ext cx="12413673" cy="6982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09580" y="6359235"/>
            <a:ext cx="2579401" cy="62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7" name="Google Shape;79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12358255" cy="6951518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26"/>
          <p:cNvSpPr txBox="1"/>
          <p:nvPr/>
        </p:nvSpPr>
        <p:spPr>
          <a:xfrm>
            <a:off x="5860473" y="1385455"/>
            <a:ext cx="31050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 	 $ docker image rm  nginx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26"/>
          <p:cNvSpPr txBox="1"/>
          <p:nvPr/>
        </p:nvSpPr>
        <p:spPr>
          <a:xfrm>
            <a:off x="1219201" y="3616082"/>
            <a:ext cx="57343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have to delete container first before you delete image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0" name="Google Shape;80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8853" y="6328063"/>
            <a:ext cx="2579401" cy="62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Google Shape;80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27"/>
          <p:cNvSpPr txBox="1"/>
          <p:nvPr/>
        </p:nvSpPr>
        <p:spPr>
          <a:xfrm>
            <a:off x="5098472" y="4128655"/>
            <a:ext cx="36170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Download Image only and not run it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7" name="Google Shape;80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12598" y="6234544"/>
            <a:ext cx="2579401" cy="62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2" name="Google Shape;81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2302836" cy="6920345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28"/>
          <p:cNvSpPr txBox="1"/>
          <p:nvPr/>
        </p:nvSpPr>
        <p:spPr>
          <a:xfrm>
            <a:off x="1177637" y="244915"/>
            <a:ext cx="735676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Notes  here when run UBUNTU container it exited directly 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Because containers aren’t Operating system 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The</a:t>
            </a:r>
            <a:r>
              <a:rPr lang="en-US" sz="16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y</a:t>
            </a:r>
            <a:r>
              <a:rPr b="0" i="0" lang="en-US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just start and run a job then exited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4" name="Google Shape;81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23435" y="6296889"/>
            <a:ext cx="2579401" cy="62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" name="Google Shape;81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29"/>
          <p:cNvSpPr txBox="1"/>
          <p:nvPr/>
        </p:nvSpPr>
        <p:spPr>
          <a:xfrm>
            <a:off x="1122218" y="5389418"/>
            <a:ext cx="47696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can append a command to do before it is up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1" name="Google Shape;82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12598" y="6234544"/>
            <a:ext cx="2579401" cy="62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6" name="Google Shape;82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0838" y="0"/>
            <a:ext cx="12399819" cy="6974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09580" y="6351443"/>
            <a:ext cx="2579401" cy="62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31"/>
          <p:cNvSpPr txBox="1"/>
          <p:nvPr/>
        </p:nvSpPr>
        <p:spPr>
          <a:xfrm>
            <a:off x="5638799" y="1177636"/>
            <a:ext cx="580505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show output of conatiner on terminal and canoot do anything else on this terminal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31"/>
          <p:cNvSpPr txBox="1"/>
          <p:nvPr/>
        </p:nvSpPr>
        <p:spPr>
          <a:xfrm>
            <a:off x="5860473" y="2878492"/>
            <a:ext cx="4441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 container in the background  as daemon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31"/>
          <p:cNvSpPr txBox="1"/>
          <p:nvPr/>
        </p:nvSpPr>
        <p:spPr>
          <a:xfrm>
            <a:off x="5223162" y="4729746"/>
            <a:ext cx="663632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show container terminal output again use attach option with container id or name 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6" name="Google Shape;83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12598" y="6234544"/>
            <a:ext cx="2579401" cy="62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1" name="Google Shape;84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61736" y="6246421"/>
            <a:ext cx="2530262" cy="611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7" name="Google Shape;84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8023" y="-67792"/>
            <a:ext cx="12330025" cy="6935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12598" y="6234544"/>
            <a:ext cx="2579401" cy="62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3" name="Google Shape;85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12598" y="6234544"/>
            <a:ext cx="2579401" cy="62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3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861" name="Google Shape;861;p35"/>
          <p:cNvGrpSpPr/>
          <p:nvPr/>
        </p:nvGrpSpPr>
        <p:grpSpPr>
          <a:xfrm rot="10800000">
            <a:off x="0" y="0"/>
            <a:ext cx="12584114" cy="6853238"/>
            <a:chOff x="-417513" y="0"/>
            <a:chExt cx="12584114" cy="6853238"/>
          </a:xfrm>
        </p:grpSpPr>
        <p:sp>
          <p:nvSpPr>
            <p:cNvPr id="862" name="Google Shape;862;p35"/>
            <p:cNvSpPr/>
            <p:nvPr/>
          </p:nvSpPr>
          <p:spPr>
            <a:xfrm>
              <a:off x="1306513" y="0"/>
              <a:ext cx="3862388" cy="6843712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63" name="Google Shape;863;p35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64" name="Google Shape;864;p35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65" name="Google Shape;865;p35"/>
            <p:cNvSpPr/>
            <p:nvPr/>
          </p:nvSpPr>
          <p:spPr>
            <a:xfrm>
              <a:off x="1120775" y="0"/>
              <a:ext cx="3676651" cy="6843712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66" name="Google Shape;866;p35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67" name="Google Shape;867;p35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68" name="Google Shape;868;p35"/>
            <p:cNvSpPr/>
            <p:nvPr/>
          </p:nvSpPr>
          <p:spPr>
            <a:xfrm>
              <a:off x="1001713" y="0"/>
              <a:ext cx="3621089" cy="6843712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69" name="Google Shape;869;p35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70" name="Google Shape;870;p35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71" name="Google Shape;871;p35"/>
            <p:cNvSpPr/>
            <p:nvPr/>
          </p:nvSpPr>
          <p:spPr>
            <a:xfrm>
              <a:off x="1001713" y="0"/>
              <a:ext cx="3244849" cy="6843712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72" name="Google Shape;872;p35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73" name="Google Shape;873;p35"/>
            <p:cNvSpPr/>
            <p:nvPr/>
          </p:nvSpPr>
          <p:spPr>
            <a:xfrm>
              <a:off x="889000" y="0"/>
              <a:ext cx="3230563" cy="6843712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74" name="Google Shape;874;p35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75" name="Google Shape;875;p35"/>
            <p:cNvSpPr/>
            <p:nvPr/>
          </p:nvSpPr>
          <p:spPr>
            <a:xfrm>
              <a:off x="484188" y="0"/>
              <a:ext cx="3421064" cy="6843712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76" name="Google Shape;876;p35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77" name="Google Shape;877;p35"/>
            <p:cNvSpPr/>
            <p:nvPr/>
          </p:nvSpPr>
          <p:spPr>
            <a:xfrm>
              <a:off x="598488" y="0"/>
              <a:ext cx="2717799" cy="6843712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149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78" name="Google Shape;878;p35"/>
            <p:cNvSpPr/>
            <p:nvPr/>
          </p:nvSpPr>
          <p:spPr>
            <a:xfrm>
              <a:off x="261938" y="0"/>
              <a:ext cx="2944812" cy="6843712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0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79" name="Google Shape;879;p35"/>
            <p:cNvSpPr/>
            <p:nvPr/>
          </p:nvSpPr>
          <p:spPr>
            <a:xfrm>
              <a:off x="-417513" y="0"/>
              <a:ext cx="2403475" cy="6843712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80" name="Google Shape;880;p35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81" name="Google Shape;881;p35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82" name="Google Shape;882;p35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1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883" name="Google Shape;883;p35"/>
          <p:cNvSpPr txBox="1"/>
          <p:nvPr>
            <p:ph type="title"/>
          </p:nvPr>
        </p:nvSpPr>
        <p:spPr>
          <a:xfrm>
            <a:off x="7801092" y="2349925"/>
            <a:ext cx="3498900" cy="24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Docker Basic Commands</a:t>
            </a:r>
            <a:endParaRPr/>
          </a:p>
        </p:txBody>
      </p:sp>
      <p:grpSp>
        <p:nvGrpSpPr>
          <p:cNvPr id="884" name="Google Shape;884;p35"/>
          <p:cNvGrpSpPr/>
          <p:nvPr/>
        </p:nvGrpSpPr>
        <p:grpSpPr>
          <a:xfrm>
            <a:off x="804672" y="801540"/>
            <a:ext cx="6007288" cy="5251393"/>
            <a:chOff x="0" y="3096"/>
            <a:chExt cx="6007289" cy="5251393"/>
          </a:xfrm>
        </p:grpSpPr>
        <p:sp>
          <p:nvSpPr>
            <p:cNvPr id="885" name="Google Shape;885;p35"/>
            <p:cNvSpPr/>
            <p:nvPr/>
          </p:nvSpPr>
          <p:spPr>
            <a:xfrm rot="5400000">
              <a:off x="3883889" y="-1668049"/>
              <a:ext cx="402000" cy="38448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ECECE">
                <a:alpha val="89800"/>
              </a:srgbClr>
            </a:solidFill>
            <a:ln cap="flat" cmpd="sng" w="15875">
              <a:solidFill>
                <a:srgbClr val="CECECE">
                  <a:alpha val="898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35"/>
            <p:cNvSpPr txBox="1"/>
            <p:nvPr/>
          </p:nvSpPr>
          <p:spPr>
            <a:xfrm>
              <a:off x="2162624" y="72975"/>
              <a:ext cx="3825000" cy="36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950" lIns="41900" spcFirstLastPara="1" rIns="41900" wrap="square" tIns="20950">
              <a:noAutofit/>
            </a:bodyPr>
            <a:lstStyle/>
            <a:p>
              <a:pPr indent="-698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Rockwell"/>
                <a:buChar char="•"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$ docker run &lt;image-name&gt;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35"/>
            <p:cNvSpPr/>
            <p:nvPr/>
          </p:nvSpPr>
          <p:spPr>
            <a:xfrm>
              <a:off x="0" y="3096"/>
              <a:ext cx="2162700" cy="5025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158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35"/>
            <p:cNvSpPr txBox="1"/>
            <p:nvPr/>
          </p:nvSpPr>
          <p:spPr>
            <a:xfrm>
              <a:off x="24531" y="27627"/>
              <a:ext cx="21135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53325" spcFirstLastPara="1" rIns="53325" wrap="square" tIns="26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Rockwel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Run Container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35"/>
            <p:cNvSpPr/>
            <p:nvPr/>
          </p:nvSpPr>
          <p:spPr>
            <a:xfrm rot="5400000">
              <a:off x="3883889" y="-1140395"/>
              <a:ext cx="402000" cy="38448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ECECE">
                <a:alpha val="89800"/>
              </a:srgbClr>
            </a:solidFill>
            <a:ln cap="flat" cmpd="sng" w="15875">
              <a:solidFill>
                <a:srgbClr val="CECECE">
                  <a:alpha val="898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35"/>
            <p:cNvSpPr txBox="1"/>
            <p:nvPr/>
          </p:nvSpPr>
          <p:spPr>
            <a:xfrm>
              <a:off x="2162624" y="600629"/>
              <a:ext cx="3825000" cy="36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950" lIns="41900" spcFirstLastPara="1" rIns="41900" wrap="square" tIns="20950">
              <a:noAutofit/>
            </a:bodyPr>
            <a:lstStyle/>
            <a:p>
              <a:pPr indent="-698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Rockwell"/>
                <a:buChar char="•"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$ docker run &lt;image-name&gt; &lt;command!&gt;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35"/>
            <p:cNvSpPr/>
            <p:nvPr/>
          </p:nvSpPr>
          <p:spPr>
            <a:xfrm>
              <a:off x="0" y="530751"/>
              <a:ext cx="2162700" cy="5025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158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35"/>
            <p:cNvSpPr txBox="1"/>
            <p:nvPr/>
          </p:nvSpPr>
          <p:spPr>
            <a:xfrm>
              <a:off x="24531" y="555282"/>
              <a:ext cx="21135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53325" spcFirstLastPara="1" rIns="53325" wrap="square" tIns="26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Rockwel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Overriding default command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35"/>
            <p:cNvSpPr/>
            <p:nvPr/>
          </p:nvSpPr>
          <p:spPr>
            <a:xfrm rot="5400000">
              <a:off x="3883889" y="-612741"/>
              <a:ext cx="402000" cy="38448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ECECE">
                <a:alpha val="89800"/>
              </a:srgbClr>
            </a:solidFill>
            <a:ln cap="flat" cmpd="sng" w="15875">
              <a:solidFill>
                <a:srgbClr val="CECECE">
                  <a:alpha val="898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35"/>
            <p:cNvSpPr txBox="1"/>
            <p:nvPr/>
          </p:nvSpPr>
          <p:spPr>
            <a:xfrm>
              <a:off x="2162624" y="1128284"/>
              <a:ext cx="3825000" cy="36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950" lIns="41900" spcFirstLastPara="1" rIns="41900" wrap="square" tIns="20950">
              <a:noAutofit/>
            </a:bodyPr>
            <a:lstStyle/>
            <a:p>
              <a:pPr indent="-698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Rockwell"/>
                <a:buChar char="•"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$ docker run –d &lt;image-name&gt;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69850" lvl="1" marL="57150" marR="0" rtl="0" algn="l">
                <a:lnSpc>
                  <a:spcPct val="90000"/>
                </a:lnSpc>
                <a:spcBef>
                  <a:spcPts val="16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Rockwell"/>
                <a:buChar char="•"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$ docker attach &lt;container ID&gt;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35"/>
            <p:cNvSpPr/>
            <p:nvPr/>
          </p:nvSpPr>
          <p:spPr>
            <a:xfrm>
              <a:off x="0" y="1058406"/>
              <a:ext cx="2162700" cy="5025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158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35"/>
            <p:cNvSpPr txBox="1"/>
            <p:nvPr/>
          </p:nvSpPr>
          <p:spPr>
            <a:xfrm>
              <a:off x="24531" y="1082937"/>
              <a:ext cx="21135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53325" spcFirstLastPara="1" rIns="53325" wrap="square" tIns="26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Rockwel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Attached and Detached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35"/>
            <p:cNvSpPr/>
            <p:nvPr/>
          </p:nvSpPr>
          <p:spPr>
            <a:xfrm rot="5400000">
              <a:off x="3883889" y="-85085"/>
              <a:ext cx="402000" cy="38448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ECECE">
                <a:alpha val="89800"/>
              </a:srgbClr>
            </a:solidFill>
            <a:ln cap="flat" cmpd="sng" w="15875">
              <a:solidFill>
                <a:srgbClr val="CECECE">
                  <a:alpha val="898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35"/>
            <p:cNvSpPr txBox="1"/>
            <p:nvPr/>
          </p:nvSpPr>
          <p:spPr>
            <a:xfrm>
              <a:off x="2162624" y="1655939"/>
              <a:ext cx="3825000" cy="36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950" lIns="41900" spcFirstLastPara="1" rIns="41900" wrap="square" tIns="20950">
              <a:noAutofit/>
            </a:bodyPr>
            <a:lstStyle/>
            <a:p>
              <a:pPr indent="-698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Rockwell"/>
                <a:buChar char="•"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$ docker run -i &lt;image-name&gt;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35"/>
            <p:cNvSpPr/>
            <p:nvPr/>
          </p:nvSpPr>
          <p:spPr>
            <a:xfrm>
              <a:off x="0" y="1586060"/>
              <a:ext cx="2162700" cy="5025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158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35"/>
            <p:cNvSpPr txBox="1"/>
            <p:nvPr/>
          </p:nvSpPr>
          <p:spPr>
            <a:xfrm>
              <a:off x="24531" y="1610591"/>
              <a:ext cx="21135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53325" spcFirstLastPara="1" rIns="53325" wrap="square" tIns="26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Rockwel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Interactive mode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35"/>
            <p:cNvSpPr/>
            <p:nvPr/>
          </p:nvSpPr>
          <p:spPr>
            <a:xfrm rot="5400000">
              <a:off x="3883889" y="442567"/>
              <a:ext cx="402000" cy="38448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ECECE">
                <a:alpha val="89800"/>
              </a:srgbClr>
            </a:solidFill>
            <a:ln cap="flat" cmpd="sng" w="15875">
              <a:solidFill>
                <a:srgbClr val="CECECE">
                  <a:alpha val="898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35"/>
            <p:cNvSpPr txBox="1"/>
            <p:nvPr/>
          </p:nvSpPr>
          <p:spPr>
            <a:xfrm>
              <a:off x="2162624" y="2183593"/>
              <a:ext cx="3825000" cy="36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950" lIns="41900" spcFirstLastPara="1" rIns="41900" wrap="square" tIns="20950">
              <a:noAutofit/>
            </a:bodyPr>
            <a:lstStyle/>
            <a:p>
              <a:pPr indent="-698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Rockwell"/>
                <a:buChar char="•"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$ docker run –p host:container &lt;image-name&gt;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35"/>
            <p:cNvSpPr/>
            <p:nvPr/>
          </p:nvSpPr>
          <p:spPr>
            <a:xfrm>
              <a:off x="0" y="2113715"/>
              <a:ext cx="2162700" cy="5025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158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35"/>
            <p:cNvSpPr txBox="1"/>
            <p:nvPr/>
          </p:nvSpPr>
          <p:spPr>
            <a:xfrm>
              <a:off x="24531" y="2138246"/>
              <a:ext cx="21135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53325" spcFirstLastPara="1" rIns="53325" wrap="square" tIns="26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Rockwel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Port mapping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35"/>
            <p:cNvSpPr/>
            <p:nvPr/>
          </p:nvSpPr>
          <p:spPr>
            <a:xfrm rot="5400000">
              <a:off x="3883889" y="970222"/>
              <a:ext cx="402000" cy="38448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ECECE">
                <a:alpha val="89800"/>
              </a:srgbClr>
            </a:solidFill>
            <a:ln cap="flat" cmpd="sng" w="15875">
              <a:solidFill>
                <a:srgbClr val="CECECE">
                  <a:alpha val="898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35"/>
            <p:cNvSpPr txBox="1"/>
            <p:nvPr/>
          </p:nvSpPr>
          <p:spPr>
            <a:xfrm>
              <a:off x="2162624" y="2746173"/>
              <a:ext cx="3825000" cy="36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950" lIns="41900" spcFirstLastPara="1" rIns="41900" wrap="square" tIns="20950">
              <a:noAutofit/>
            </a:bodyPr>
            <a:lstStyle/>
            <a:p>
              <a:pPr indent="-698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Rockwell"/>
                <a:buChar char="•"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$ docker run –v host:container &lt;image-name&gt;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35"/>
            <p:cNvSpPr/>
            <p:nvPr/>
          </p:nvSpPr>
          <p:spPr>
            <a:xfrm>
              <a:off x="0" y="2641370"/>
              <a:ext cx="2162700" cy="5025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158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35"/>
            <p:cNvSpPr txBox="1"/>
            <p:nvPr/>
          </p:nvSpPr>
          <p:spPr>
            <a:xfrm>
              <a:off x="24531" y="2665901"/>
              <a:ext cx="21135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53325" spcFirstLastPara="1" rIns="53325" wrap="square" tIns="26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Rockwel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Volume mapping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35"/>
            <p:cNvSpPr/>
            <p:nvPr/>
          </p:nvSpPr>
          <p:spPr>
            <a:xfrm rot="5400000">
              <a:off x="3883889" y="1497878"/>
              <a:ext cx="402000" cy="38448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ECECE">
                <a:alpha val="89800"/>
              </a:srgbClr>
            </a:solidFill>
            <a:ln cap="flat" cmpd="sng" w="15875">
              <a:solidFill>
                <a:srgbClr val="CECECE">
                  <a:alpha val="898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35"/>
            <p:cNvSpPr txBox="1"/>
            <p:nvPr/>
          </p:nvSpPr>
          <p:spPr>
            <a:xfrm>
              <a:off x="2162624" y="3238903"/>
              <a:ext cx="3825000" cy="36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950" lIns="41900" spcFirstLastPara="1" rIns="41900" wrap="square" tIns="20950">
              <a:noAutofit/>
            </a:bodyPr>
            <a:lstStyle/>
            <a:p>
              <a:pPr indent="-698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Rockwell"/>
                <a:buChar char="•"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$ docker inspect &lt;container-name&gt;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35"/>
            <p:cNvSpPr/>
            <p:nvPr/>
          </p:nvSpPr>
          <p:spPr>
            <a:xfrm>
              <a:off x="0" y="3169024"/>
              <a:ext cx="2162700" cy="5025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158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35"/>
            <p:cNvSpPr txBox="1"/>
            <p:nvPr/>
          </p:nvSpPr>
          <p:spPr>
            <a:xfrm>
              <a:off x="24531" y="3193555"/>
              <a:ext cx="21135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53325" spcFirstLastPara="1" rIns="53325" wrap="square" tIns="26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Rockwel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Inspect container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35"/>
            <p:cNvSpPr/>
            <p:nvPr/>
          </p:nvSpPr>
          <p:spPr>
            <a:xfrm rot="5400000">
              <a:off x="3883889" y="2025532"/>
              <a:ext cx="402000" cy="38448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ECECE">
                <a:alpha val="89800"/>
              </a:srgbClr>
            </a:solidFill>
            <a:ln cap="flat" cmpd="sng" w="15875">
              <a:solidFill>
                <a:srgbClr val="CECECE">
                  <a:alpha val="898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35"/>
            <p:cNvSpPr txBox="1"/>
            <p:nvPr/>
          </p:nvSpPr>
          <p:spPr>
            <a:xfrm>
              <a:off x="2162624" y="3766557"/>
              <a:ext cx="3825000" cy="36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950" lIns="41900" spcFirstLastPara="1" rIns="41900" wrap="square" tIns="20950">
              <a:noAutofit/>
            </a:bodyPr>
            <a:lstStyle/>
            <a:p>
              <a:pPr indent="-698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Rockwell"/>
                <a:buChar char="•"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 $ docker stop CONTAINER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35"/>
            <p:cNvSpPr/>
            <p:nvPr/>
          </p:nvSpPr>
          <p:spPr>
            <a:xfrm>
              <a:off x="0" y="3696679"/>
              <a:ext cx="2162700" cy="5025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158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35"/>
            <p:cNvSpPr txBox="1"/>
            <p:nvPr/>
          </p:nvSpPr>
          <p:spPr>
            <a:xfrm>
              <a:off x="24531" y="3721210"/>
              <a:ext cx="21135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53325" spcFirstLastPara="1" rIns="53325" wrap="square" tIns="26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Rockwel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Stop container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35"/>
            <p:cNvSpPr/>
            <p:nvPr/>
          </p:nvSpPr>
          <p:spPr>
            <a:xfrm rot="5400000">
              <a:off x="3883889" y="2553187"/>
              <a:ext cx="402000" cy="38448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ECECE">
                <a:alpha val="89800"/>
              </a:srgbClr>
            </a:solidFill>
            <a:ln cap="flat" cmpd="sng" w="15875">
              <a:solidFill>
                <a:srgbClr val="CECECE">
                  <a:alpha val="898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35"/>
            <p:cNvSpPr txBox="1"/>
            <p:nvPr/>
          </p:nvSpPr>
          <p:spPr>
            <a:xfrm>
              <a:off x="2162624" y="4294212"/>
              <a:ext cx="3825000" cy="36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950" lIns="41900" spcFirstLastPara="1" rIns="41900" wrap="square" tIns="20950">
              <a:noAutofit/>
            </a:bodyPr>
            <a:lstStyle/>
            <a:p>
              <a:pPr indent="-698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Rockwell"/>
                <a:buChar char="•"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$ docker images -a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35"/>
            <p:cNvSpPr/>
            <p:nvPr/>
          </p:nvSpPr>
          <p:spPr>
            <a:xfrm>
              <a:off x="0" y="4224334"/>
              <a:ext cx="2162700" cy="5025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158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35"/>
            <p:cNvSpPr txBox="1"/>
            <p:nvPr/>
          </p:nvSpPr>
          <p:spPr>
            <a:xfrm>
              <a:off x="24531" y="4248865"/>
              <a:ext cx="21135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53325" spcFirstLastPara="1" rIns="53325" wrap="square" tIns="26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Rockwel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List all images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35"/>
            <p:cNvSpPr/>
            <p:nvPr/>
          </p:nvSpPr>
          <p:spPr>
            <a:xfrm rot="5400000">
              <a:off x="3883889" y="3080842"/>
              <a:ext cx="402000" cy="38448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ECECE">
                <a:alpha val="89800"/>
              </a:srgbClr>
            </a:solidFill>
            <a:ln cap="flat" cmpd="sng" w="15875">
              <a:solidFill>
                <a:srgbClr val="CECECE">
                  <a:alpha val="898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35"/>
            <p:cNvSpPr txBox="1"/>
            <p:nvPr/>
          </p:nvSpPr>
          <p:spPr>
            <a:xfrm>
              <a:off x="2162624" y="4821867"/>
              <a:ext cx="3825000" cy="36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950" lIns="41900" spcFirstLastPara="1" rIns="41900" wrap="square" tIns="20950">
              <a:noAutofit/>
            </a:bodyPr>
            <a:lstStyle/>
            <a:p>
              <a:pPr indent="-698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Rockwell"/>
                <a:buChar char="•"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$ docker ps -a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35"/>
            <p:cNvSpPr/>
            <p:nvPr/>
          </p:nvSpPr>
          <p:spPr>
            <a:xfrm>
              <a:off x="0" y="4751989"/>
              <a:ext cx="2162700" cy="5025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158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35"/>
            <p:cNvSpPr txBox="1"/>
            <p:nvPr/>
          </p:nvSpPr>
          <p:spPr>
            <a:xfrm>
              <a:off x="24531" y="4776520"/>
              <a:ext cx="21135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53325" spcFirstLastPara="1" rIns="53325" wrap="square" tIns="26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Rockwel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List all containers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9" name="Google Shape;929;p36"/>
          <p:cNvGrpSpPr/>
          <p:nvPr/>
        </p:nvGrpSpPr>
        <p:grpSpPr>
          <a:xfrm>
            <a:off x="-329674" y="-59376"/>
            <a:ext cx="12515851" cy="6923799"/>
            <a:chOff x="-329674" y="-51881"/>
            <a:chExt cx="12515851" cy="6923799"/>
          </a:xfrm>
        </p:grpSpPr>
        <p:sp>
          <p:nvSpPr>
            <p:cNvPr id="930" name="Google Shape;930;p36"/>
            <p:cNvSpPr/>
            <p:nvPr/>
          </p:nvSpPr>
          <p:spPr>
            <a:xfrm>
              <a:off x="-329674" y="1298404"/>
              <a:ext cx="9702801" cy="5573511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36"/>
            <p:cNvSpPr/>
            <p:nvPr/>
          </p:nvSpPr>
          <p:spPr>
            <a:xfrm>
              <a:off x="670451" y="2018236"/>
              <a:ext cx="7373937" cy="4848891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36"/>
            <p:cNvSpPr/>
            <p:nvPr/>
          </p:nvSpPr>
          <p:spPr>
            <a:xfrm>
              <a:off x="251351" y="1788400"/>
              <a:ext cx="8035927" cy="5083517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36"/>
            <p:cNvSpPr/>
            <p:nvPr/>
          </p:nvSpPr>
          <p:spPr>
            <a:xfrm>
              <a:off x="-1061" y="549842"/>
              <a:ext cx="10334628" cy="6322076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36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36"/>
            <p:cNvSpPr/>
            <p:nvPr/>
          </p:nvSpPr>
          <p:spPr>
            <a:xfrm>
              <a:off x="-1061" y="-51881"/>
              <a:ext cx="11091860" cy="6923797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36"/>
            <p:cNvSpPr/>
            <p:nvPr/>
          </p:nvSpPr>
          <p:spPr>
            <a:xfrm>
              <a:off x="5426601" y="5579"/>
              <a:ext cx="5788026" cy="6847185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36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36"/>
            <p:cNvSpPr/>
            <p:nvPr/>
          </p:nvSpPr>
          <p:spPr>
            <a:xfrm>
              <a:off x="5821889" y="5579"/>
              <a:ext cx="5587999" cy="6866338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36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36"/>
            <p:cNvSpPr/>
            <p:nvPr/>
          </p:nvSpPr>
          <p:spPr>
            <a:xfrm>
              <a:off x="6012389" y="5579"/>
              <a:ext cx="5497514" cy="6866338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36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36"/>
            <p:cNvSpPr/>
            <p:nvPr/>
          </p:nvSpPr>
          <p:spPr>
            <a:xfrm>
              <a:off x="6210826" y="790"/>
              <a:ext cx="5522914" cy="6871128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36"/>
            <p:cNvSpPr/>
            <p:nvPr/>
          </p:nvSpPr>
          <p:spPr>
            <a:xfrm>
              <a:off x="6463239" y="5579"/>
              <a:ext cx="5413376" cy="6866338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36"/>
            <p:cNvSpPr/>
            <p:nvPr/>
          </p:nvSpPr>
          <p:spPr>
            <a:xfrm>
              <a:off x="6877576" y="5579"/>
              <a:ext cx="5037138" cy="6861551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36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36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36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36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9" name="Google Shape;949;p36"/>
          <p:cNvGrpSpPr/>
          <p:nvPr/>
        </p:nvGrpSpPr>
        <p:grpSpPr>
          <a:xfrm>
            <a:off x="1669293" y="1186483"/>
            <a:ext cx="8848449" cy="4477933"/>
            <a:chOff x="1669293" y="1186483"/>
            <a:chExt cx="8848449" cy="4477933"/>
          </a:xfrm>
        </p:grpSpPr>
        <p:sp>
          <p:nvSpPr>
            <p:cNvPr id="950" name="Google Shape;950;p36"/>
            <p:cNvSpPr/>
            <p:nvPr/>
          </p:nvSpPr>
          <p:spPr>
            <a:xfrm>
              <a:off x="1674042" y="1186483"/>
              <a:ext cx="8843700" cy="716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36"/>
            <p:cNvSpPr/>
            <p:nvPr/>
          </p:nvSpPr>
          <p:spPr>
            <a:xfrm rot="10800000">
              <a:off x="5892517" y="5313416"/>
              <a:ext cx="407100" cy="3510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36"/>
            <p:cNvSpPr/>
            <p:nvPr/>
          </p:nvSpPr>
          <p:spPr>
            <a:xfrm>
              <a:off x="1669293" y="1991156"/>
              <a:ext cx="8845800" cy="3322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3" name="Google Shape;953;p3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954" name="Google Shape;954;p36"/>
          <p:cNvGrpSpPr/>
          <p:nvPr/>
        </p:nvGrpSpPr>
        <p:grpSpPr>
          <a:xfrm>
            <a:off x="-329674" y="-59376"/>
            <a:ext cx="12515851" cy="6923799"/>
            <a:chOff x="-329674" y="-51881"/>
            <a:chExt cx="12515851" cy="6923799"/>
          </a:xfrm>
        </p:grpSpPr>
        <p:sp>
          <p:nvSpPr>
            <p:cNvPr id="955" name="Google Shape;955;p36"/>
            <p:cNvSpPr/>
            <p:nvPr/>
          </p:nvSpPr>
          <p:spPr>
            <a:xfrm>
              <a:off x="-329674" y="1298404"/>
              <a:ext cx="9702801" cy="5573511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956" name="Google Shape;956;p36"/>
            <p:cNvSpPr/>
            <p:nvPr/>
          </p:nvSpPr>
          <p:spPr>
            <a:xfrm>
              <a:off x="670451" y="2018236"/>
              <a:ext cx="7373937" cy="4848891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957" name="Google Shape;957;p36"/>
            <p:cNvSpPr/>
            <p:nvPr/>
          </p:nvSpPr>
          <p:spPr>
            <a:xfrm>
              <a:off x="251351" y="1788400"/>
              <a:ext cx="8035927" cy="5083517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958" name="Google Shape;958;p36"/>
            <p:cNvSpPr/>
            <p:nvPr/>
          </p:nvSpPr>
          <p:spPr>
            <a:xfrm>
              <a:off x="-1061" y="549842"/>
              <a:ext cx="10334628" cy="6322076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959" name="Google Shape;959;p36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960" name="Google Shape;960;p36"/>
            <p:cNvSpPr/>
            <p:nvPr/>
          </p:nvSpPr>
          <p:spPr>
            <a:xfrm>
              <a:off x="-1061" y="-51881"/>
              <a:ext cx="11091860" cy="6923797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961" name="Google Shape;961;p36"/>
            <p:cNvSpPr/>
            <p:nvPr/>
          </p:nvSpPr>
          <p:spPr>
            <a:xfrm>
              <a:off x="5426601" y="5579"/>
              <a:ext cx="5788026" cy="6847185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962" name="Google Shape;962;p36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963" name="Google Shape;963;p36"/>
            <p:cNvSpPr/>
            <p:nvPr/>
          </p:nvSpPr>
          <p:spPr>
            <a:xfrm>
              <a:off x="5821889" y="5579"/>
              <a:ext cx="5587999" cy="6866338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964" name="Google Shape;964;p36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965" name="Google Shape;965;p36"/>
            <p:cNvSpPr/>
            <p:nvPr/>
          </p:nvSpPr>
          <p:spPr>
            <a:xfrm>
              <a:off x="6012389" y="5579"/>
              <a:ext cx="5497514" cy="6866338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966" name="Google Shape;966;p36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967" name="Google Shape;967;p36"/>
            <p:cNvSpPr/>
            <p:nvPr/>
          </p:nvSpPr>
          <p:spPr>
            <a:xfrm>
              <a:off x="6210826" y="790"/>
              <a:ext cx="5522914" cy="6871128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968" name="Google Shape;968;p36"/>
            <p:cNvSpPr/>
            <p:nvPr/>
          </p:nvSpPr>
          <p:spPr>
            <a:xfrm>
              <a:off x="6463239" y="5579"/>
              <a:ext cx="5413376" cy="6866338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969" name="Google Shape;969;p36"/>
            <p:cNvSpPr/>
            <p:nvPr/>
          </p:nvSpPr>
          <p:spPr>
            <a:xfrm>
              <a:off x="6877576" y="5579"/>
              <a:ext cx="5037138" cy="6861551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970" name="Google Shape;970;p36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971" name="Google Shape;971;p36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972" name="Google Shape;972;p36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973" name="Google Shape;973;p36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974" name="Google Shape;974;p36"/>
          <p:cNvSpPr txBox="1"/>
          <p:nvPr>
            <p:ph type="title"/>
          </p:nvPr>
        </p:nvSpPr>
        <p:spPr>
          <a:xfrm>
            <a:off x="2047793" y="4614902"/>
            <a:ext cx="8082000" cy="9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Container Lifecycle</a:t>
            </a:r>
            <a:endParaRPr/>
          </a:p>
        </p:txBody>
      </p:sp>
      <p:sp>
        <p:nvSpPr>
          <p:cNvPr id="975" name="Google Shape;975;p36"/>
          <p:cNvSpPr/>
          <p:nvPr/>
        </p:nvSpPr>
        <p:spPr>
          <a:xfrm rot="10800000">
            <a:off x="5892517" y="4386871"/>
            <a:ext cx="407100" cy="3510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976" name="Google Shape;976;p36"/>
          <p:cNvSpPr/>
          <p:nvPr/>
        </p:nvSpPr>
        <p:spPr>
          <a:xfrm>
            <a:off x="3052847" y="954593"/>
            <a:ext cx="6086400" cy="3432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descr="Box" id="977" name="Google Shape;97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6092" y="1120792"/>
            <a:ext cx="3099816" cy="3099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37"/>
          <p:cNvSpPr/>
          <p:nvPr/>
        </p:nvSpPr>
        <p:spPr>
          <a:xfrm>
            <a:off x="0" y="-1"/>
            <a:ext cx="12192000" cy="6869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983" name="Google Shape;983;p37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984" name="Google Shape;984;p37"/>
            <p:cNvSpPr/>
            <p:nvPr/>
          </p:nvSpPr>
          <p:spPr>
            <a:xfrm>
              <a:off x="1306513" y="0"/>
              <a:ext cx="3862388" cy="6843712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37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37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37"/>
            <p:cNvSpPr/>
            <p:nvPr/>
          </p:nvSpPr>
          <p:spPr>
            <a:xfrm>
              <a:off x="1120775" y="0"/>
              <a:ext cx="3676651" cy="6843712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37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37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37"/>
            <p:cNvSpPr/>
            <p:nvPr/>
          </p:nvSpPr>
          <p:spPr>
            <a:xfrm>
              <a:off x="1001713" y="0"/>
              <a:ext cx="3621089" cy="6843712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37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37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37"/>
            <p:cNvSpPr/>
            <p:nvPr/>
          </p:nvSpPr>
          <p:spPr>
            <a:xfrm>
              <a:off x="1001713" y="0"/>
              <a:ext cx="3244849" cy="6843712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37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37"/>
            <p:cNvSpPr/>
            <p:nvPr/>
          </p:nvSpPr>
          <p:spPr>
            <a:xfrm>
              <a:off x="889000" y="0"/>
              <a:ext cx="3230563" cy="6843712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37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37"/>
            <p:cNvSpPr/>
            <p:nvPr/>
          </p:nvSpPr>
          <p:spPr>
            <a:xfrm>
              <a:off x="484188" y="0"/>
              <a:ext cx="3421064" cy="6843712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37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37"/>
            <p:cNvSpPr/>
            <p:nvPr/>
          </p:nvSpPr>
          <p:spPr>
            <a:xfrm>
              <a:off x="598488" y="0"/>
              <a:ext cx="2717799" cy="6843712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lt1">
                  <a:alpha val="349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37"/>
            <p:cNvSpPr/>
            <p:nvPr/>
          </p:nvSpPr>
          <p:spPr>
            <a:xfrm>
              <a:off x="261938" y="0"/>
              <a:ext cx="2944812" cy="6843712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37"/>
            <p:cNvSpPr/>
            <p:nvPr/>
          </p:nvSpPr>
          <p:spPr>
            <a:xfrm>
              <a:off x="-417513" y="0"/>
              <a:ext cx="2403475" cy="6843712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37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37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37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5" name="Google Shape;1005;p37"/>
          <p:cNvSpPr/>
          <p:nvPr/>
        </p:nvSpPr>
        <p:spPr>
          <a:xfrm>
            <a:off x="1923665" y="0"/>
            <a:ext cx="10268400" cy="686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006" name="Google Shape;1006;p37"/>
          <p:cNvSpPr txBox="1"/>
          <p:nvPr>
            <p:ph type="title"/>
          </p:nvPr>
        </p:nvSpPr>
        <p:spPr>
          <a:xfrm>
            <a:off x="2880485" y="841375"/>
            <a:ext cx="6231000" cy="12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228600" spcFirstLastPara="1" rIns="228600" wrap="square" tIns="2286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>
                <a:solidFill>
                  <a:schemeClr val="accent1"/>
                </a:solidFill>
              </a:rPr>
              <a:t>Container Lifecycle</a:t>
            </a:r>
            <a:endParaRPr sz="3600">
              <a:solidFill>
                <a:schemeClr val="accent1"/>
              </a:solidFill>
            </a:endParaRPr>
          </a:p>
        </p:txBody>
      </p:sp>
      <p:sp>
        <p:nvSpPr>
          <p:cNvPr id="1007" name="Google Shape;1007;p37"/>
          <p:cNvSpPr/>
          <p:nvPr/>
        </p:nvSpPr>
        <p:spPr>
          <a:xfrm rot="5400000">
            <a:off x="1797884" y="954920"/>
            <a:ext cx="300900" cy="2592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008" name="Google Shape;1008;p37"/>
          <p:cNvSpPr txBox="1"/>
          <p:nvPr>
            <p:ph idx="1" type="body"/>
          </p:nvPr>
        </p:nvSpPr>
        <p:spPr>
          <a:xfrm>
            <a:off x="2880487" y="2249046"/>
            <a:ext cx="6123900" cy="3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60"/>
              <a:buChar char="▪"/>
            </a:pPr>
            <a:r>
              <a:rPr lang="en-US" sz="1600"/>
              <a:t>docker run: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▪"/>
            </a:pPr>
            <a:r>
              <a:rPr lang="en-US"/>
              <a:t>Create: take file system snapshot and add as a process ready to run in hard drive.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▪"/>
            </a:pPr>
            <a:r>
              <a:rPr lang="en-US"/>
              <a:t>Start: Run start up command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▪"/>
            </a:pPr>
            <a:r>
              <a:rPr lang="en-US"/>
              <a:t>Exited: finished its job and exit. 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760"/>
              <a:buChar char="▪"/>
            </a:pPr>
            <a:r>
              <a:rPr lang="en-US" sz="1600"/>
              <a:t>docker stop: terminate single but wait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760"/>
              <a:buChar char="▪"/>
            </a:pPr>
            <a:r>
              <a:rPr lang="en-US" sz="1600"/>
              <a:t>docker kill: force terminate 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760"/>
              <a:buChar char="▪"/>
            </a:pPr>
            <a:r>
              <a:rPr lang="en-US" sz="1600"/>
              <a:t>docker prune: clear docker caches, images and stopped containers.</a:t>
            </a:r>
            <a:endParaRPr sz="1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3" name="Google Shape;1013;p38"/>
          <p:cNvGrpSpPr/>
          <p:nvPr/>
        </p:nvGrpSpPr>
        <p:grpSpPr>
          <a:xfrm>
            <a:off x="-329674" y="-59376"/>
            <a:ext cx="12515851" cy="6923799"/>
            <a:chOff x="-329674" y="-51881"/>
            <a:chExt cx="12515851" cy="6923799"/>
          </a:xfrm>
        </p:grpSpPr>
        <p:sp>
          <p:nvSpPr>
            <p:cNvPr id="1014" name="Google Shape;1014;p38"/>
            <p:cNvSpPr/>
            <p:nvPr/>
          </p:nvSpPr>
          <p:spPr>
            <a:xfrm>
              <a:off x="-329674" y="1298404"/>
              <a:ext cx="9702801" cy="5573511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38"/>
            <p:cNvSpPr/>
            <p:nvPr/>
          </p:nvSpPr>
          <p:spPr>
            <a:xfrm>
              <a:off x="670451" y="2018236"/>
              <a:ext cx="7373937" cy="4848891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38"/>
            <p:cNvSpPr/>
            <p:nvPr/>
          </p:nvSpPr>
          <p:spPr>
            <a:xfrm>
              <a:off x="251351" y="1788400"/>
              <a:ext cx="8035927" cy="5083517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38"/>
            <p:cNvSpPr/>
            <p:nvPr/>
          </p:nvSpPr>
          <p:spPr>
            <a:xfrm>
              <a:off x="-1061" y="549842"/>
              <a:ext cx="10334628" cy="6322076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38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38"/>
            <p:cNvSpPr/>
            <p:nvPr/>
          </p:nvSpPr>
          <p:spPr>
            <a:xfrm>
              <a:off x="-1061" y="-51881"/>
              <a:ext cx="11091860" cy="6923797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38"/>
            <p:cNvSpPr/>
            <p:nvPr/>
          </p:nvSpPr>
          <p:spPr>
            <a:xfrm>
              <a:off x="5426601" y="5579"/>
              <a:ext cx="5788026" cy="6847185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38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38"/>
            <p:cNvSpPr/>
            <p:nvPr/>
          </p:nvSpPr>
          <p:spPr>
            <a:xfrm>
              <a:off x="5821889" y="5579"/>
              <a:ext cx="5587999" cy="6866338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38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38"/>
            <p:cNvSpPr/>
            <p:nvPr/>
          </p:nvSpPr>
          <p:spPr>
            <a:xfrm>
              <a:off x="6012389" y="5579"/>
              <a:ext cx="5497514" cy="6866338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38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38"/>
            <p:cNvSpPr/>
            <p:nvPr/>
          </p:nvSpPr>
          <p:spPr>
            <a:xfrm>
              <a:off x="6210826" y="790"/>
              <a:ext cx="5522914" cy="6871128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38"/>
            <p:cNvSpPr/>
            <p:nvPr/>
          </p:nvSpPr>
          <p:spPr>
            <a:xfrm>
              <a:off x="6463239" y="5579"/>
              <a:ext cx="5413376" cy="6866338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38"/>
            <p:cNvSpPr/>
            <p:nvPr/>
          </p:nvSpPr>
          <p:spPr>
            <a:xfrm>
              <a:off x="6877576" y="5579"/>
              <a:ext cx="5037138" cy="6861551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38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38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38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38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3" name="Google Shape;1033;p38"/>
          <p:cNvGrpSpPr/>
          <p:nvPr/>
        </p:nvGrpSpPr>
        <p:grpSpPr>
          <a:xfrm>
            <a:off x="1669293" y="1186483"/>
            <a:ext cx="8848449" cy="4477933"/>
            <a:chOff x="1669293" y="1186483"/>
            <a:chExt cx="8848449" cy="4477933"/>
          </a:xfrm>
        </p:grpSpPr>
        <p:sp>
          <p:nvSpPr>
            <p:cNvPr id="1034" name="Google Shape;1034;p38"/>
            <p:cNvSpPr/>
            <p:nvPr/>
          </p:nvSpPr>
          <p:spPr>
            <a:xfrm>
              <a:off x="1674042" y="1186483"/>
              <a:ext cx="8843700" cy="716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38"/>
            <p:cNvSpPr/>
            <p:nvPr/>
          </p:nvSpPr>
          <p:spPr>
            <a:xfrm rot="10800000">
              <a:off x="5892517" y="5313416"/>
              <a:ext cx="407100" cy="3510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38"/>
            <p:cNvSpPr/>
            <p:nvPr/>
          </p:nvSpPr>
          <p:spPr>
            <a:xfrm>
              <a:off x="1669293" y="1991156"/>
              <a:ext cx="8845800" cy="3322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7" name="Google Shape;1037;p38"/>
          <p:cNvSpPr/>
          <p:nvPr/>
        </p:nvSpPr>
        <p:spPr>
          <a:xfrm>
            <a:off x="-1" y="-1"/>
            <a:ext cx="12193200" cy="6869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1038" name="Google Shape;1038;p38"/>
          <p:cNvGrpSpPr/>
          <p:nvPr/>
        </p:nvGrpSpPr>
        <p:grpSpPr>
          <a:xfrm>
            <a:off x="-329674" y="-59376"/>
            <a:ext cx="12515851" cy="6923799"/>
            <a:chOff x="-329674" y="-51881"/>
            <a:chExt cx="12515851" cy="6923799"/>
          </a:xfrm>
        </p:grpSpPr>
        <p:sp>
          <p:nvSpPr>
            <p:cNvPr id="1039" name="Google Shape;1039;p38"/>
            <p:cNvSpPr/>
            <p:nvPr/>
          </p:nvSpPr>
          <p:spPr>
            <a:xfrm>
              <a:off x="-329674" y="1298404"/>
              <a:ext cx="9702801" cy="5573511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38"/>
            <p:cNvSpPr/>
            <p:nvPr/>
          </p:nvSpPr>
          <p:spPr>
            <a:xfrm>
              <a:off x="670451" y="2018236"/>
              <a:ext cx="7373937" cy="4848891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38"/>
            <p:cNvSpPr/>
            <p:nvPr/>
          </p:nvSpPr>
          <p:spPr>
            <a:xfrm>
              <a:off x="251351" y="1788400"/>
              <a:ext cx="8035927" cy="5083517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38"/>
            <p:cNvSpPr/>
            <p:nvPr/>
          </p:nvSpPr>
          <p:spPr>
            <a:xfrm>
              <a:off x="-1061" y="549842"/>
              <a:ext cx="10334628" cy="6322076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38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38"/>
            <p:cNvSpPr/>
            <p:nvPr/>
          </p:nvSpPr>
          <p:spPr>
            <a:xfrm>
              <a:off x="-1061" y="-51881"/>
              <a:ext cx="11091860" cy="6923797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38"/>
            <p:cNvSpPr/>
            <p:nvPr/>
          </p:nvSpPr>
          <p:spPr>
            <a:xfrm>
              <a:off x="5426601" y="5579"/>
              <a:ext cx="5788026" cy="6847185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38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38"/>
            <p:cNvSpPr/>
            <p:nvPr/>
          </p:nvSpPr>
          <p:spPr>
            <a:xfrm>
              <a:off x="5821889" y="5579"/>
              <a:ext cx="5587999" cy="6866338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38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38"/>
            <p:cNvSpPr/>
            <p:nvPr/>
          </p:nvSpPr>
          <p:spPr>
            <a:xfrm>
              <a:off x="6012389" y="5579"/>
              <a:ext cx="5497514" cy="6866338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lt1">
                  <a:alpha val="349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38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lt1">
                  <a:alpha val="349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38"/>
            <p:cNvSpPr/>
            <p:nvPr/>
          </p:nvSpPr>
          <p:spPr>
            <a:xfrm>
              <a:off x="6210826" y="790"/>
              <a:ext cx="5522914" cy="6871128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38"/>
            <p:cNvSpPr/>
            <p:nvPr/>
          </p:nvSpPr>
          <p:spPr>
            <a:xfrm>
              <a:off x="6463239" y="5579"/>
              <a:ext cx="5413376" cy="6866338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38"/>
            <p:cNvSpPr/>
            <p:nvPr/>
          </p:nvSpPr>
          <p:spPr>
            <a:xfrm>
              <a:off x="6877576" y="5579"/>
              <a:ext cx="5037138" cy="6861551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38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38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38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38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8" name="Google Shape;1058;p38"/>
          <p:cNvSpPr/>
          <p:nvPr/>
        </p:nvSpPr>
        <p:spPr>
          <a:xfrm>
            <a:off x="0" y="0"/>
            <a:ext cx="12192000" cy="5058957"/>
          </a:xfrm>
          <a:custGeom>
            <a:rect b="b" l="l" r="r" t="t"/>
            <a:pathLst>
              <a:path extrusionOk="0" h="5058957" w="12192000">
                <a:moveTo>
                  <a:pt x="0" y="0"/>
                </a:moveTo>
                <a:lnTo>
                  <a:pt x="12192000" y="0"/>
                </a:lnTo>
                <a:lnTo>
                  <a:pt x="12192000" y="259692"/>
                </a:lnTo>
                <a:lnTo>
                  <a:pt x="12192000" y="3542069"/>
                </a:lnTo>
                <a:lnTo>
                  <a:pt x="12192000" y="3734194"/>
                </a:lnTo>
                <a:lnTo>
                  <a:pt x="12192000" y="4710012"/>
                </a:lnTo>
                <a:lnTo>
                  <a:pt x="12113803" y="4718295"/>
                </a:lnTo>
                <a:cubicBezTo>
                  <a:pt x="10139508" y="4916244"/>
                  <a:pt x="8237152" y="5009247"/>
                  <a:pt x="6753597" y="5041852"/>
                </a:cubicBezTo>
                <a:cubicBezTo>
                  <a:pt x="4940362" y="5081701"/>
                  <a:pt x="2657278" y="5062371"/>
                  <a:pt x="400746" y="4870509"/>
                </a:cubicBezTo>
                <a:lnTo>
                  <a:pt x="0" y="4833533"/>
                </a:lnTo>
                <a:lnTo>
                  <a:pt x="0" y="3734194"/>
                </a:lnTo>
                <a:lnTo>
                  <a:pt x="0" y="3542069"/>
                </a:lnTo>
                <a:lnTo>
                  <a:pt x="0" y="25969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059" name="Google Shape;1059;p38"/>
          <p:cNvSpPr txBox="1"/>
          <p:nvPr>
            <p:ph type="title"/>
          </p:nvPr>
        </p:nvSpPr>
        <p:spPr>
          <a:xfrm>
            <a:off x="1756043" y="1286121"/>
            <a:ext cx="8679900" cy="31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6000">
                <a:solidFill>
                  <a:schemeClr val="dk1"/>
                </a:solidFill>
              </a:rPr>
              <a:t>Docker Volumes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39"/>
          <p:cNvSpPr txBox="1"/>
          <p:nvPr>
            <p:ph type="title"/>
          </p:nvPr>
        </p:nvSpPr>
        <p:spPr>
          <a:xfrm>
            <a:off x="889000" y="2339669"/>
            <a:ext cx="35595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Docker Volumes</a:t>
            </a:r>
            <a:endParaRPr/>
          </a:p>
        </p:txBody>
      </p:sp>
      <p:sp>
        <p:nvSpPr>
          <p:cNvPr id="1065" name="Google Shape;1065;p39"/>
          <p:cNvSpPr txBox="1"/>
          <p:nvPr>
            <p:ph idx="1" type="body"/>
          </p:nvPr>
        </p:nvSpPr>
        <p:spPr>
          <a:xfrm>
            <a:off x="5120878" y="803188"/>
            <a:ext cx="6269700" cy="17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Bind Mount: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▪"/>
            </a:pPr>
            <a:r>
              <a:rPr lang="en-US"/>
              <a:t>a file or directory on the </a:t>
            </a:r>
            <a:r>
              <a:rPr i="1" lang="en-US"/>
              <a:t>host machine</a:t>
            </a:r>
            <a:r>
              <a:rPr lang="en-US"/>
              <a:t> is mounted into a container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▪"/>
            </a:pPr>
            <a:r>
              <a:rPr lang="en-US"/>
              <a:t>The file or directory is referenced by its absolute path on the host machine</a:t>
            </a:r>
            <a:endParaRPr/>
          </a:p>
        </p:txBody>
      </p:sp>
      <p:sp>
        <p:nvSpPr>
          <p:cNvPr id="1066" name="Google Shape;1066;p39"/>
          <p:cNvSpPr txBox="1"/>
          <p:nvPr>
            <p:ph idx="2" type="body"/>
          </p:nvPr>
        </p:nvSpPr>
        <p:spPr>
          <a:xfrm>
            <a:off x="5118447" y="2594919"/>
            <a:ext cx="6272100" cy="13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Volume: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▪"/>
            </a:pPr>
            <a:r>
              <a:rPr lang="en-US"/>
              <a:t>a new directory is created within Docker’s storage directory on the host machine, and Docker manages that directory’s contents.</a:t>
            </a:r>
            <a:endParaRPr/>
          </a:p>
        </p:txBody>
      </p:sp>
      <p:sp>
        <p:nvSpPr>
          <p:cNvPr id="1067" name="Google Shape;1067;p39"/>
          <p:cNvSpPr txBox="1"/>
          <p:nvPr/>
        </p:nvSpPr>
        <p:spPr>
          <a:xfrm>
            <a:off x="2619632" y="2594919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descr="Diagram&#10;&#10;Description automatically generated" id="1068" name="Google Shape;106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6758" y="3978876"/>
            <a:ext cx="6598019" cy="2780270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39"/>
          <p:cNvSpPr txBox="1"/>
          <p:nvPr/>
        </p:nvSpPr>
        <p:spPr>
          <a:xfrm>
            <a:off x="6497782" y="2594918"/>
            <a:ext cx="209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-v /usr/share/nginx/html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39"/>
          <p:cNvSpPr txBox="1"/>
          <p:nvPr/>
        </p:nvSpPr>
        <p:spPr>
          <a:xfrm>
            <a:off x="6968837" y="841931"/>
            <a:ext cx="612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-v /data:/usr/share/nginx/html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" name="Google Shape;107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6850" y="0"/>
            <a:ext cx="12328847" cy="6934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12598" y="6234544"/>
            <a:ext cx="2579401" cy="62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1" name="Google Shape;108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12598" y="6234544"/>
            <a:ext cx="2579401" cy="62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7" name="Google Shape;1087;p43"/>
          <p:cNvGrpSpPr/>
          <p:nvPr/>
        </p:nvGrpSpPr>
        <p:grpSpPr>
          <a:xfrm>
            <a:off x="-329674" y="-59376"/>
            <a:ext cx="12515851" cy="6923799"/>
            <a:chOff x="-329674" y="-51881"/>
            <a:chExt cx="12515851" cy="6923799"/>
          </a:xfrm>
        </p:grpSpPr>
        <p:sp>
          <p:nvSpPr>
            <p:cNvPr id="1088" name="Google Shape;1088;p43"/>
            <p:cNvSpPr/>
            <p:nvPr/>
          </p:nvSpPr>
          <p:spPr>
            <a:xfrm>
              <a:off x="-329674" y="1298404"/>
              <a:ext cx="9702801" cy="5573511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43"/>
            <p:cNvSpPr/>
            <p:nvPr/>
          </p:nvSpPr>
          <p:spPr>
            <a:xfrm>
              <a:off x="670451" y="2018236"/>
              <a:ext cx="7373937" cy="4848891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43"/>
            <p:cNvSpPr/>
            <p:nvPr/>
          </p:nvSpPr>
          <p:spPr>
            <a:xfrm>
              <a:off x="251351" y="1788400"/>
              <a:ext cx="8035927" cy="5083517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43"/>
            <p:cNvSpPr/>
            <p:nvPr/>
          </p:nvSpPr>
          <p:spPr>
            <a:xfrm>
              <a:off x="-1061" y="549842"/>
              <a:ext cx="10334628" cy="6322076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43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43"/>
            <p:cNvSpPr/>
            <p:nvPr/>
          </p:nvSpPr>
          <p:spPr>
            <a:xfrm>
              <a:off x="-1061" y="-51881"/>
              <a:ext cx="11091860" cy="6923797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43"/>
            <p:cNvSpPr/>
            <p:nvPr/>
          </p:nvSpPr>
          <p:spPr>
            <a:xfrm>
              <a:off x="5426601" y="5579"/>
              <a:ext cx="5788026" cy="6847185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43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43"/>
            <p:cNvSpPr/>
            <p:nvPr/>
          </p:nvSpPr>
          <p:spPr>
            <a:xfrm>
              <a:off x="5821889" y="5579"/>
              <a:ext cx="5587999" cy="6866338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43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43"/>
            <p:cNvSpPr/>
            <p:nvPr/>
          </p:nvSpPr>
          <p:spPr>
            <a:xfrm>
              <a:off x="6012389" y="5579"/>
              <a:ext cx="5497514" cy="6866338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43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43"/>
            <p:cNvSpPr/>
            <p:nvPr/>
          </p:nvSpPr>
          <p:spPr>
            <a:xfrm>
              <a:off x="6210826" y="790"/>
              <a:ext cx="5522914" cy="6871128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43"/>
            <p:cNvSpPr/>
            <p:nvPr/>
          </p:nvSpPr>
          <p:spPr>
            <a:xfrm>
              <a:off x="6463239" y="5579"/>
              <a:ext cx="5413376" cy="6866338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43"/>
            <p:cNvSpPr/>
            <p:nvPr/>
          </p:nvSpPr>
          <p:spPr>
            <a:xfrm>
              <a:off x="6877576" y="5579"/>
              <a:ext cx="5037138" cy="6861551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43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43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43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43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7" name="Google Shape;1107;p43"/>
          <p:cNvGrpSpPr/>
          <p:nvPr/>
        </p:nvGrpSpPr>
        <p:grpSpPr>
          <a:xfrm>
            <a:off x="1669293" y="1186483"/>
            <a:ext cx="8848449" cy="4477933"/>
            <a:chOff x="1669293" y="1186483"/>
            <a:chExt cx="8848449" cy="4477933"/>
          </a:xfrm>
        </p:grpSpPr>
        <p:sp>
          <p:nvSpPr>
            <p:cNvPr id="1108" name="Google Shape;1108;p43"/>
            <p:cNvSpPr/>
            <p:nvPr/>
          </p:nvSpPr>
          <p:spPr>
            <a:xfrm>
              <a:off x="1674042" y="1186483"/>
              <a:ext cx="8843700" cy="716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43"/>
            <p:cNvSpPr/>
            <p:nvPr/>
          </p:nvSpPr>
          <p:spPr>
            <a:xfrm rot="10800000">
              <a:off x="5892517" y="5313416"/>
              <a:ext cx="407100" cy="3510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43"/>
            <p:cNvSpPr/>
            <p:nvPr/>
          </p:nvSpPr>
          <p:spPr>
            <a:xfrm>
              <a:off x="1669293" y="1991156"/>
              <a:ext cx="8845800" cy="3322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1" name="Google Shape;1111;p4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1112" name="Google Shape;1112;p43"/>
          <p:cNvGrpSpPr/>
          <p:nvPr/>
        </p:nvGrpSpPr>
        <p:grpSpPr>
          <a:xfrm>
            <a:off x="-329674" y="-59376"/>
            <a:ext cx="12515851" cy="6923799"/>
            <a:chOff x="-329674" y="-51881"/>
            <a:chExt cx="12515851" cy="6923799"/>
          </a:xfrm>
        </p:grpSpPr>
        <p:sp>
          <p:nvSpPr>
            <p:cNvPr id="1113" name="Google Shape;1113;p43"/>
            <p:cNvSpPr/>
            <p:nvPr/>
          </p:nvSpPr>
          <p:spPr>
            <a:xfrm>
              <a:off x="-329674" y="1298404"/>
              <a:ext cx="9702801" cy="5573511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114" name="Google Shape;1114;p43"/>
            <p:cNvSpPr/>
            <p:nvPr/>
          </p:nvSpPr>
          <p:spPr>
            <a:xfrm>
              <a:off x="670451" y="2018236"/>
              <a:ext cx="7373937" cy="4848891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115" name="Google Shape;1115;p43"/>
            <p:cNvSpPr/>
            <p:nvPr/>
          </p:nvSpPr>
          <p:spPr>
            <a:xfrm>
              <a:off x="251351" y="1788400"/>
              <a:ext cx="8035927" cy="5083517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116" name="Google Shape;1116;p43"/>
            <p:cNvSpPr/>
            <p:nvPr/>
          </p:nvSpPr>
          <p:spPr>
            <a:xfrm>
              <a:off x="-1061" y="549842"/>
              <a:ext cx="10334628" cy="6322076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117" name="Google Shape;1117;p43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118" name="Google Shape;1118;p43"/>
            <p:cNvSpPr/>
            <p:nvPr/>
          </p:nvSpPr>
          <p:spPr>
            <a:xfrm>
              <a:off x="-1061" y="-51881"/>
              <a:ext cx="11091860" cy="6923797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119" name="Google Shape;1119;p43"/>
            <p:cNvSpPr/>
            <p:nvPr/>
          </p:nvSpPr>
          <p:spPr>
            <a:xfrm>
              <a:off x="5426601" y="5579"/>
              <a:ext cx="5788026" cy="6847185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120" name="Google Shape;1120;p43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121" name="Google Shape;1121;p43"/>
            <p:cNvSpPr/>
            <p:nvPr/>
          </p:nvSpPr>
          <p:spPr>
            <a:xfrm>
              <a:off x="5821889" y="5579"/>
              <a:ext cx="5587999" cy="6866338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122" name="Google Shape;1122;p43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123" name="Google Shape;1123;p43"/>
            <p:cNvSpPr/>
            <p:nvPr/>
          </p:nvSpPr>
          <p:spPr>
            <a:xfrm>
              <a:off x="6012389" y="5579"/>
              <a:ext cx="5497514" cy="6866338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124" name="Google Shape;1124;p43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125" name="Google Shape;1125;p43"/>
            <p:cNvSpPr/>
            <p:nvPr/>
          </p:nvSpPr>
          <p:spPr>
            <a:xfrm>
              <a:off x="6210826" y="790"/>
              <a:ext cx="5522914" cy="6871128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126" name="Google Shape;1126;p43"/>
            <p:cNvSpPr/>
            <p:nvPr/>
          </p:nvSpPr>
          <p:spPr>
            <a:xfrm>
              <a:off x="6463239" y="5579"/>
              <a:ext cx="5413376" cy="6866338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127" name="Google Shape;1127;p43"/>
            <p:cNvSpPr/>
            <p:nvPr/>
          </p:nvSpPr>
          <p:spPr>
            <a:xfrm>
              <a:off x="6877576" y="5579"/>
              <a:ext cx="5037138" cy="6861551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128" name="Google Shape;1128;p43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129" name="Google Shape;1129;p43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130" name="Google Shape;1130;p43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131" name="Google Shape;1131;p43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1132" name="Google Shape;1132;p43"/>
          <p:cNvSpPr txBox="1"/>
          <p:nvPr>
            <p:ph type="title"/>
          </p:nvPr>
        </p:nvSpPr>
        <p:spPr>
          <a:xfrm>
            <a:off x="2047793" y="4614902"/>
            <a:ext cx="8082000" cy="9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Lab</a:t>
            </a:r>
            <a:endParaRPr/>
          </a:p>
        </p:txBody>
      </p:sp>
      <p:sp>
        <p:nvSpPr>
          <p:cNvPr id="1133" name="Google Shape;1133;p43"/>
          <p:cNvSpPr/>
          <p:nvPr/>
        </p:nvSpPr>
        <p:spPr>
          <a:xfrm rot="10800000">
            <a:off x="5892517" y="4386871"/>
            <a:ext cx="407100" cy="3510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134" name="Google Shape;1134;p43"/>
          <p:cNvSpPr/>
          <p:nvPr/>
        </p:nvSpPr>
        <p:spPr>
          <a:xfrm>
            <a:off x="3052847" y="954593"/>
            <a:ext cx="6086400" cy="3432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descr="Laptop Secure" id="1135" name="Google Shape;113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6092" y="1120792"/>
            <a:ext cx="3099816" cy="3099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1141" name="Google Shape;1141;p4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42" name="Google Shape;1142;p44"/>
            <p:cNvSpPr/>
            <p:nvPr/>
          </p:nvSpPr>
          <p:spPr>
            <a:xfrm>
              <a:off x="1306513" y="0"/>
              <a:ext cx="3862388" cy="6843712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143" name="Google Shape;1143;p44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44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44"/>
            <p:cNvSpPr/>
            <p:nvPr/>
          </p:nvSpPr>
          <p:spPr>
            <a:xfrm>
              <a:off x="1120775" y="0"/>
              <a:ext cx="3676651" cy="6843712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44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44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44"/>
            <p:cNvSpPr/>
            <p:nvPr/>
          </p:nvSpPr>
          <p:spPr>
            <a:xfrm>
              <a:off x="1001713" y="0"/>
              <a:ext cx="3621089" cy="6843712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44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44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44"/>
            <p:cNvSpPr/>
            <p:nvPr/>
          </p:nvSpPr>
          <p:spPr>
            <a:xfrm>
              <a:off x="1001713" y="0"/>
              <a:ext cx="3244849" cy="6843712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44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44"/>
            <p:cNvSpPr/>
            <p:nvPr/>
          </p:nvSpPr>
          <p:spPr>
            <a:xfrm>
              <a:off x="889000" y="0"/>
              <a:ext cx="3230563" cy="6843712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44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44"/>
            <p:cNvSpPr/>
            <p:nvPr/>
          </p:nvSpPr>
          <p:spPr>
            <a:xfrm>
              <a:off x="484188" y="0"/>
              <a:ext cx="3421064" cy="6843712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44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44"/>
            <p:cNvSpPr/>
            <p:nvPr/>
          </p:nvSpPr>
          <p:spPr>
            <a:xfrm>
              <a:off x="598488" y="0"/>
              <a:ext cx="2717799" cy="6843712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lt1">
                  <a:alpha val="349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44"/>
            <p:cNvSpPr/>
            <p:nvPr/>
          </p:nvSpPr>
          <p:spPr>
            <a:xfrm>
              <a:off x="261938" y="0"/>
              <a:ext cx="2944812" cy="6843712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44"/>
            <p:cNvSpPr/>
            <p:nvPr/>
          </p:nvSpPr>
          <p:spPr>
            <a:xfrm>
              <a:off x="-417513" y="0"/>
              <a:ext cx="2403475" cy="6843712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44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44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44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3" name="Google Shape;1163;p44"/>
          <p:cNvSpPr/>
          <p:nvPr/>
        </p:nvSpPr>
        <p:spPr>
          <a:xfrm>
            <a:off x="-26929" y="0"/>
            <a:ext cx="12192000" cy="578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164" name="Google Shape;1164;p44"/>
          <p:cNvSpPr txBox="1"/>
          <p:nvPr>
            <p:ph type="title"/>
          </p:nvPr>
        </p:nvSpPr>
        <p:spPr>
          <a:xfrm>
            <a:off x="645459" y="960120"/>
            <a:ext cx="38658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</a:rPr>
              <a:t>Problem 1</a:t>
            </a:r>
            <a:endParaRPr/>
          </a:p>
        </p:txBody>
      </p:sp>
      <p:cxnSp>
        <p:nvCxnSpPr>
          <p:cNvPr id="1165" name="Google Shape;1165;p44"/>
          <p:cNvCxnSpPr/>
          <p:nvPr/>
        </p:nvCxnSpPr>
        <p:spPr>
          <a:xfrm>
            <a:off x="4752263" y="1200150"/>
            <a:ext cx="0" cy="3543900"/>
          </a:xfrm>
          <a:prstGeom prst="straightConnector1">
            <a:avLst/>
          </a:prstGeom>
          <a:noFill/>
          <a:ln cap="flat" cmpd="sng" w="12700">
            <a:solidFill>
              <a:srgbClr val="EC190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6" name="Google Shape;1166;p44"/>
          <p:cNvSpPr txBox="1"/>
          <p:nvPr>
            <p:ph idx="1" type="body"/>
          </p:nvPr>
        </p:nvSpPr>
        <p:spPr>
          <a:xfrm>
            <a:off x="4752275" y="-2172075"/>
            <a:ext cx="7605300" cy="109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Run the container hello-world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Check the container status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Start the stopped container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Remove the image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Remove the container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</a:pPr>
            <a:r>
              <a:t/>
            </a:r>
            <a:endParaRPr/>
          </a:p>
          <a:p>
            <a:pPr indent="-10287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10287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1172" name="Google Shape;1172;p45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73" name="Google Shape;1173;p45"/>
            <p:cNvSpPr/>
            <p:nvPr/>
          </p:nvSpPr>
          <p:spPr>
            <a:xfrm>
              <a:off x="1306513" y="0"/>
              <a:ext cx="3862388" cy="6843712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174" name="Google Shape;1174;p45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45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45"/>
            <p:cNvSpPr/>
            <p:nvPr/>
          </p:nvSpPr>
          <p:spPr>
            <a:xfrm>
              <a:off x="1120775" y="0"/>
              <a:ext cx="3676651" cy="6843712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45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45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45"/>
            <p:cNvSpPr/>
            <p:nvPr/>
          </p:nvSpPr>
          <p:spPr>
            <a:xfrm>
              <a:off x="1001713" y="0"/>
              <a:ext cx="3621089" cy="6843712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45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45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45"/>
            <p:cNvSpPr/>
            <p:nvPr/>
          </p:nvSpPr>
          <p:spPr>
            <a:xfrm>
              <a:off x="1001713" y="0"/>
              <a:ext cx="3244849" cy="6843712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45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45"/>
            <p:cNvSpPr/>
            <p:nvPr/>
          </p:nvSpPr>
          <p:spPr>
            <a:xfrm>
              <a:off x="889000" y="0"/>
              <a:ext cx="3230563" cy="6843712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45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45"/>
            <p:cNvSpPr/>
            <p:nvPr/>
          </p:nvSpPr>
          <p:spPr>
            <a:xfrm>
              <a:off x="484188" y="0"/>
              <a:ext cx="3421064" cy="6843712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45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45"/>
            <p:cNvSpPr/>
            <p:nvPr/>
          </p:nvSpPr>
          <p:spPr>
            <a:xfrm>
              <a:off x="598488" y="0"/>
              <a:ext cx="2717799" cy="6843712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lt1">
                  <a:alpha val="349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45"/>
            <p:cNvSpPr/>
            <p:nvPr/>
          </p:nvSpPr>
          <p:spPr>
            <a:xfrm>
              <a:off x="261938" y="0"/>
              <a:ext cx="2944812" cy="6843712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45"/>
            <p:cNvSpPr/>
            <p:nvPr/>
          </p:nvSpPr>
          <p:spPr>
            <a:xfrm>
              <a:off x="-417513" y="0"/>
              <a:ext cx="2403475" cy="6843712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45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45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45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4" name="Google Shape;1194;p45"/>
          <p:cNvSpPr/>
          <p:nvPr/>
        </p:nvSpPr>
        <p:spPr>
          <a:xfrm>
            <a:off x="0" y="0"/>
            <a:ext cx="12192000" cy="578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195" name="Google Shape;1195;p45"/>
          <p:cNvSpPr txBox="1"/>
          <p:nvPr>
            <p:ph type="title"/>
          </p:nvPr>
        </p:nvSpPr>
        <p:spPr>
          <a:xfrm>
            <a:off x="645459" y="960120"/>
            <a:ext cx="38658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</a:rPr>
              <a:t>Problem 2</a:t>
            </a:r>
            <a:endParaRPr/>
          </a:p>
        </p:txBody>
      </p:sp>
      <p:cxnSp>
        <p:nvCxnSpPr>
          <p:cNvPr id="1196" name="Google Shape;1196;p45"/>
          <p:cNvCxnSpPr/>
          <p:nvPr/>
        </p:nvCxnSpPr>
        <p:spPr>
          <a:xfrm>
            <a:off x="4752263" y="1200150"/>
            <a:ext cx="0" cy="3543900"/>
          </a:xfrm>
          <a:prstGeom prst="straightConnector1">
            <a:avLst/>
          </a:prstGeom>
          <a:noFill/>
          <a:ln cap="flat" cmpd="sng" w="12700">
            <a:solidFill>
              <a:srgbClr val="EC190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7" name="Google Shape;1197;p45"/>
          <p:cNvSpPr txBox="1"/>
          <p:nvPr>
            <p:ph idx="1" type="body"/>
          </p:nvPr>
        </p:nvSpPr>
        <p:spPr>
          <a:xfrm>
            <a:off x="5150039" y="960120"/>
            <a:ext cx="55119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685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Run Alpine container with –it and sh </a:t>
            </a:r>
            <a:endParaRPr/>
          </a:p>
          <a:p>
            <a:pPr indent="-228600" lvl="0" marL="6858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Create file newfile</a:t>
            </a:r>
            <a:endParaRPr/>
          </a:p>
          <a:p>
            <a:pPr indent="-228600" lvl="0" marL="6858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Exit from container , check status </a:t>
            </a:r>
            <a:endParaRPr/>
          </a:p>
          <a:p>
            <a:pPr indent="-228600" lvl="0" marL="6858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Remove container 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1203" name="Google Shape;1203;p4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204" name="Google Shape;1204;p46"/>
            <p:cNvSpPr/>
            <p:nvPr/>
          </p:nvSpPr>
          <p:spPr>
            <a:xfrm>
              <a:off x="1306513" y="0"/>
              <a:ext cx="3862388" cy="6843712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205" name="Google Shape;1205;p46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46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46"/>
            <p:cNvSpPr/>
            <p:nvPr/>
          </p:nvSpPr>
          <p:spPr>
            <a:xfrm>
              <a:off x="1120775" y="0"/>
              <a:ext cx="3676651" cy="6843712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46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46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46"/>
            <p:cNvSpPr/>
            <p:nvPr/>
          </p:nvSpPr>
          <p:spPr>
            <a:xfrm>
              <a:off x="1001713" y="0"/>
              <a:ext cx="3621089" cy="6843712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46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46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46"/>
            <p:cNvSpPr/>
            <p:nvPr/>
          </p:nvSpPr>
          <p:spPr>
            <a:xfrm>
              <a:off x="1001713" y="0"/>
              <a:ext cx="3244849" cy="6843712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46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46"/>
            <p:cNvSpPr/>
            <p:nvPr/>
          </p:nvSpPr>
          <p:spPr>
            <a:xfrm>
              <a:off x="889000" y="0"/>
              <a:ext cx="3230563" cy="6843712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46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46"/>
            <p:cNvSpPr/>
            <p:nvPr/>
          </p:nvSpPr>
          <p:spPr>
            <a:xfrm>
              <a:off x="484188" y="0"/>
              <a:ext cx="3421064" cy="6843712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46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46"/>
            <p:cNvSpPr/>
            <p:nvPr/>
          </p:nvSpPr>
          <p:spPr>
            <a:xfrm>
              <a:off x="598488" y="0"/>
              <a:ext cx="2717799" cy="6843712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lt1">
                  <a:alpha val="349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46"/>
            <p:cNvSpPr/>
            <p:nvPr/>
          </p:nvSpPr>
          <p:spPr>
            <a:xfrm>
              <a:off x="261938" y="0"/>
              <a:ext cx="2944812" cy="6843712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46"/>
            <p:cNvSpPr/>
            <p:nvPr/>
          </p:nvSpPr>
          <p:spPr>
            <a:xfrm>
              <a:off x="-417513" y="0"/>
              <a:ext cx="2403475" cy="6843712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46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46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5" name="Google Shape;1225;p46"/>
          <p:cNvSpPr/>
          <p:nvPr/>
        </p:nvSpPr>
        <p:spPr>
          <a:xfrm>
            <a:off x="8976" y="0"/>
            <a:ext cx="12192000" cy="578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226" name="Google Shape;1226;p46"/>
          <p:cNvSpPr txBox="1"/>
          <p:nvPr>
            <p:ph type="title"/>
          </p:nvPr>
        </p:nvSpPr>
        <p:spPr>
          <a:xfrm>
            <a:off x="645459" y="960120"/>
            <a:ext cx="38658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</a:rPr>
              <a:t>Problem 3</a:t>
            </a:r>
            <a:endParaRPr/>
          </a:p>
        </p:txBody>
      </p:sp>
      <p:cxnSp>
        <p:nvCxnSpPr>
          <p:cNvPr id="1227" name="Google Shape;1227;p46"/>
          <p:cNvCxnSpPr/>
          <p:nvPr/>
        </p:nvCxnSpPr>
        <p:spPr>
          <a:xfrm>
            <a:off x="4752263" y="1200150"/>
            <a:ext cx="0" cy="3543900"/>
          </a:xfrm>
          <a:prstGeom prst="straightConnector1">
            <a:avLst/>
          </a:prstGeom>
          <a:noFill/>
          <a:ln cap="flat" cmpd="sng" w="12700">
            <a:solidFill>
              <a:srgbClr val="EC190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8" name="Google Shape;1228;p46"/>
          <p:cNvSpPr txBox="1"/>
          <p:nvPr>
            <p:ph idx="1" type="body"/>
          </p:nvPr>
        </p:nvSpPr>
        <p:spPr>
          <a:xfrm>
            <a:off x="4983164" y="960120"/>
            <a:ext cx="55119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Run a container nginx with name web and attach a bind mount  to the container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▪"/>
            </a:pPr>
            <a:r>
              <a:rPr lang="en-US"/>
              <a:t>directory for containing static html file (index.html ) ,  file contains 🡺 New WOrld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▪"/>
            </a:pPr>
            <a:r>
              <a:rPr lang="en-US"/>
              <a:t>container directory /usr/share/nginx/html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Remove the container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Run a new container with the following: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▪"/>
            </a:pPr>
            <a:r>
              <a:rPr lang="en-US"/>
              <a:t>Attach the directory that was attached to the previous container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▪"/>
            </a:pPr>
            <a:r>
              <a:rPr lang="en-US"/>
              <a:t>Map port 80 of container to port 9898 on you host machine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▪"/>
            </a:pPr>
            <a:r>
              <a:rPr lang="en-US"/>
              <a:t>Access the html files from your browser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1234" name="Google Shape;1234;p47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235" name="Google Shape;1235;p47"/>
            <p:cNvSpPr/>
            <p:nvPr/>
          </p:nvSpPr>
          <p:spPr>
            <a:xfrm>
              <a:off x="1306513" y="0"/>
              <a:ext cx="3862388" cy="6843712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236" name="Google Shape;1236;p47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47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47"/>
            <p:cNvSpPr/>
            <p:nvPr/>
          </p:nvSpPr>
          <p:spPr>
            <a:xfrm>
              <a:off x="1120775" y="0"/>
              <a:ext cx="3676651" cy="6843712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47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47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47"/>
            <p:cNvSpPr/>
            <p:nvPr/>
          </p:nvSpPr>
          <p:spPr>
            <a:xfrm>
              <a:off x="1001713" y="0"/>
              <a:ext cx="3621089" cy="6843712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47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47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47"/>
            <p:cNvSpPr/>
            <p:nvPr/>
          </p:nvSpPr>
          <p:spPr>
            <a:xfrm>
              <a:off x="1001713" y="0"/>
              <a:ext cx="3244849" cy="6843712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47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47"/>
            <p:cNvSpPr/>
            <p:nvPr/>
          </p:nvSpPr>
          <p:spPr>
            <a:xfrm>
              <a:off x="889000" y="0"/>
              <a:ext cx="3230563" cy="6843712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47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47"/>
            <p:cNvSpPr/>
            <p:nvPr/>
          </p:nvSpPr>
          <p:spPr>
            <a:xfrm>
              <a:off x="484188" y="0"/>
              <a:ext cx="3421064" cy="6843712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47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47"/>
            <p:cNvSpPr/>
            <p:nvPr/>
          </p:nvSpPr>
          <p:spPr>
            <a:xfrm>
              <a:off x="598488" y="0"/>
              <a:ext cx="2717799" cy="6843712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lt1">
                  <a:alpha val="349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47"/>
            <p:cNvSpPr/>
            <p:nvPr/>
          </p:nvSpPr>
          <p:spPr>
            <a:xfrm>
              <a:off x="261938" y="0"/>
              <a:ext cx="2944812" cy="6843712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47"/>
            <p:cNvSpPr/>
            <p:nvPr/>
          </p:nvSpPr>
          <p:spPr>
            <a:xfrm>
              <a:off x="-417513" y="0"/>
              <a:ext cx="2403475" cy="6843712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47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47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47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6" name="Google Shape;1256;p47"/>
          <p:cNvSpPr/>
          <p:nvPr/>
        </p:nvSpPr>
        <p:spPr>
          <a:xfrm>
            <a:off x="86705" y="77850"/>
            <a:ext cx="12192000" cy="578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257" name="Google Shape;1257;p47"/>
          <p:cNvSpPr txBox="1"/>
          <p:nvPr>
            <p:ph type="title"/>
          </p:nvPr>
        </p:nvSpPr>
        <p:spPr>
          <a:xfrm>
            <a:off x="714034" y="960120"/>
            <a:ext cx="38658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</a:rPr>
              <a:t>Problem 4</a:t>
            </a:r>
            <a:endParaRPr/>
          </a:p>
        </p:txBody>
      </p:sp>
      <p:cxnSp>
        <p:nvCxnSpPr>
          <p:cNvPr id="1258" name="Google Shape;1258;p47"/>
          <p:cNvCxnSpPr/>
          <p:nvPr/>
        </p:nvCxnSpPr>
        <p:spPr>
          <a:xfrm>
            <a:off x="4752263" y="1200150"/>
            <a:ext cx="0" cy="3543900"/>
          </a:xfrm>
          <a:prstGeom prst="straightConnector1">
            <a:avLst/>
          </a:prstGeom>
          <a:noFill/>
          <a:ln cap="flat" cmpd="sng" w="12700">
            <a:solidFill>
              <a:srgbClr val="EC190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9" name="Google Shape;1259;p47"/>
          <p:cNvSpPr txBox="1"/>
          <p:nvPr>
            <p:ph idx="1" type="body"/>
          </p:nvPr>
        </p:nvSpPr>
        <p:spPr>
          <a:xfrm>
            <a:off x="4983164" y="960120"/>
            <a:ext cx="55119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Run the image nginx again without attaching any volumes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Add html static files (/usr/share/nginx/html/index.html) to the container and make sure they are accessible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Commit the container with image name my-server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Run new container with static-server with image my-server ,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1265" name="Google Shape;1265;p4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266" name="Google Shape;1266;p48"/>
            <p:cNvSpPr/>
            <p:nvPr/>
          </p:nvSpPr>
          <p:spPr>
            <a:xfrm>
              <a:off x="1306513" y="0"/>
              <a:ext cx="3862388" cy="6843712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267" name="Google Shape;1267;p48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48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48"/>
            <p:cNvSpPr/>
            <p:nvPr/>
          </p:nvSpPr>
          <p:spPr>
            <a:xfrm>
              <a:off x="1120775" y="0"/>
              <a:ext cx="3676651" cy="6843712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48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48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48"/>
            <p:cNvSpPr/>
            <p:nvPr/>
          </p:nvSpPr>
          <p:spPr>
            <a:xfrm>
              <a:off x="1001713" y="0"/>
              <a:ext cx="3621089" cy="6843712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48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48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48"/>
            <p:cNvSpPr/>
            <p:nvPr/>
          </p:nvSpPr>
          <p:spPr>
            <a:xfrm>
              <a:off x="1001713" y="0"/>
              <a:ext cx="3244849" cy="6843712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48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48"/>
            <p:cNvSpPr/>
            <p:nvPr/>
          </p:nvSpPr>
          <p:spPr>
            <a:xfrm>
              <a:off x="889000" y="0"/>
              <a:ext cx="3230563" cy="6843712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48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48"/>
            <p:cNvSpPr/>
            <p:nvPr/>
          </p:nvSpPr>
          <p:spPr>
            <a:xfrm>
              <a:off x="484188" y="0"/>
              <a:ext cx="3421064" cy="6843712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48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48"/>
            <p:cNvSpPr/>
            <p:nvPr/>
          </p:nvSpPr>
          <p:spPr>
            <a:xfrm>
              <a:off x="598488" y="0"/>
              <a:ext cx="2717799" cy="6843712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lt1">
                  <a:alpha val="349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48"/>
            <p:cNvSpPr/>
            <p:nvPr/>
          </p:nvSpPr>
          <p:spPr>
            <a:xfrm>
              <a:off x="261938" y="0"/>
              <a:ext cx="2944812" cy="6843712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48"/>
            <p:cNvSpPr/>
            <p:nvPr/>
          </p:nvSpPr>
          <p:spPr>
            <a:xfrm>
              <a:off x="-417513" y="0"/>
              <a:ext cx="2403475" cy="6843712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48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48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48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349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7" name="Google Shape;1287;p48"/>
          <p:cNvSpPr/>
          <p:nvPr/>
        </p:nvSpPr>
        <p:spPr>
          <a:xfrm>
            <a:off x="243200" y="33775"/>
            <a:ext cx="12192000" cy="578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288" name="Google Shape;1288;p48"/>
          <p:cNvSpPr txBox="1"/>
          <p:nvPr>
            <p:ph type="title"/>
          </p:nvPr>
        </p:nvSpPr>
        <p:spPr>
          <a:xfrm>
            <a:off x="645459" y="960120"/>
            <a:ext cx="38658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</a:rPr>
              <a:t>Problem 5</a:t>
            </a:r>
            <a:endParaRPr/>
          </a:p>
        </p:txBody>
      </p:sp>
      <p:cxnSp>
        <p:nvCxnSpPr>
          <p:cNvPr id="1289" name="Google Shape;1289;p48"/>
          <p:cNvCxnSpPr/>
          <p:nvPr/>
        </p:nvCxnSpPr>
        <p:spPr>
          <a:xfrm>
            <a:off x="4752263" y="1200150"/>
            <a:ext cx="0" cy="3543900"/>
          </a:xfrm>
          <a:prstGeom prst="straightConnector1">
            <a:avLst/>
          </a:prstGeom>
          <a:noFill/>
          <a:ln cap="flat" cmpd="sng" w="12700">
            <a:solidFill>
              <a:srgbClr val="EC190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0" name="Google Shape;1290;p48"/>
          <p:cNvSpPr txBox="1"/>
          <p:nvPr>
            <p:ph idx="1" type="body"/>
          </p:nvPr>
        </p:nvSpPr>
        <p:spPr>
          <a:xfrm>
            <a:off x="4983164" y="960120"/>
            <a:ext cx="55119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Create a volume called mysql_data, then deploy a MySQL database called app-database. Use the mysql latest image, and use the -e flag to set MYSQL_ROOT_PASSWORD to P4sSw0rd0!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Mount the mysql_data volume to /var/lib/mysql. The container should run in the background.</a:t>
            </a:r>
            <a:endParaRPr/>
          </a:p>
        </p:txBody>
      </p:sp>
      <p:sp>
        <p:nvSpPr>
          <p:cNvPr id="1291" name="Google Shape;1291;p48"/>
          <p:cNvSpPr txBox="1"/>
          <p:nvPr/>
        </p:nvSpPr>
        <p:spPr>
          <a:xfrm>
            <a:off x="5408907" y="4295871"/>
            <a:ext cx="6843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Can check by using command inside container :</a:t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mysql -h localhost -u root -p P4sSw0rd0!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50"/>
          <p:cNvSpPr txBox="1"/>
          <p:nvPr/>
        </p:nvSpPr>
        <p:spPr>
          <a:xfrm>
            <a:off x="288758" y="288758"/>
            <a:ext cx="8951400" cy="3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create </a:t>
            </a:r>
            <a:r>
              <a:rPr b="1" i="0" lang="en-US" sz="18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postgres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container with named volume psql-data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Using version </a:t>
            </a:r>
            <a:r>
              <a:rPr b="1" i="0" lang="en-US" sz="18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Container name will be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postgres</a:t>
            </a:r>
            <a:endParaRPr b="1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Volume path to postgress data is </a:t>
            </a:r>
            <a:r>
              <a:rPr b="1" i="0" lang="en-US" sz="18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/var/lib/postgresql/data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Use –e flag to pass </a:t>
            </a:r>
            <a:r>
              <a:rPr b="0" i="0" lang="en-US" sz="18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POSTGRES_PASSWORD=password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Then mount container port </a:t>
            </a:r>
            <a:r>
              <a:rPr b="0" i="0" lang="en-US" sz="18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5432</a:t>
            </a: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to host port </a:t>
            </a:r>
            <a:r>
              <a:rPr b="0" i="0" lang="en-US" sz="18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5432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Container should run in the </a:t>
            </a:r>
            <a:r>
              <a:rPr b="0" i="0" lang="en-US" sz="18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background</a:t>
            </a: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Create database inside it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Stop the container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Recreate another postgres container with </a:t>
            </a:r>
            <a:r>
              <a:rPr b="0" i="0" lang="en-US" sz="18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version 15</a:t>
            </a: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and </a:t>
            </a:r>
            <a:r>
              <a:rPr b="0" i="0" lang="en-US" sz="18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mounted to the same volume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did postgress is initialized?, Check container logs .</a:t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97" name="Google Shape;1297;p50"/>
          <p:cNvSpPr txBox="1"/>
          <p:nvPr/>
        </p:nvSpPr>
        <p:spPr>
          <a:xfrm>
            <a:off x="637673" y="4584032"/>
            <a:ext cx="96492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Test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psql -h 192.168.64.23 -p 5432 -U postgres 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Postgres# \l   🡺 list all databse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Postgres# create database test;   🡺 must contains “;”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2" name="Google Shape;1302;p52"/>
          <p:cNvGrpSpPr/>
          <p:nvPr/>
        </p:nvGrpSpPr>
        <p:grpSpPr>
          <a:xfrm>
            <a:off x="-329674" y="-59376"/>
            <a:ext cx="12515851" cy="6923799"/>
            <a:chOff x="-329674" y="-51881"/>
            <a:chExt cx="12515851" cy="6923799"/>
          </a:xfrm>
        </p:grpSpPr>
        <p:sp>
          <p:nvSpPr>
            <p:cNvPr id="1303" name="Google Shape;1303;p52"/>
            <p:cNvSpPr/>
            <p:nvPr/>
          </p:nvSpPr>
          <p:spPr>
            <a:xfrm>
              <a:off x="-329674" y="1298404"/>
              <a:ext cx="9702801" cy="5573511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52"/>
            <p:cNvSpPr/>
            <p:nvPr/>
          </p:nvSpPr>
          <p:spPr>
            <a:xfrm>
              <a:off x="670451" y="2018236"/>
              <a:ext cx="7373937" cy="4848891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52"/>
            <p:cNvSpPr/>
            <p:nvPr/>
          </p:nvSpPr>
          <p:spPr>
            <a:xfrm>
              <a:off x="251351" y="1788400"/>
              <a:ext cx="8035927" cy="5083517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52"/>
            <p:cNvSpPr/>
            <p:nvPr/>
          </p:nvSpPr>
          <p:spPr>
            <a:xfrm>
              <a:off x="-1061" y="549842"/>
              <a:ext cx="10334628" cy="6322076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52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52"/>
            <p:cNvSpPr/>
            <p:nvPr/>
          </p:nvSpPr>
          <p:spPr>
            <a:xfrm>
              <a:off x="-1061" y="-51881"/>
              <a:ext cx="11091860" cy="6923797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52"/>
            <p:cNvSpPr/>
            <p:nvPr/>
          </p:nvSpPr>
          <p:spPr>
            <a:xfrm>
              <a:off x="5426601" y="5579"/>
              <a:ext cx="5788026" cy="6847185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52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52"/>
            <p:cNvSpPr/>
            <p:nvPr/>
          </p:nvSpPr>
          <p:spPr>
            <a:xfrm>
              <a:off x="5821889" y="5579"/>
              <a:ext cx="5587999" cy="6866338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52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52"/>
            <p:cNvSpPr/>
            <p:nvPr/>
          </p:nvSpPr>
          <p:spPr>
            <a:xfrm>
              <a:off x="6012389" y="5579"/>
              <a:ext cx="5497514" cy="6866338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52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52"/>
            <p:cNvSpPr/>
            <p:nvPr/>
          </p:nvSpPr>
          <p:spPr>
            <a:xfrm>
              <a:off x="6210826" y="790"/>
              <a:ext cx="5522914" cy="6871128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52"/>
            <p:cNvSpPr/>
            <p:nvPr/>
          </p:nvSpPr>
          <p:spPr>
            <a:xfrm>
              <a:off x="6463239" y="5579"/>
              <a:ext cx="5413376" cy="6866338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52"/>
            <p:cNvSpPr/>
            <p:nvPr/>
          </p:nvSpPr>
          <p:spPr>
            <a:xfrm>
              <a:off x="6877576" y="5579"/>
              <a:ext cx="5037138" cy="6861551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52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52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52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52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2" name="Google Shape;1322;p52"/>
          <p:cNvGrpSpPr/>
          <p:nvPr/>
        </p:nvGrpSpPr>
        <p:grpSpPr>
          <a:xfrm>
            <a:off x="1669293" y="1186483"/>
            <a:ext cx="8848449" cy="4477933"/>
            <a:chOff x="1669293" y="1186483"/>
            <a:chExt cx="8848449" cy="4477933"/>
          </a:xfrm>
        </p:grpSpPr>
        <p:sp>
          <p:nvSpPr>
            <p:cNvPr id="1323" name="Google Shape;1323;p52"/>
            <p:cNvSpPr/>
            <p:nvPr/>
          </p:nvSpPr>
          <p:spPr>
            <a:xfrm>
              <a:off x="1674042" y="1186483"/>
              <a:ext cx="8843700" cy="716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52"/>
            <p:cNvSpPr/>
            <p:nvPr/>
          </p:nvSpPr>
          <p:spPr>
            <a:xfrm rot="10800000">
              <a:off x="5892517" y="5313416"/>
              <a:ext cx="407100" cy="3510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52"/>
            <p:cNvSpPr/>
            <p:nvPr/>
          </p:nvSpPr>
          <p:spPr>
            <a:xfrm>
              <a:off x="1669293" y="1991156"/>
              <a:ext cx="8845800" cy="3322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6" name="Google Shape;1326;p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1327" name="Google Shape;1327;p52"/>
          <p:cNvGrpSpPr/>
          <p:nvPr/>
        </p:nvGrpSpPr>
        <p:grpSpPr>
          <a:xfrm>
            <a:off x="-329674" y="-59376"/>
            <a:ext cx="12515851" cy="6923799"/>
            <a:chOff x="-329674" y="-51881"/>
            <a:chExt cx="12515851" cy="6923799"/>
          </a:xfrm>
        </p:grpSpPr>
        <p:sp>
          <p:nvSpPr>
            <p:cNvPr id="1328" name="Google Shape;1328;p52"/>
            <p:cNvSpPr/>
            <p:nvPr/>
          </p:nvSpPr>
          <p:spPr>
            <a:xfrm>
              <a:off x="-329674" y="1298404"/>
              <a:ext cx="9702801" cy="5573511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52"/>
            <p:cNvSpPr/>
            <p:nvPr/>
          </p:nvSpPr>
          <p:spPr>
            <a:xfrm>
              <a:off x="670451" y="2018236"/>
              <a:ext cx="7373937" cy="4848891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52"/>
            <p:cNvSpPr/>
            <p:nvPr/>
          </p:nvSpPr>
          <p:spPr>
            <a:xfrm>
              <a:off x="251351" y="1788400"/>
              <a:ext cx="8035927" cy="5083517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52"/>
            <p:cNvSpPr/>
            <p:nvPr/>
          </p:nvSpPr>
          <p:spPr>
            <a:xfrm>
              <a:off x="-1061" y="549842"/>
              <a:ext cx="10334628" cy="6322076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52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52"/>
            <p:cNvSpPr/>
            <p:nvPr/>
          </p:nvSpPr>
          <p:spPr>
            <a:xfrm>
              <a:off x="-1061" y="-51881"/>
              <a:ext cx="11091860" cy="6923797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52"/>
            <p:cNvSpPr/>
            <p:nvPr/>
          </p:nvSpPr>
          <p:spPr>
            <a:xfrm>
              <a:off x="5426601" y="5579"/>
              <a:ext cx="5788026" cy="6847185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52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52"/>
            <p:cNvSpPr/>
            <p:nvPr/>
          </p:nvSpPr>
          <p:spPr>
            <a:xfrm>
              <a:off x="5821889" y="5579"/>
              <a:ext cx="5587999" cy="6866338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52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52"/>
            <p:cNvSpPr/>
            <p:nvPr/>
          </p:nvSpPr>
          <p:spPr>
            <a:xfrm>
              <a:off x="6012389" y="5579"/>
              <a:ext cx="5497514" cy="6866338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accent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52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accent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52"/>
            <p:cNvSpPr/>
            <p:nvPr/>
          </p:nvSpPr>
          <p:spPr>
            <a:xfrm>
              <a:off x="6210826" y="790"/>
              <a:ext cx="5522914" cy="6871128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52"/>
            <p:cNvSpPr/>
            <p:nvPr/>
          </p:nvSpPr>
          <p:spPr>
            <a:xfrm>
              <a:off x="6463239" y="5579"/>
              <a:ext cx="5413376" cy="6866338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52"/>
            <p:cNvSpPr/>
            <p:nvPr/>
          </p:nvSpPr>
          <p:spPr>
            <a:xfrm>
              <a:off x="6877576" y="5579"/>
              <a:ext cx="5037138" cy="6861551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52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52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52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52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7" name="Google Shape;1347;p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2F2F2"/>
              </a:gs>
              <a:gs pos="27000">
                <a:srgbClr val="FFFFFF">
                  <a:alpha val="96863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348" name="Google Shape;1348;p52"/>
          <p:cNvSpPr/>
          <p:nvPr/>
        </p:nvSpPr>
        <p:spPr>
          <a:xfrm>
            <a:off x="2907728" y="1241802"/>
            <a:ext cx="6376500" cy="5484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52"/>
          <p:cNvSpPr/>
          <p:nvPr/>
        </p:nvSpPr>
        <p:spPr>
          <a:xfrm>
            <a:off x="2906981" y="1878661"/>
            <a:ext cx="6378000" cy="3322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52"/>
          <p:cNvSpPr txBox="1"/>
          <p:nvPr>
            <p:ph type="title"/>
          </p:nvPr>
        </p:nvSpPr>
        <p:spPr>
          <a:xfrm>
            <a:off x="3041151" y="1963010"/>
            <a:ext cx="6109800" cy="17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Thanks for attention</a:t>
            </a:r>
            <a:endParaRPr/>
          </a:p>
        </p:txBody>
      </p:sp>
      <p:sp>
        <p:nvSpPr>
          <p:cNvPr id="1351" name="Google Shape;1351;p52"/>
          <p:cNvSpPr/>
          <p:nvPr/>
        </p:nvSpPr>
        <p:spPr>
          <a:xfrm rot="10800000">
            <a:off x="5892517" y="5200921"/>
            <a:ext cx="407100" cy="351000"/>
          </a:xfrm>
          <a:prstGeom prst="triangle">
            <a:avLst>
              <a:gd fmla="val 50000" name="adj"/>
            </a:avLst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heme35">
  <a:themeElements>
    <a:clrScheme name="Theme3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tlas">
  <a:themeElements>
    <a:clrScheme name="Atlas">
      <a:dk1>
        <a:srgbClr val="000000"/>
      </a:dk1>
      <a:lt1>
        <a:srgbClr val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2021-12-03T12:30:14Z</dcterms:created>
  <dc:creator>Morsy, AbdElRehim, Vodafone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359f705-2ba0-454b-9cfc-6ce5bcaac040_Enabled">
    <vt:lpwstr>true</vt:lpwstr>
  </property>
  <property fmtid="{D5CDD505-2E9C-101B-9397-08002B2CF9AE}" pid="3" name="MSIP_Label_0359f705-2ba0-454b-9cfc-6ce5bcaac040_SetDate">
    <vt:lpwstr>2021-12-03T12:30:15Z</vt:lpwstr>
  </property>
  <property fmtid="{D5CDD505-2E9C-101B-9397-08002B2CF9AE}" pid="4" name="MSIP_Label_0359f705-2ba0-454b-9cfc-6ce5bcaac040_Method">
    <vt:lpwstr>Standard</vt:lpwstr>
  </property>
  <property fmtid="{D5CDD505-2E9C-101B-9397-08002B2CF9AE}" pid="5" name="MSIP_Label_0359f705-2ba0-454b-9cfc-6ce5bcaac040_Name">
    <vt:lpwstr>0359f705-2ba0-454b-9cfc-6ce5bcaac040</vt:lpwstr>
  </property>
  <property fmtid="{D5CDD505-2E9C-101B-9397-08002B2CF9AE}" pid="6" name="MSIP_Label_0359f705-2ba0-454b-9cfc-6ce5bcaac040_SiteId">
    <vt:lpwstr>68283f3b-8487-4c86-adb3-a5228f18b893</vt:lpwstr>
  </property>
  <property fmtid="{D5CDD505-2E9C-101B-9397-08002B2CF9AE}" pid="7" name="MSIP_Label_0359f705-2ba0-454b-9cfc-6ce5bcaac040_ActionId">
    <vt:lpwstr>fb775ac0-cf74-4e6c-8494-e2990a6b4de1</vt:lpwstr>
  </property>
  <property fmtid="{D5CDD505-2E9C-101B-9397-08002B2CF9AE}" pid="8" name="MSIP_Label_0359f705-2ba0-454b-9cfc-6ce5bcaac040_ContentBits">
    <vt:lpwstr>2</vt:lpwstr>
  </property>
  <property fmtid="{D5CDD505-2E9C-101B-9397-08002B2CF9AE}" pid="9" name="ClassificationContentMarkingFooterLocations">
    <vt:lpwstr>Office Theme:8</vt:lpwstr>
  </property>
  <property fmtid="{D5CDD505-2E9C-101B-9397-08002B2CF9AE}" pid="10" name="ClassificationContentMarkingFooterText">
    <vt:lpwstr>C2 General</vt:lpwstr>
  </property>
</Properties>
</file>