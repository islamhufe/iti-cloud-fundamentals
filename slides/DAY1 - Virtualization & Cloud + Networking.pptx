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02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7" r:id="rId21"/>
    <p:sldId id="303" r:id="rId22"/>
    <p:sldId id="285" r:id="rId23"/>
    <p:sldId id="286" r:id="rId24"/>
    <p:sldId id="287" r:id="rId25"/>
    <p:sldId id="288" r:id="rId26"/>
    <p:sldId id="296" r:id="rId27"/>
    <p:sldId id="299" r:id="rId28"/>
    <p:sldId id="30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8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CB568A-B56D-4C39-A06A-F163DF22A625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54B0C-2A0F-4C97-95B7-2FA307EB9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272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54B0C-2A0F-4C97-95B7-2FA307EB99B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71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54B0C-2A0F-4C97-95B7-2FA307EB99B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471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1DEA12-89D1-7E4B-0985-BA127E1CD54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22900" y="6642100"/>
            <a:ext cx="13716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Ejada Public Information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96596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E25A0B"/>
                </a:solidFill>
                <a:latin typeface="Arial"/>
              </a:rPr>
              <a:t>AWS FOUNDATIONS  -  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>
                <a:solidFill>
                  <a:srgbClr val="1A2433"/>
                </a:solidFill>
                <a:latin typeface="Arial"/>
              </a:rPr>
              <a:t>Virtualization &amp;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429000"/>
            <a:ext cx="92628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4B5563"/>
                </a:solidFill>
                <a:latin typeface="Arial"/>
              </a:rPr>
              <a:t>The idea behind the cloud - from one physical server to global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047" y="443484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D8EAEF"/>
          </a:solidFill>
          <a:ln w="9525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0E7C9E"/>
                </a:solidFill>
                <a:latin typeface="Arial"/>
              </a:rPr>
              <a:t>Virtualization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92727" y="4434840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D8EEEC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0D9488"/>
                </a:solidFill>
                <a:latin typeface="Arial"/>
              </a:rPr>
              <a:t>Cloud Computing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4434840"/>
            <a:ext cx="914400" cy="475488"/>
          </a:xfrm>
          <a:prstGeom prst="roundRect">
            <a:avLst>
              <a:gd name="adj" fmla="val 50000"/>
            </a:avLst>
          </a:prstGeom>
          <a:solidFill>
            <a:srgbClr val="F6E9D6"/>
          </a:solidFill>
          <a:ln w="9525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C77700"/>
                </a:solidFill>
                <a:latin typeface="Arial"/>
              </a:rPr>
              <a:t>AWS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67447" y="4434840"/>
            <a:ext cx="914400" cy="475488"/>
          </a:xfrm>
          <a:prstGeom prst="roundRect">
            <a:avLst>
              <a:gd name="adj" fmla="val 50000"/>
            </a:avLst>
          </a:prstGeom>
          <a:solidFill>
            <a:srgbClr val="DCE6FC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DNS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56167" y="4434840"/>
            <a:ext cx="1554480" cy="475488"/>
          </a:xfrm>
          <a:prstGeom prst="roundRect">
            <a:avLst>
              <a:gd name="adj" fmla="val 50000"/>
            </a:avLst>
          </a:prstGeom>
          <a:solidFill>
            <a:srgbClr val="D8EDE6"/>
          </a:solidFill>
          <a:ln w="9525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0E9060"/>
                </a:solidFill>
                <a:latin typeface="Arial"/>
              </a:rPr>
              <a:t>Networking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E7C9E"/>
                </a:solidFill>
                <a:latin typeface="Arial"/>
              </a:rPr>
              <a:t>VIRTUALIZATION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2433"/>
                </a:solidFill>
                <a:latin typeface="Arial"/>
              </a:rPr>
              <a:t>From Physical to Virtual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642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dirty="0">
                <a:latin typeface="Arial"/>
              </a:rPr>
              <a:t>One server, split into many isolated machines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4297680" cy="777240"/>
          </a:xfrm>
          <a:prstGeom prst="roundRect">
            <a:avLst>
              <a:gd name="adj" fmla="val 9000"/>
            </a:avLst>
          </a:prstGeom>
          <a:solidFill>
            <a:srgbClr val="F1F4F9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400" b="1">
                <a:solidFill>
                  <a:srgbClr val="4B5563"/>
                </a:solidFill>
                <a:latin typeface="Arial"/>
              </a:rPr>
              <a:t>HARDWARE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474720"/>
            <a:ext cx="4297680" cy="777240"/>
          </a:xfrm>
          <a:prstGeom prst="roundRect">
            <a:avLst>
              <a:gd name="adj" fmla="val 9000"/>
            </a:avLst>
          </a:prstGeom>
          <a:solidFill>
            <a:srgbClr val="E7F2F5"/>
          </a:solidFill>
          <a:ln w="12700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400" b="1">
                <a:solidFill>
                  <a:srgbClr val="0E7C9E"/>
                </a:solidFill>
                <a:latin typeface="Arial"/>
              </a:rPr>
              <a:t>OPERATING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4297680" cy="1188720"/>
          </a:xfrm>
          <a:prstGeom prst="roundRect">
            <a:avLst>
              <a:gd name="adj" fmla="val 9000"/>
            </a:avLst>
          </a:prstGeom>
          <a:solidFill>
            <a:srgbClr val="FCEEE7"/>
          </a:solidFill>
          <a:ln w="12700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25A0B"/>
                </a:solidFill>
                <a:latin typeface="Arial"/>
              </a:rPr>
              <a:t>APPLICATIONS</a:t>
            </a:r>
          </a:p>
          <a:p>
            <a:pPr algn="ctr"/>
            <a:r>
              <a:rPr sz="1150" b="0">
                <a:solidFill>
                  <a:srgbClr val="4B5563"/>
                </a:solidFill>
                <a:latin typeface="Arial"/>
              </a:rPr>
              <a:t>everything shares one 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>
                <a:solidFill>
                  <a:srgbClr val="6B7280"/>
                </a:solidFill>
                <a:latin typeface="Arial"/>
              </a:rPr>
              <a:t>TRADITIONAL  -  1 server, 1 OS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32120" y="3657600"/>
            <a:ext cx="1005840" cy="0"/>
          </a:xfrm>
          <a:prstGeom prst="line">
            <a:avLst/>
          </a:prstGeom>
          <a:ln w="31750">
            <a:solidFill>
              <a:srgbClr val="0E7C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0" y="2194560"/>
            <a:ext cx="1325880" cy="566928"/>
          </a:xfrm>
          <a:prstGeom prst="roundRect">
            <a:avLst>
              <a:gd name="adj" fmla="val 9000"/>
            </a:avLst>
          </a:prstGeom>
          <a:solidFill>
            <a:srgbClr val="FCEEE7"/>
          </a:solidFill>
          <a:ln w="9525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200" b="1">
                <a:solidFill>
                  <a:srgbClr val="E25A0B"/>
                </a:solidFill>
                <a:latin typeface="Arial"/>
              </a:rPr>
              <a:t>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834640"/>
            <a:ext cx="1325880" cy="566928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200" b="1">
                <a:solidFill>
                  <a:srgbClr val="1A2433"/>
                </a:solidFill>
                <a:latin typeface="Arial"/>
              </a:rPr>
              <a:t>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84708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4B5563"/>
                </a:solidFill>
                <a:latin typeface="Arial"/>
              </a:rPr>
              <a:t>VM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30767" y="2194560"/>
            <a:ext cx="1325880" cy="566928"/>
          </a:xfrm>
          <a:prstGeom prst="roundRect">
            <a:avLst>
              <a:gd name="adj" fmla="val 9000"/>
            </a:avLst>
          </a:prstGeom>
          <a:solidFill>
            <a:srgbClr val="FCEEE7"/>
          </a:solidFill>
          <a:ln w="9525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200" b="1">
                <a:solidFill>
                  <a:srgbClr val="E25A0B"/>
                </a:solidFill>
                <a:latin typeface="Arial"/>
              </a:rPr>
              <a:t>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30767" y="2834640"/>
            <a:ext cx="1325880" cy="566928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200" b="1">
                <a:solidFill>
                  <a:srgbClr val="1A2433"/>
                </a:solidFill>
                <a:latin typeface="Arial"/>
              </a:rPr>
              <a:t>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7" y="184708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4B5563"/>
                </a:solidFill>
                <a:latin typeface="Arial"/>
              </a:rPr>
              <a:t>VM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12096" y="2194560"/>
            <a:ext cx="1325880" cy="566928"/>
          </a:xfrm>
          <a:prstGeom prst="roundRect">
            <a:avLst>
              <a:gd name="adj" fmla="val 9000"/>
            </a:avLst>
          </a:prstGeom>
          <a:solidFill>
            <a:srgbClr val="FCEEE7"/>
          </a:solidFill>
          <a:ln w="9525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200" b="1">
                <a:solidFill>
                  <a:srgbClr val="E25A0B"/>
                </a:solidFill>
                <a:latin typeface="Arial"/>
              </a:rPr>
              <a:t>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12096" y="2834640"/>
            <a:ext cx="1325880" cy="566928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200" b="1">
                <a:solidFill>
                  <a:srgbClr val="1A2433"/>
                </a:solidFill>
                <a:latin typeface="Arial"/>
              </a:rPr>
              <a:t>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12096" y="184708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4B5563"/>
                </a:solidFill>
                <a:latin typeface="Arial"/>
              </a:rPr>
              <a:t>VM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3566160"/>
            <a:ext cx="4288536" cy="685800"/>
          </a:xfrm>
          <a:prstGeom prst="roundRect">
            <a:avLst>
              <a:gd name="adj" fmla="val 9000"/>
            </a:avLst>
          </a:prstGeom>
          <a:solidFill>
            <a:srgbClr val="E2EFF3"/>
          </a:solidFill>
          <a:ln w="12700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350" b="1">
                <a:solidFill>
                  <a:srgbClr val="0E7C9E"/>
                </a:solidFill>
                <a:latin typeface="Arial"/>
              </a:rPr>
              <a:t>VIRTUALIZATION LAYER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4343400"/>
            <a:ext cx="4288536" cy="777240"/>
          </a:xfrm>
          <a:prstGeom prst="roundRect">
            <a:avLst>
              <a:gd name="adj" fmla="val 9000"/>
            </a:avLst>
          </a:prstGeom>
          <a:solidFill>
            <a:srgbClr val="F1F4F9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400" b="1">
                <a:solidFill>
                  <a:srgbClr val="4B5563"/>
                </a:solidFill>
                <a:latin typeface="Arial"/>
              </a:rPr>
              <a:t>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580644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>
                <a:solidFill>
                  <a:srgbClr val="6B7280"/>
                </a:solidFill>
                <a:latin typeface="Arial"/>
              </a:rPr>
              <a:t>VIRTUAL  -  1 server, many isolated VMs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E7C9E"/>
                </a:solidFill>
                <a:latin typeface="Arial"/>
              </a:rPr>
              <a:t>VIRTUALIZATION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2433"/>
                </a:solidFill>
                <a:latin typeface="Arial"/>
              </a:rPr>
              <a:t>What Is Virtualization?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642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dirty="0">
                <a:latin typeface="Arial"/>
              </a:rPr>
              <a:t>One physical machine split into many independent virtual 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6766560" cy="123444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62179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E7C9E"/>
                </a:solidFill>
                <a:latin typeface="Arial"/>
              </a:rPr>
              <a:t>Software splits the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6217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B5563"/>
                </a:solidFill>
                <a:latin typeface="Arial"/>
              </a:rPr>
              <a:t>a special layer divides one physical server into multiple virtual machines (VMs)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6766560" cy="123444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62179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25A0B"/>
                </a:solidFill>
                <a:latin typeface="Arial"/>
              </a:rPr>
              <a:t>Each VM is independent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13048"/>
            <a:ext cx="6217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B5563"/>
                </a:solidFill>
                <a:latin typeface="Arial"/>
              </a:rPr>
              <a:t>it runs its own operating system and its own apps, fully isolated from the neighbours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63440"/>
            <a:ext cx="6766560" cy="123444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62179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E9060"/>
                </a:solidFill>
                <a:latin typeface="Arial"/>
              </a:rPr>
              <a:t>Hardware is shared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30368"/>
            <a:ext cx="6217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B5563"/>
                </a:solidFill>
                <a:latin typeface="Arial"/>
              </a:rPr>
              <a:t>CPU, memory and disk are shared underneath - yet every VM behaves like a real, separate computer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828800"/>
            <a:ext cx="3931920" cy="4160520"/>
          </a:xfrm>
          <a:prstGeom prst="roundRect">
            <a:avLst>
              <a:gd name="adj" fmla="val 9000"/>
            </a:avLst>
          </a:prstGeom>
          <a:solidFill>
            <a:srgbClr val="F1F4F9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0" y="201168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Arial"/>
              </a:rPr>
              <a:t>one physical 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468880"/>
            <a:ext cx="3200400" cy="731520"/>
          </a:xfrm>
          <a:prstGeom prst="roundRect">
            <a:avLst>
              <a:gd name="adj" fmla="val 9000"/>
            </a:avLst>
          </a:prstGeom>
          <a:solidFill>
            <a:srgbClr val="E7F2F5"/>
          </a:solidFill>
          <a:ln w="11430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250" b="1">
                <a:solidFill>
                  <a:srgbClr val="0E7C9E"/>
                </a:solidFill>
                <a:latin typeface="Arial"/>
              </a:rPr>
              <a:t>VM 1  -  own OS + apps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383280"/>
            <a:ext cx="3200400" cy="731520"/>
          </a:xfrm>
          <a:prstGeom prst="roundRect">
            <a:avLst>
              <a:gd name="adj" fmla="val 9000"/>
            </a:avLst>
          </a:prstGeom>
          <a:solidFill>
            <a:srgbClr val="FCEEE7"/>
          </a:solidFill>
          <a:ln w="11430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250" b="1">
                <a:solidFill>
                  <a:srgbClr val="E25A0B"/>
                </a:solidFill>
                <a:latin typeface="Arial"/>
              </a:rPr>
              <a:t>VM 2  -  own OS + apps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297680"/>
            <a:ext cx="3200400" cy="731520"/>
          </a:xfrm>
          <a:prstGeom prst="roundRect">
            <a:avLst>
              <a:gd name="adj" fmla="val 9000"/>
            </a:avLst>
          </a:prstGeom>
          <a:solidFill>
            <a:srgbClr val="E7F4EF"/>
          </a:solidFill>
          <a:ln w="11430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250" b="1">
                <a:solidFill>
                  <a:srgbClr val="0E9060"/>
                </a:solidFill>
                <a:latin typeface="Arial"/>
              </a:rPr>
              <a:t>VM 3  -  own OS + apps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534924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4B5563"/>
                </a:solidFill>
                <a:latin typeface="Arial"/>
              </a:rPr>
              <a:t>isolated - a crash in VM 1 never touches VM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E7C9E"/>
                </a:solidFill>
                <a:latin typeface="Arial"/>
              </a:rPr>
              <a:t>VIRTUALIZATION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107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dirty="0">
                <a:solidFill>
                  <a:srgbClr val="1A2433"/>
                </a:solidFill>
                <a:latin typeface="Arial"/>
              </a:rPr>
              <a:t>The Hypervisor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642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dirty="0">
                <a:latin typeface="Arial"/>
              </a:rPr>
              <a:t>The thin software layer that creates and runs the VMs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0881360" cy="731520"/>
          </a:xfrm>
          <a:prstGeom prst="roundRect">
            <a:avLst>
              <a:gd name="adj" fmla="val 9000"/>
            </a:avLst>
          </a:prstGeom>
          <a:solidFill>
            <a:srgbClr val="F1F4F9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400" b="1">
                <a:solidFill>
                  <a:srgbClr val="0E7C9E"/>
                </a:solidFill>
                <a:latin typeface="Arial"/>
              </a:rPr>
              <a:t>Its job: </a:t>
            </a:r>
            <a:r>
              <a:rPr sz="1400" b="0">
                <a:solidFill>
                  <a:srgbClr val="1A2433"/>
                </a:solidFill>
                <a:latin typeface="Arial"/>
              </a:rPr>
              <a:t>hand every VM a fair slice of CPU, memory and storage - and keep the VMs strictly separated.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97480"/>
            <a:ext cx="5349240" cy="356616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880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E7C9E"/>
                </a:solidFill>
                <a:latin typeface="Arial"/>
              </a:rPr>
              <a:t>Type 1  -  bare metal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5029200"/>
            <a:ext cx="4343400" cy="50292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150" b="1">
                <a:solidFill>
                  <a:srgbClr val="4B5563"/>
                </a:solidFill>
                <a:latin typeface="Arial"/>
              </a:rPr>
              <a:t>HARDWARE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4453128"/>
            <a:ext cx="4343400" cy="502920"/>
          </a:xfrm>
          <a:prstGeom prst="roundRect">
            <a:avLst>
              <a:gd name="adj" fmla="val 9000"/>
            </a:avLst>
          </a:prstGeom>
          <a:solidFill>
            <a:srgbClr val="E7F2F5"/>
          </a:solidFill>
          <a:ln w="9525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150" b="1">
                <a:solidFill>
                  <a:srgbClr val="0E7C9E"/>
                </a:solidFill>
                <a:latin typeface="Arial"/>
              </a:rPr>
              <a:t>HYPERVISOR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877056"/>
            <a:ext cx="4343400" cy="502920"/>
          </a:xfrm>
          <a:prstGeom prst="roundRect">
            <a:avLst>
              <a:gd name="adj" fmla="val 9000"/>
            </a:avLst>
          </a:prstGeom>
          <a:solidFill>
            <a:srgbClr val="FCEEE7"/>
          </a:solidFill>
          <a:ln w="9525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150" b="1">
                <a:solidFill>
                  <a:srgbClr val="E25A0B"/>
                </a:solidFill>
                <a:latin typeface="Arial"/>
              </a:rPr>
              <a:t>VM  |  VM  |  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5715000"/>
            <a:ext cx="4846320" cy="411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 dirty="0">
                <a:solidFill>
                  <a:srgbClr val="4B5563"/>
                </a:solidFill>
                <a:latin typeface="Arial"/>
              </a:rPr>
              <a:t>Runs directly on the hardware. Used in data centers - this is what AWS runs.</a:t>
            </a:r>
            <a:r>
              <a:rPr lang="en-US" sz="1200" b="0" dirty="0">
                <a:solidFill>
                  <a:srgbClr val="4B5563"/>
                </a:solidFill>
                <a:latin typeface="Arial"/>
              </a:rPr>
              <a:t>(</a:t>
            </a:r>
            <a:r>
              <a:rPr lang="en-US" sz="1200" dirty="0"/>
              <a:t>VMware </a:t>
            </a:r>
            <a:r>
              <a:rPr lang="en-US" sz="1200" dirty="0" err="1"/>
              <a:t>ESXi</a:t>
            </a:r>
            <a:r>
              <a:rPr lang="en-US" sz="1200" dirty="0"/>
              <a:t>)</a:t>
            </a:r>
            <a:endParaRPr sz="1200" b="0" dirty="0">
              <a:solidFill>
                <a:srgbClr val="4B5563"/>
              </a:solidFill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09360" y="2697480"/>
            <a:ext cx="5349240" cy="356616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2880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25A0B"/>
                </a:solidFill>
                <a:latin typeface="Arial"/>
              </a:rPr>
              <a:t>Type 2  -  hosted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5029200"/>
            <a:ext cx="4343400" cy="50292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150" b="1">
                <a:solidFill>
                  <a:srgbClr val="4B5563"/>
                </a:solidFill>
                <a:latin typeface="Arial"/>
              </a:rPr>
              <a:t>HARDWARE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4453128"/>
            <a:ext cx="4343400" cy="502920"/>
          </a:xfrm>
          <a:prstGeom prst="roundRect">
            <a:avLst>
              <a:gd name="adj" fmla="val 9000"/>
            </a:avLst>
          </a:prstGeom>
          <a:solidFill>
            <a:srgbClr val="E7F4EF"/>
          </a:solidFill>
          <a:ln w="9525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150" b="1">
                <a:solidFill>
                  <a:srgbClr val="0E9060"/>
                </a:solidFill>
                <a:latin typeface="Arial"/>
              </a:rPr>
              <a:t>YOUR OS  (Windows/macOS)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3877056"/>
            <a:ext cx="4343400" cy="502920"/>
          </a:xfrm>
          <a:prstGeom prst="roundRect">
            <a:avLst>
              <a:gd name="adj" fmla="val 9000"/>
            </a:avLst>
          </a:prstGeom>
          <a:solidFill>
            <a:srgbClr val="FCEEE7"/>
          </a:solidFill>
          <a:ln w="9525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150" b="1">
                <a:solidFill>
                  <a:srgbClr val="E25A0B"/>
                </a:solidFill>
                <a:latin typeface="Arial"/>
              </a:rPr>
              <a:t>HYPERVISOR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3300984"/>
            <a:ext cx="4343400" cy="502920"/>
          </a:xfrm>
          <a:prstGeom prst="roundRect">
            <a:avLst>
              <a:gd name="adj" fmla="val 9000"/>
            </a:avLst>
          </a:prstGeom>
          <a:solidFill>
            <a:srgbClr val="E7F2F5"/>
          </a:solidFill>
          <a:ln w="9525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150" b="1">
                <a:solidFill>
                  <a:srgbClr val="0E7C9E"/>
                </a:solidFill>
                <a:latin typeface="Arial"/>
              </a:rPr>
              <a:t>VM  |  VM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7150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dirty="0">
                <a:solidFill>
                  <a:srgbClr val="4B5563"/>
                </a:solidFill>
                <a:latin typeface="Arial"/>
              </a:rPr>
              <a:t>Runs as an app on top of a normal OS. Used on laptops - e.g. VirtualBox, VMware Workstation.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E7C9E"/>
                </a:solidFill>
                <a:latin typeface="Arial"/>
              </a:rPr>
              <a:t>VIRTUALIZATION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2433"/>
                </a:solidFill>
                <a:latin typeface="Arial"/>
              </a:rPr>
              <a:t>Why It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611880" cy="301752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E7C9E"/>
                </a:solidFill>
                <a:latin typeface="Arial"/>
              </a:rPr>
              <a:t>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31546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B5563"/>
                </a:solidFill>
                <a:latin typeface="Arial"/>
              </a:rPr>
              <a:t>One powerful server runs many workloads instead of sitting mostly idle - far less wasted money and electricity.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737360"/>
            <a:ext cx="3611880" cy="301752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96596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25A0B"/>
                </a:solidFill>
                <a:latin typeface="Arial"/>
              </a:rPr>
              <a:t>Isolation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514600"/>
            <a:ext cx="31546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B5563"/>
                </a:solidFill>
                <a:latin typeface="Arial"/>
              </a:rPr>
              <a:t>A crash or an attack inside one VM never affects the other VMs sharing the same machine.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1737360"/>
            <a:ext cx="3611880" cy="301752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03336" y="196596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E9060"/>
                </a:solidFill>
                <a:latin typeface="Arial"/>
              </a:rPr>
              <a:t>Speed &amp; flexibility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3336" y="2514600"/>
            <a:ext cx="31546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B5563"/>
                </a:solidFill>
                <a:latin typeface="Arial"/>
              </a:rPr>
              <a:t>A new 'server' is created in seconds and thrown away when you're done - no cables, no delivery trucks.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20640"/>
            <a:ext cx="10881360" cy="1005840"/>
          </a:xfrm>
          <a:prstGeom prst="roundRect">
            <a:avLst>
              <a:gd name="adj" fmla="val 9000"/>
            </a:avLst>
          </a:prstGeom>
          <a:solidFill>
            <a:srgbClr val="ECF5F7"/>
          </a:solidFill>
          <a:ln w="12700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A2433"/>
                </a:solidFill>
                <a:latin typeface="Arial"/>
              </a:rPr>
              <a:t>This is the foundation.</a:t>
            </a:r>
          </a:p>
          <a:p>
            <a:pPr algn="ctr"/>
            <a:r>
              <a:rPr sz="1350" b="1">
                <a:solidFill>
                  <a:srgbClr val="0E7C9E"/>
                </a:solidFill>
                <a:latin typeface="Arial"/>
              </a:rPr>
              <a:t>Virtualization is what makes cloud computing possible, fast, and affordable.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E7C9E"/>
                </a:solidFill>
                <a:latin typeface="Arial"/>
              </a:rPr>
              <a:t>CLOUD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2433"/>
                </a:solidFill>
                <a:latin typeface="Arial"/>
              </a:rPr>
              <a:t>What Is Cloud Computing?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642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dirty="0">
                <a:latin typeface="Arial"/>
              </a:rPr>
              <a:t>On-demand IT resources over the internet, pay-as-you-go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49240" cy="420624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99339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E7C9E"/>
                </a:solidFill>
                <a:latin typeface="Arial"/>
              </a:rPr>
              <a:t>The core idea</a:t>
            </a:r>
          </a:p>
        </p:txBody>
      </p:sp>
      <p:sp>
        <p:nvSpPr>
          <p:cNvPr id="8" name="Oval 7"/>
          <p:cNvSpPr/>
          <p:nvPr/>
        </p:nvSpPr>
        <p:spPr>
          <a:xfrm>
            <a:off x="850392" y="2688336"/>
            <a:ext cx="109728" cy="109728"/>
          </a:xfrm>
          <a:prstGeom prst="ellipse">
            <a:avLst/>
          </a:prstGeom>
          <a:solidFill>
            <a:srgbClr val="0E7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4617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1A2433"/>
                </a:solidFill>
                <a:latin typeface="Arial"/>
              </a:rPr>
              <a:t>Rent, don't buy - </a:t>
            </a:r>
            <a:r>
              <a:rPr sz="1300" b="0" dirty="0">
                <a:solidFill>
                  <a:srgbClr val="4B5563"/>
                </a:solidFill>
                <a:latin typeface="Arial"/>
              </a:rPr>
              <a:t>computing, storage and networking on demand instead of owning hardware</a:t>
            </a:r>
          </a:p>
        </p:txBody>
      </p:sp>
      <p:sp>
        <p:nvSpPr>
          <p:cNvPr id="10" name="Oval 9"/>
          <p:cNvSpPr/>
          <p:nvPr/>
        </p:nvSpPr>
        <p:spPr>
          <a:xfrm>
            <a:off x="850392" y="3785615"/>
            <a:ext cx="109728" cy="109728"/>
          </a:xfrm>
          <a:prstGeom prst="ellipse">
            <a:avLst/>
          </a:prstGeom>
          <a:solidFill>
            <a:srgbClr val="0E7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4617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2433"/>
                </a:solidFill>
                <a:latin typeface="Arial"/>
              </a:rPr>
              <a:t>Lives in data centres - </a:t>
            </a:r>
            <a:r>
              <a:rPr sz="1300" b="0">
                <a:solidFill>
                  <a:srgbClr val="4B5563"/>
                </a:solidFill>
                <a:latin typeface="Arial"/>
              </a:rPr>
              <a:t>resources sit in the provider's buildings and you reach them over the internet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" y="4882896"/>
            <a:ext cx="109728" cy="109728"/>
          </a:xfrm>
          <a:prstGeom prst="ellipse">
            <a:avLst/>
          </a:prstGeom>
          <a:solidFill>
            <a:srgbClr val="0E7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800600"/>
            <a:ext cx="4617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2433"/>
                </a:solidFill>
                <a:latin typeface="Arial"/>
              </a:rPr>
              <a:t>Pay as you go - </a:t>
            </a:r>
            <a:r>
              <a:rPr sz="1300" b="0">
                <a:solidFill>
                  <a:srgbClr val="4B5563"/>
                </a:solidFill>
                <a:latin typeface="Arial"/>
              </a:rPr>
              <a:t>pay only for what you use; scale up or down at any moment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783080"/>
            <a:ext cx="5349240" cy="420624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99339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E9060"/>
                </a:solidFill>
                <a:latin typeface="Arial"/>
              </a:rPr>
              <a:t>Key benefits</a:t>
            </a:r>
          </a:p>
        </p:txBody>
      </p:sp>
      <p:sp>
        <p:nvSpPr>
          <p:cNvPr id="16" name="Oval 15"/>
          <p:cNvSpPr/>
          <p:nvPr/>
        </p:nvSpPr>
        <p:spPr>
          <a:xfrm>
            <a:off x="6611112" y="2688336"/>
            <a:ext cx="109728" cy="109728"/>
          </a:xfrm>
          <a:prstGeom prst="ellipse">
            <a:avLst/>
          </a:prstGeom>
          <a:solidFill>
            <a:srgbClr val="0E9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2606040"/>
            <a:ext cx="4617720" cy="458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1A2433"/>
                </a:solidFill>
                <a:latin typeface="Arial"/>
              </a:rPr>
              <a:t>No upfront cost - </a:t>
            </a:r>
            <a:r>
              <a:rPr sz="1300" b="0" dirty="0">
                <a:solidFill>
                  <a:srgbClr val="4B5563"/>
                </a:solidFill>
                <a:latin typeface="Arial"/>
              </a:rPr>
              <a:t>big capital expenses become small monthly bills 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3785615"/>
            <a:ext cx="109728" cy="109728"/>
          </a:xfrm>
          <a:prstGeom prst="ellipse">
            <a:avLst/>
          </a:prstGeom>
          <a:solidFill>
            <a:srgbClr val="0E9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0" y="3703320"/>
            <a:ext cx="4617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1A2433"/>
                </a:solidFill>
                <a:latin typeface="Arial"/>
              </a:rPr>
              <a:t>Global in minutes - </a:t>
            </a:r>
            <a:r>
              <a:rPr sz="1300" b="0" dirty="0">
                <a:solidFill>
                  <a:srgbClr val="4B5563"/>
                </a:solidFill>
                <a:latin typeface="Arial"/>
              </a:rPr>
              <a:t>deploy near your users; capacity stretches to match demand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4882896"/>
            <a:ext cx="109728" cy="109728"/>
          </a:xfrm>
          <a:prstGeom prst="ellipse">
            <a:avLst/>
          </a:prstGeom>
          <a:solidFill>
            <a:srgbClr val="0E9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4800600"/>
            <a:ext cx="4617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2433"/>
                </a:solidFill>
                <a:latin typeface="Arial"/>
              </a:rPr>
              <a:t>Less to worry about - </a:t>
            </a:r>
            <a:r>
              <a:rPr sz="1300" b="0">
                <a:solidFill>
                  <a:srgbClr val="4B5563"/>
                </a:solidFill>
                <a:latin typeface="Arial"/>
              </a:rPr>
              <a:t>the provider handles the building, power, cooling and hardware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E7C9E"/>
                </a:solidFill>
                <a:latin typeface="Arial"/>
              </a:rPr>
              <a:t>CLOUD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2433"/>
                </a:solidFill>
                <a:latin typeface="Arial"/>
              </a:rPr>
              <a:t>Who Provides the Cloud?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642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dirty="0">
                <a:latin typeface="Arial"/>
              </a:rPr>
              <a:t>Three names you'll hear</a:t>
            </a:r>
            <a:r>
              <a:rPr lang="en-US" sz="1450" b="1" dirty="0">
                <a:latin typeface="Arial"/>
              </a:rPr>
              <a:t>.</a:t>
            </a:r>
            <a:r>
              <a:rPr sz="1450" b="1" dirty="0">
                <a:latin typeface="Arial"/>
              </a:rPr>
              <a:t>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611880" cy="2099733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A2433"/>
                </a:solidFill>
                <a:latin typeface="Arial"/>
              </a:rPr>
              <a:t>Amazon Web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3154680" cy="811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dirty="0">
                <a:latin typeface="Arial"/>
              </a:rPr>
              <a:t>The first major cloud provider (2006) and still the largest and most mature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828800"/>
            <a:ext cx="3611880" cy="2099733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210312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A2433"/>
                </a:solidFill>
                <a:latin typeface="Arial"/>
              </a:rPr>
              <a:t>Microsoft Azure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880360"/>
            <a:ext cx="3154680" cy="811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dirty="0">
                <a:latin typeface="Arial"/>
              </a:rPr>
              <a:t>Deep ties to Windows, Office 365 and Active Directory make it a natural fit for enterprise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828800"/>
            <a:ext cx="3611880" cy="2099733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03336" y="210312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A2433"/>
                </a:solidFill>
                <a:latin typeface="Arial"/>
              </a:rPr>
              <a:t>Google Cloud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2880360"/>
            <a:ext cx="3154680" cy="811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dirty="0">
                <a:latin typeface="Arial"/>
              </a:rPr>
              <a:t>Built on Google's own infrastructure, with standout strength in data, analytics and ML.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E7C9E"/>
                </a:solidFill>
                <a:latin typeface="Arial"/>
              </a:rPr>
              <a:t>CLOUD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2433"/>
                </a:solidFill>
                <a:latin typeface="Arial"/>
              </a:rPr>
              <a:t>Types of Cloud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642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dirty="0">
                <a:latin typeface="Arial"/>
              </a:rPr>
              <a:t>Where your resources live - and who shares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611880" cy="306324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38528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dirty="0">
                <a:solidFill>
                  <a:srgbClr val="0E7C9E"/>
                </a:solidFill>
                <a:latin typeface="Arial"/>
              </a:rPr>
              <a:t>Public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3154680" cy="781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dirty="0">
                <a:latin typeface="Arial"/>
              </a:rPr>
              <a:t>Shared infrastructure owned by a provider, open to everyone over the internet. Cheapest, fully managed.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rial"/>
              </a:rPr>
              <a:t>e.g. </a:t>
            </a:r>
            <a:r>
              <a:rPr sz="1150" b="1">
                <a:solidFill>
                  <a:srgbClr val="0E7C9E"/>
                </a:solidFill>
                <a:latin typeface="Arial"/>
              </a:rPr>
              <a:t>AWS, Azure, GCP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737360"/>
            <a:ext cx="3611880" cy="306324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938528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E25A0B"/>
                </a:solidFill>
                <a:latin typeface="Arial"/>
              </a:rPr>
              <a:t>Private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23160"/>
            <a:ext cx="3154680" cy="781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dirty="0">
                <a:latin typeface="Arial"/>
              </a:rPr>
              <a:t>Dedicated to a single </a:t>
            </a:r>
            <a:r>
              <a:rPr sz="1400" b="1" dirty="0" err="1">
                <a:latin typeface="Arial"/>
              </a:rPr>
              <a:t>organisation</a:t>
            </a:r>
            <a:r>
              <a:rPr sz="1400" b="1" dirty="0">
                <a:latin typeface="Arial"/>
              </a:rPr>
              <a:t> - maximum control and isolation, often for strict compliance.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420624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6B7280"/>
                </a:solidFill>
                <a:latin typeface="Arial"/>
              </a:rPr>
              <a:t>e.g. </a:t>
            </a:r>
            <a:r>
              <a:rPr sz="1150" b="1" dirty="0">
                <a:solidFill>
                  <a:srgbClr val="E25A0B"/>
                </a:solidFill>
                <a:latin typeface="Arial"/>
              </a:rPr>
              <a:t>VMware, OpenStack on-prem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737360"/>
            <a:ext cx="3611880" cy="306324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03336" y="1938528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0E9060"/>
                </a:solidFill>
                <a:latin typeface="Arial"/>
              </a:rPr>
              <a:t>Hybrid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2423160"/>
            <a:ext cx="3154680" cy="781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dirty="0">
                <a:latin typeface="Arial"/>
              </a:rPr>
              <a:t>A connected mix: keep sensitive data on-premises, burst to the public cloud for scale.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420624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rial"/>
              </a:rPr>
              <a:t>e.g. </a:t>
            </a:r>
            <a:r>
              <a:rPr sz="1150" b="1">
                <a:solidFill>
                  <a:srgbClr val="0E9060"/>
                </a:solidFill>
                <a:latin typeface="Arial"/>
              </a:rPr>
              <a:t>AWS Outposts, Azure Arc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20640"/>
            <a:ext cx="10881360" cy="114300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143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54864" rIns="274320" bIns="54864" rtlCol="0" anchor="ctr"/>
          <a:lstStyle/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7C3AED"/>
                </a:solidFill>
                <a:latin typeface="Arial"/>
              </a:rPr>
              <a:t>Bonus: multi-cloud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chemeClr val="tx1"/>
                </a:solidFill>
                <a:latin typeface="Arial"/>
              </a:rPr>
              <a:t>Using more than one public cloud at once (AWS + Azure) to avoid vendor lock-in and pick the best of each. Most companies start with ONE public cloud - hybrid and multi-cloud come later.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E1A85D-5A2A-E550-E537-D10C2D6208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13" b="12575"/>
          <a:stretch>
            <a:fillRect/>
          </a:stretch>
        </p:blipFill>
        <p:spPr>
          <a:xfrm>
            <a:off x="21" y="155749"/>
            <a:ext cx="12191979" cy="654650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8BE0C02-CBCA-69B2-5D32-1D724544D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793C6E-5AED-C496-FD41-BC65B3CA2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D26186-5427-98BC-4961-B55B6026B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0765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77700"/>
                </a:solidFill>
                <a:latin typeface="Arial"/>
              </a:rPr>
              <a:t>CLOUD SERVICE MODELS - CLASS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2433"/>
                </a:solidFill>
                <a:latin typeface="Arial"/>
              </a:rPr>
              <a:t>IaaS, PaaS, or SaaS? You Decide!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642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dirty="0">
                <a:latin typeface="Arial"/>
              </a:rPr>
              <a:t>Read each example, discuss with the class, then vote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49240" cy="178308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2433"/>
                </a:solidFill>
                <a:latin typeface="Arial"/>
              </a:rPr>
              <a:t>Amazon EC2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4846320" cy="457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dirty="0">
                <a:latin typeface="Arial"/>
              </a:rPr>
              <a:t>You rent a virtual machine and manage the OS, runtime and apps yourself.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10912" y="1947672"/>
            <a:ext cx="566928" cy="438912"/>
          </a:xfrm>
          <a:prstGeom prst="roundRect">
            <a:avLst>
              <a:gd name="adj" fmla="val 50000"/>
            </a:avLst>
          </a:prstGeom>
          <a:solidFill>
            <a:srgbClr val="F6E9D6"/>
          </a:solidFill>
          <a:ln w="9525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C77700"/>
                </a:solidFill>
                <a:latin typeface="Arial"/>
              </a:rPr>
              <a:t>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349240" cy="178308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65392" y="19659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2433"/>
                </a:solidFill>
                <a:latin typeface="Arial"/>
              </a:rPr>
              <a:t>AWS Elastic Beanstalk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441448"/>
            <a:ext cx="4846320" cy="457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dirty="0">
                <a:latin typeface="Arial"/>
              </a:rPr>
              <a:t>You upload your code - the platform manages servers, OS and runtime for you</a:t>
            </a:r>
            <a:r>
              <a:rPr sz="1250" b="0" dirty="0">
                <a:solidFill>
                  <a:srgbClr val="4B5563"/>
                </a:solidFill>
                <a:latin typeface="Arial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71632" y="1947672"/>
            <a:ext cx="566928" cy="438912"/>
          </a:xfrm>
          <a:prstGeom prst="roundRect">
            <a:avLst>
              <a:gd name="adj" fmla="val 50000"/>
            </a:avLst>
          </a:prstGeom>
          <a:solidFill>
            <a:srgbClr val="F6E9D6"/>
          </a:solidFill>
          <a:ln w="9525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C77700"/>
                </a:solidFill>
                <a:latin typeface="Arial"/>
              </a:rP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349240" cy="178308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931920"/>
            <a:ext cx="393192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dirty="0">
                <a:solidFill>
                  <a:srgbClr val="1A2433"/>
                </a:solidFill>
                <a:latin typeface="Arial"/>
              </a:rPr>
              <a:t>Google Workspace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407407"/>
            <a:ext cx="4846320" cy="457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dirty="0">
                <a:latin typeface="Arial"/>
              </a:rPr>
              <a:t>You just open the app in a browser - everything underneath is fully managed.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10912" y="3913631"/>
            <a:ext cx="566928" cy="438912"/>
          </a:xfrm>
          <a:prstGeom prst="roundRect">
            <a:avLst>
              <a:gd name="adj" fmla="val 50000"/>
            </a:avLst>
          </a:prstGeom>
          <a:solidFill>
            <a:srgbClr val="F6E9D6"/>
          </a:solidFill>
          <a:ln w="9525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C77700"/>
                </a:solidFill>
                <a:latin typeface="Arial"/>
              </a:rPr>
              <a:t>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49039"/>
            <a:ext cx="5349240" cy="178308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3931920"/>
            <a:ext cx="393192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1" dirty="0">
                <a:solidFill>
                  <a:srgbClr val="1A2433"/>
                </a:solidFill>
                <a:latin typeface="Arial"/>
              </a:rPr>
              <a:t>Gmail</a:t>
            </a:r>
            <a:endParaRPr sz="1450" b="1" dirty="0">
              <a:solidFill>
                <a:srgbClr val="1A2433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65392" y="4407407"/>
            <a:ext cx="4846320" cy="457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dirty="0">
                <a:latin typeface="Arial"/>
              </a:rPr>
              <a:t>You store and sync files - no servers, no setup, no maintenance at all.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71632" y="3913631"/>
            <a:ext cx="566928" cy="438912"/>
          </a:xfrm>
          <a:prstGeom prst="roundRect">
            <a:avLst>
              <a:gd name="adj" fmla="val 50000"/>
            </a:avLst>
          </a:prstGeom>
          <a:solidFill>
            <a:srgbClr val="F6E9D6"/>
          </a:solidFill>
          <a:ln w="9525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C77700"/>
                </a:solidFill>
                <a:latin typeface="Arial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92531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4B5563"/>
                </a:solidFill>
                <a:latin typeface="Arial"/>
              </a:rPr>
              <a:t>Your options: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0" y="5897880"/>
            <a:ext cx="1234440" cy="438912"/>
          </a:xfrm>
          <a:prstGeom prst="roundRect">
            <a:avLst>
              <a:gd name="adj" fmla="val 50000"/>
            </a:avLst>
          </a:prstGeom>
          <a:solidFill>
            <a:srgbClr val="D8EAEF"/>
          </a:solidFill>
          <a:ln w="9525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0E7C9E"/>
                </a:solidFill>
                <a:latin typeface="Arial"/>
              </a:rPr>
              <a:t>IaaS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60" y="5897880"/>
            <a:ext cx="1234440" cy="438912"/>
          </a:xfrm>
          <a:prstGeom prst="roundRect">
            <a:avLst>
              <a:gd name="adj" fmla="val 50000"/>
            </a:avLst>
          </a:prstGeom>
          <a:solidFill>
            <a:srgbClr val="FAE5D8"/>
          </a:solidFill>
          <a:ln w="9525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E25A0B"/>
                </a:solidFill>
                <a:latin typeface="Arial"/>
              </a:rPr>
              <a:t>PaaS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5897880"/>
            <a:ext cx="1234440" cy="438912"/>
          </a:xfrm>
          <a:prstGeom prst="roundRect">
            <a:avLst>
              <a:gd name="adj" fmla="val 50000"/>
            </a:avLst>
          </a:prstGeom>
          <a:solidFill>
            <a:srgbClr val="D8EDE6"/>
          </a:solidFill>
          <a:ln w="9525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0E9060"/>
                </a:solidFill>
                <a:latin typeface="Arial"/>
              </a:rPr>
              <a:t>SaaS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E9060"/>
                </a:solidFill>
                <a:latin typeface="Arial"/>
              </a:rPr>
              <a:t>CLOUD SERVICE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2433"/>
                </a:solidFill>
                <a:latin typeface="Arial"/>
              </a:rPr>
              <a:t>Here's the Answer!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642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dirty="0">
                <a:latin typeface="Arial"/>
              </a:rPr>
              <a:t>Check your guesses against the correct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49240" cy="178308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2433"/>
                </a:solidFill>
                <a:latin typeface="Arial"/>
              </a:rPr>
              <a:t>Amazon EC2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4846320" cy="457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dirty="0">
                <a:latin typeface="Arial"/>
              </a:rPr>
              <a:t>You rent a virtual machine and manage the OS, runtime and apps yourself.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79" y="1947672"/>
            <a:ext cx="868680" cy="438912"/>
          </a:xfrm>
          <a:prstGeom prst="roundRect">
            <a:avLst>
              <a:gd name="adj" fmla="val 50000"/>
            </a:avLst>
          </a:prstGeom>
          <a:solidFill>
            <a:srgbClr val="D8EAEF"/>
          </a:solidFill>
          <a:ln w="9525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0E7C9E"/>
                </a:solidFill>
                <a:latin typeface="Arial"/>
              </a:rPr>
              <a:t>IaaS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349240" cy="178308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65392" y="19659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2433"/>
                </a:solidFill>
                <a:latin typeface="Arial"/>
              </a:rPr>
              <a:t>AWS Elastic Beanstalk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441448"/>
            <a:ext cx="4846320" cy="457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50" b="1" dirty="0">
                <a:latin typeface="Arial"/>
              </a:rPr>
              <a:t>You upload your code - the platform manages servers, OS and runtime for you.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0" y="1947672"/>
            <a:ext cx="868680" cy="438912"/>
          </a:xfrm>
          <a:prstGeom prst="roundRect">
            <a:avLst>
              <a:gd name="adj" fmla="val 50000"/>
            </a:avLst>
          </a:prstGeom>
          <a:solidFill>
            <a:srgbClr val="FAE5D8"/>
          </a:solidFill>
          <a:ln w="9525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E25A0B"/>
                </a:solidFill>
                <a:latin typeface="Arial"/>
              </a:rPr>
              <a:t>PaaS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349240" cy="178308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9319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2433"/>
                </a:solidFill>
                <a:latin typeface="Arial"/>
              </a:rPr>
              <a:t>Gmail / Google Workspace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407407"/>
            <a:ext cx="4846320" cy="457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50" b="1" dirty="0">
                <a:latin typeface="Arial"/>
              </a:rPr>
              <a:t>You just open the app in a browser - everything underneath is fully managed.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79" y="3913631"/>
            <a:ext cx="868680" cy="438912"/>
          </a:xfrm>
          <a:prstGeom prst="roundRect">
            <a:avLst>
              <a:gd name="adj" fmla="val 50000"/>
            </a:avLst>
          </a:prstGeom>
          <a:solidFill>
            <a:srgbClr val="D8EDE6"/>
          </a:solidFill>
          <a:ln w="9525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0E9060"/>
                </a:solidFill>
                <a:latin typeface="Arial"/>
              </a:rPr>
              <a:t>SaaS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49039"/>
            <a:ext cx="5349240" cy="178308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39319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2433"/>
                </a:solidFill>
                <a:latin typeface="Arial"/>
              </a:rPr>
              <a:t>Dropbox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4407407"/>
            <a:ext cx="4846320" cy="457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50" b="1" dirty="0">
                <a:latin typeface="Arial"/>
              </a:rPr>
              <a:t>You store and sync files - no servers, no setup, no maintenance at all.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0" y="3913631"/>
            <a:ext cx="868680" cy="438912"/>
          </a:xfrm>
          <a:prstGeom prst="roundRect">
            <a:avLst>
              <a:gd name="adj" fmla="val 50000"/>
            </a:avLst>
          </a:prstGeom>
          <a:solidFill>
            <a:srgbClr val="D8EDE6"/>
          </a:solidFill>
          <a:ln w="9525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0E9060"/>
                </a:solidFill>
                <a:latin typeface="Arial"/>
              </a:rPr>
              <a:t>SaaS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92531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4B5563"/>
                </a:solidFill>
                <a:latin typeface="Arial"/>
              </a:rPr>
              <a:t>Your options: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0" y="5897880"/>
            <a:ext cx="1234440" cy="438912"/>
          </a:xfrm>
          <a:prstGeom prst="roundRect">
            <a:avLst>
              <a:gd name="adj" fmla="val 50000"/>
            </a:avLst>
          </a:prstGeom>
          <a:solidFill>
            <a:srgbClr val="D8EAEF"/>
          </a:solidFill>
          <a:ln w="9525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0E7C9E"/>
                </a:solidFill>
                <a:latin typeface="Arial"/>
              </a:rPr>
              <a:t>IaaS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60" y="5897880"/>
            <a:ext cx="1234440" cy="438912"/>
          </a:xfrm>
          <a:prstGeom prst="roundRect">
            <a:avLst>
              <a:gd name="adj" fmla="val 50000"/>
            </a:avLst>
          </a:prstGeom>
          <a:solidFill>
            <a:srgbClr val="FAE5D8"/>
          </a:solidFill>
          <a:ln w="9525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E25A0B"/>
                </a:solidFill>
                <a:latin typeface="Arial"/>
              </a:rPr>
              <a:t>PaaS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5897880"/>
            <a:ext cx="1234440" cy="438912"/>
          </a:xfrm>
          <a:prstGeom prst="roundRect">
            <a:avLst>
              <a:gd name="adj" fmla="val 50000"/>
            </a:avLst>
          </a:prstGeom>
          <a:solidFill>
            <a:srgbClr val="D8EDE6"/>
          </a:solidFill>
          <a:ln w="9525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0E9060"/>
                </a:solidFill>
                <a:latin typeface="Arial"/>
              </a:rPr>
              <a:t>SaaS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77700"/>
                </a:solidFill>
                <a:latin typeface="Arial"/>
              </a:rPr>
              <a:t>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dirty="0">
                <a:solidFill>
                  <a:srgbClr val="1A2433"/>
                </a:solidFill>
                <a:latin typeface="Arial"/>
              </a:rPr>
              <a:t>Why Choose AWS?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642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dirty="0">
                <a:latin typeface="Arial"/>
              </a:rPr>
              <a:t>What makes it the market leader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49240" cy="192024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8424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C77700"/>
                </a:solidFill>
                <a:latin typeface="Arial"/>
              </a:rPr>
              <a:t>Market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68880"/>
            <a:ext cx="4846320" cy="457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dirty="0">
                <a:latin typeface="Arial"/>
              </a:rPr>
              <a:t>First major cloud provider (2006) and still the largest - the most mature, battle-tested platform.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349240" cy="192024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5392" y="198424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0E7C9E"/>
                </a:solidFill>
                <a:latin typeface="Arial"/>
              </a:rPr>
              <a:t>Breadth of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468880"/>
            <a:ext cx="4846320" cy="697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dirty="0">
                <a:latin typeface="Arial"/>
              </a:rPr>
              <a:t>200+ services across compute, storage, databases, AI/ML and analytics - almost anything already exists as a managed service</a:t>
            </a:r>
            <a:r>
              <a:rPr sz="1250" b="0" dirty="0">
                <a:solidFill>
                  <a:srgbClr val="4B5563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5349240" cy="192024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408736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0E9060"/>
                </a:solidFill>
                <a:latin typeface="Arial"/>
              </a:rPr>
              <a:t>Global footprint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572000"/>
            <a:ext cx="4846320" cy="457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250" b="1" dirty="0">
                <a:latin typeface="Arial"/>
              </a:rPr>
              <a:t>Dozens of Regions and Availability Zones worldwide - deploy close to users for low latency and local data rules.</a:t>
            </a:r>
            <a:endParaRPr sz="1250" b="1" dirty="0">
              <a:latin typeface="Arial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09360" y="3886200"/>
            <a:ext cx="5349240" cy="192024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65392" y="408736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7C3AED"/>
                </a:solidFill>
                <a:latin typeface="Arial"/>
              </a:rPr>
              <a:t>Ecosystem &amp; 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4572000"/>
            <a:ext cx="4846320" cy="457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50" b="1" dirty="0">
                <a:latin typeface="Arial"/>
              </a:rPr>
              <a:t>Huge community, deep documentation, respected certifications, pay-as-you-go pricing and a generous free tier.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6B7280"/>
                </a:solidFill>
                <a:latin typeface="Arial"/>
              </a:rPr>
              <a:t>This course uses AWS for all hands-on work - but the concepts transfer to any cloud.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E7C9E"/>
                </a:solidFill>
                <a:latin typeface="Arial"/>
              </a:rPr>
              <a:t>THE ROAD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2433"/>
                </a:solidFill>
                <a:latin typeface="Arial"/>
              </a:rPr>
              <a:t>What We'll Learn in This Course (and more!)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349240" cy="196596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947672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E7C9E"/>
                </a:solidFill>
                <a:latin typeface="Arial"/>
              </a:rPr>
              <a:t>Compute &amp; scaling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2404872"/>
            <a:ext cx="460857" cy="457200"/>
          </a:xfrm>
          <a:prstGeom prst="roundRect">
            <a:avLst>
              <a:gd name="adj" fmla="val 50000"/>
            </a:avLst>
          </a:prstGeom>
          <a:solidFill>
            <a:srgbClr val="D8EAEF"/>
          </a:solidFill>
          <a:ln w="9525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0E7C9E"/>
                </a:solidFill>
                <a:latin typeface="Arial"/>
              </a:rPr>
              <a:t>EC2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30121" y="2404872"/>
            <a:ext cx="943660" cy="457200"/>
          </a:xfrm>
          <a:prstGeom prst="roundRect">
            <a:avLst>
              <a:gd name="adj" fmla="val 50000"/>
            </a:avLst>
          </a:prstGeom>
          <a:solidFill>
            <a:srgbClr val="D8EAEF"/>
          </a:solidFill>
          <a:ln w="9525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0E7C9E"/>
                </a:solidFill>
                <a:latin typeface="Arial"/>
              </a:rPr>
              <a:t>ECS / ECR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38374" y="2404872"/>
            <a:ext cx="702259" cy="457200"/>
          </a:xfrm>
          <a:prstGeom prst="roundRect">
            <a:avLst>
              <a:gd name="adj" fmla="val 50000"/>
            </a:avLst>
          </a:prstGeom>
          <a:solidFill>
            <a:srgbClr val="D8EAEF"/>
          </a:solidFill>
          <a:ln w="9525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0E7C9E"/>
                </a:solidFill>
                <a:latin typeface="Arial"/>
              </a:rPr>
              <a:t>Lambda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2971800"/>
            <a:ext cx="1185062" cy="457200"/>
          </a:xfrm>
          <a:prstGeom prst="roundRect">
            <a:avLst>
              <a:gd name="adj" fmla="val 50000"/>
            </a:avLst>
          </a:prstGeom>
          <a:solidFill>
            <a:srgbClr val="D8EAEF"/>
          </a:solidFill>
          <a:ln w="9525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0E7C9E"/>
                </a:solidFill>
                <a:latin typeface="Arial"/>
              </a:rPr>
              <a:t>Auto Scaling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4681" y="2414014"/>
            <a:ext cx="460857" cy="457200"/>
          </a:xfrm>
          <a:prstGeom prst="roundRect">
            <a:avLst>
              <a:gd name="adj" fmla="val 50000"/>
            </a:avLst>
          </a:prstGeom>
          <a:solidFill>
            <a:srgbClr val="D8EAEF"/>
          </a:solidFill>
          <a:ln w="9525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0E7C9E"/>
                </a:solidFill>
                <a:latin typeface="Arial"/>
              </a:rPr>
              <a:t>ELB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83080"/>
            <a:ext cx="5349240" cy="196596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1947672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25A0B"/>
                </a:solidFill>
                <a:latin typeface="Arial"/>
              </a:rPr>
              <a:t>Storage &amp; databases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65392" y="2404872"/>
            <a:ext cx="380390" cy="457200"/>
          </a:xfrm>
          <a:prstGeom prst="roundRect">
            <a:avLst>
              <a:gd name="adj" fmla="val 50000"/>
            </a:avLst>
          </a:prstGeom>
          <a:solidFill>
            <a:srgbClr val="FAE5D8"/>
          </a:solidFill>
          <a:ln w="9525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E25A0B"/>
                </a:solidFill>
                <a:latin typeface="Arial"/>
              </a:rPr>
              <a:t>S3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10374" y="2404872"/>
            <a:ext cx="460857" cy="457200"/>
          </a:xfrm>
          <a:prstGeom prst="roundRect">
            <a:avLst>
              <a:gd name="adj" fmla="val 50000"/>
            </a:avLst>
          </a:prstGeom>
          <a:solidFill>
            <a:srgbClr val="FAE5D8"/>
          </a:solidFill>
          <a:ln w="9525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E25A0B"/>
                </a:solidFill>
                <a:latin typeface="Arial"/>
              </a:rPr>
              <a:t>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35824" y="2404872"/>
            <a:ext cx="702259" cy="457200"/>
          </a:xfrm>
          <a:prstGeom prst="roundRect">
            <a:avLst>
              <a:gd name="adj" fmla="val 50000"/>
            </a:avLst>
          </a:prstGeom>
          <a:solidFill>
            <a:srgbClr val="FAE5D8"/>
          </a:solidFill>
          <a:ln w="9525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E25A0B"/>
                </a:solidFill>
                <a:latin typeface="Arial"/>
              </a:rPr>
              <a:t>Aurora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02675" y="2404872"/>
            <a:ext cx="863193" cy="457200"/>
          </a:xfrm>
          <a:prstGeom prst="roundRect">
            <a:avLst>
              <a:gd name="adj" fmla="val 50000"/>
            </a:avLst>
          </a:prstGeom>
          <a:solidFill>
            <a:srgbClr val="FAE5D8"/>
          </a:solidFill>
          <a:ln w="9525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E25A0B"/>
                </a:solidFill>
                <a:latin typeface="Arial"/>
              </a:rPr>
              <a:t>DynamoDB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30460" y="2404872"/>
            <a:ext cx="1104595" cy="457200"/>
          </a:xfrm>
          <a:prstGeom prst="roundRect">
            <a:avLst>
              <a:gd name="adj" fmla="val 50000"/>
            </a:avLst>
          </a:prstGeom>
          <a:solidFill>
            <a:srgbClr val="FAE5D8"/>
          </a:solidFill>
          <a:ln w="9525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E25A0B"/>
                </a:solidFill>
                <a:latin typeface="Arial"/>
              </a:rPr>
              <a:t>ElastiCache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04681" y="3931920"/>
            <a:ext cx="5349240" cy="196596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3756355" y="4093463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7C3AED"/>
                </a:solidFill>
                <a:latin typeface="Arial"/>
              </a:rPr>
              <a:t>Security, ops &amp; delivery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32259" y="4553712"/>
            <a:ext cx="460857" cy="457200"/>
          </a:xfrm>
          <a:prstGeom prst="roundRect">
            <a:avLst>
              <a:gd name="adj" fmla="val 50000"/>
            </a:avLst>
          </a:prstGeom>
          <a:solidFill>
            <a:srgbClr val="EADFFC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7C3AED"/>
                </a:solidFill>
                <a:latin typeface="Arial"/>
              </a:rPr>
              <a:t>IAM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8366" y="4561332"/>
            <a:ext cx="863193" cy="457200"/>
          </a:xfrm>
          <a:prstGeom prst="roundRect">
            <a:avLst>
              <a:gd name="adj" fmla="val 50000"/>
            </a:avLst>
          </a:prstGeom>
          <a:solidFill>
            <a:srgbClr val="EADFFC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7C3AED"/>
                </a:solidFill>
                <a:latin typeface="Arial"/>
              </a:rPr>
              <a:t>Route 53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08076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6B7280"/>
                </a:solidFill>
                <a:latin typeface="Arial"/>
              </a:rPr>
              <a:t>Don't memorise these now - by the end of the course each name will feel like an old friend.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77700"/>
                </a:solidFill>
                <a:latin typeface="Arial"/>
              </a:rPr>
              <a:t>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2433"/>
                </a:solidFill>
                <a:latin typeface="Arial"/>
              </a:rPr>
              <a:t>AWS Global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642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dirty="0">
                <a:latin typeface="Arial"/>
              </a:rPr>
              <a:t>Four building blocks, from biggest to smallest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0881360" cy="86868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98424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D8EAEF"/>
          </a:solidFill>
          <a:ln w="9525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0E7C9E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92807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0E7C9E"/>
                </a:solidFill>
                <a:latin typeface="Arial"/>
              </a:rPr>
              <a:t>Regions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120777"/>
            <a:ext cx="6400800" cy="2024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dirty="0">
                <a:latin typeface="Arial"/>
              </a:rPr>
              <a:t>separate geographic areas around the world (us-east-1, eu-west-3, ...)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70632"/>
            <a:ext cx="10881360" cy="86868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97180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D8EDE6"/>
          </a:solidFill>
          <a:ln w="9525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0E9060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803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0E9060"/>
                </a:solidFill>
                <a:latin typeface="Arial"/>
              </a:rPr>
              <a:t>Availability Zones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108330"/>
            <a:ext cx="6400800" cy="2024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dirty="0">
                <a:latin typeface="Arial"/>
              </a:rPr>
              <a:t>isolated clusters of data centers inside each region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58184"/>
            <a:ext cx="10881360" cy="86868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77240" y="395935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AE5D8"/>
          </a:solidFill>
          <a:ln w="9525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E25A0B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86791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E25A0B"/>
                </a:solidFill>
                <a:latin typeface="Arial"/>
              </a:rPr>
              <a:t>Data Centers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095882"/>
            <a:ext cx="6400800" cy="2024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dirty="0">
                <a:latin typeface="Arial"/>
              </a:rPr>
              <a:t>the actual buildings full of servers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45736"/>
            <a:ext cx="10881360" cy="86868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77240" y="494690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EADFFC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972495"/>
            <a:ext cx="329184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dirty="0">
                <a:solidFill>
                  <a:srgbClr val="7C3AED"/>
                </a:solidFill>
                <a:latin typeface="Arial"/>
              </a:rPr>
              <a:t>Edge Locations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5083434"/>
            <a:ext cx="6400800" cy="2024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 dirty="0">
                <a:latin typeface="Arial"/>
              </a:rPr>
              <a:t>small sites in 90+ cities that cache content close to users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77700"/>
                </a:solidFill>
                <a:latin typeface="Arial"/>
              </a:rPr>
              <a:t>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2433"/>
                </a:solidFill>
                <a:latin typeface="Arial"/>
              </a:rPr>
              <a:t>How to Choose an AWS Region?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642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dirty="0">
                <a:latin typeface="Arial"/>
              </a:rPr>
              <a:t>Launching a new application - where should it live?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49240" cy="1874519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02996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0E7C9E"/>
                </a:solidFill>
                <a:latin typeface="Arial"/>
              </a:rPr>
              <a:t>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87168"/>
            <a:ext cx="4846320" cy="457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dirty="0">
                <a:latin typeface="Arial"/>
              </a:rPr>
              <a:t>Data governance and legal requirements - data never leaves a region without your explicit permission.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349240" cy="1874519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5392" y="202996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0E9060"/>
                </a:solidFill>
                <a:latin typeface="Arial"/>
              </a:rPr>
              <a:t>Proximity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487168"/>
            <a:ext cx="4846320" cy="457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50" b="1" dirty="0">
                <a:latin typeface="Arial"/>
              </a:rPr>
              <a:t>Closer to your customers = lower latency. Users in Cairo? Prefer a nearby region.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5349240" cy="1874519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408736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E25A0B"/>
                </a:solidFill>
                <a:latin typeface="Arial"/>
              </a:rPr>
              <a:t>Available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544568"/>
            <a:ext cx="4846320" cy="457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50" b="1" dirty="0">
                <a:latin typeface="Arial"/>
              </a:rPr>
              <a:t>New services and features don't arrive in every region at once - check yours has what you need.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886200"/>
            <a:ext cx="5349240" cy="1874519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65392" y="408736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7C3AED"/>
                </a:solidFill>
                <a:latin typeface="Arial"/>
              </a:rPr>
              <a:t>Pricing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4544568"/>
            <a:ext cx="4846320" cy="457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50" b="1" dirty="0">
                <a:latin typeface="Arial"/>
              </a:rPr>
              <a:t>Prices differ from region to region and are fully transparent on each service's pricing page.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893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6B7280"/>
                </a:solidFill>
                <a:latin typeface="Arial"/>
              </a:rPr>
              <a:t>The four questions to ask, in order: is it legal? is it close? does it have my services? what does it cost?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77700"/>
                </a:solidFill>
                <a:latin typeface="Arial"/>
              </a:rPr>
              <a:t>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2433"/>
                </a:solidFill>
                <a:latin typeface="Arial"/>
              </a:rPr>
              <a:t>Availability Zones (AZs)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6035040" cy="932688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2130552"/>
            <a:ext cx="128016" cy="128016"/>
          </a:xfrm>
          <a:prstGeom prst="ellipse">
            <a:avLst/>
          </a:prstGeom>
          <a:solidFill>
            <a:srgbClr val="0E9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5303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2433"/>
                </a:solidFill>
                <a:latin typeface="Arial"/>
              </a:rPr>
              <a:t>Several per region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221991"/>
            <a:ext cx="53035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latin typeface="Arial"/>
              </a:rPr>
              <a:t>usually 3 zones - minimum 3, maximum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98063"/>
            <a:ext cx="6035040" cy="932688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" y="3191256"/>
            <a:ext cx="128016" cy="128016"/>
          </a:xfrm>
          <a:prstGeom prst="ellipse">
            <a:avLst/>
          </a:prstGeom>
          <a:solidFill>
            <a:srgbClr val="0E9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2935223"/>
            <a:ext cx="5303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2433"/>
                </a:solidFill>
                <a:latin typeface="Arial"/>
              </a:rPr>
              <a:t>One or more data centers 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82696"/>
            <a:ext cx="53035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dirty="0">
                <a:latin typeface="Arial"/>
              </a:rPr>
              <a:t>with redundant power, networking and connectivity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58768"/>
            <a:ext cx="6035040" cy="932688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" y="4251959"/>
            <a:ext cx="128016" cy="128016"/>
          </a:xfrm>
          <a:prstGeom prst="ellipse">
            <a:avLst/>
          </a:prstGeom>
          <a:solidFill>
            <a:srgbClr val="0E9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3995928"/>
            <a:ext cx="5303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2433"/>
                </a:solidFill>
                <a:latin typeface="Arial"/>
              </a:rPr>
              <a:t>Physically separated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343400"/>
            <a:ext cx="53035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dirty="0">
                <a:latin typeface="Arial"/>
              </a:rPr>
              <a:t>far enough apart to be isolated from disasters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19472"/>
            <a:ext cx="6035040" cy="932688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60" y="5312664"/>
            <a:ext cx="128016" cy="128016"/>
          </a:xfrm>
          <a:prstGeom prst="ellipse">
            <a:avLst/>
          </a:prstGeom>
          <a:solidFill>
            <a:srgbClr val="0E9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5056632"/>
            <a:ext cx="5303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2433"/>
                </a:solidFill>
                <a:latin typeface="Arial"/>
              </a:rPr>
              <a:t>Tightly connected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404104"/>
            <a:ext cx="53035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dirty="0">
                <a:latin typeface="Arial"/>
              </a:rPr>
              <a:t>high-bandwidth, ultra-low-latency private links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1737360"/>
            <a:ext cx="4709160" cy="4206240"/>
          </a:xfrm>
          <a:prstGeom prst="roundRect">
            <a:avLst>
              <a:gd name="adj" fmla="val 9000"/>
            </a:avLst>
          </a:prstGeom>
          <a:solidFill>
            <a:srgbClr val="F1F4F9"/>
          </a:solidFill>
          <a:ln w="15875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1920240"/>
            <a:ext cx="4709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E7C9E"/>
                </a:solidFill>
                <a:latin typeface="Arial"/>
              </a:rPr>
              <a:t>AWS Region</a:t>
            </a:r>
          </a:p>
          <a:p>
            <a:pPr algn="ctr"/>
            <a:r>
              <a:rPr sz="1150" b="0">
                <a:solidFill>
                  <a:srgbClr val="4B5563"/>
                </a:solidFill>
                <a:latin typeface="Arial"/>
              </a:rPr>
              <a:t>Sydney: ap-southeast-2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2697480"/>
            <a:ext cx="1920240" cy="960120"/>
          </a:xfrm>
          <a:prstGeom prst="roundRect">
            <a:avLst>
              <a:gd name="adj" fmla="val 9000"/>
            </a:avLst>
          </a:prstGeom>
          <a:solidFill>
            <a:srgbClr val="E7F4EF"/>
          </a:solidFill>
          <a:ln w="11430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0E9060"/>
                </a:solidFill>
                <a:latin typeface="Arial"/>
              </a:rPr>
              <a:t>ap-southeast-2a</a:t>
            </a:r>
          </a:p>
          <a:p>
            <a:pPr algn="ctr"/>
            <a:r>
              <a:rPr sz="1050" b="0">
                <a:solidFill>
                  <a:srgbClr val="4B5563"/>
                </a:solidFill>
                <a:latin typeface="Arial"/>
              </a:rPr>
              <a:t>data centers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4206240"/>
            <a:ext cx="1920240" cy="960120"/>
          </a:xfrm>
          <a:prstGeom prst="roundRect">
            <a:avLst>
              <a:gd name="adj" fmla="val 9000"/>
            </a:avLst>
          </a:prstGeom>
          <a:solidFill>
            <a:srgbClr val="E7F4EF"/>
          </a:solidFill>
          <a:ln w="11430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0E9060"/>
                </a:solidFill>
                <a:latin typeface="Arial"/>
              </a:rPr>
              <a:t>ap-southeast-2b</a:t>
            </a:r>
          </a:p>
          <a:p>
            <a:pPr algn="ctr"/>
            <a:r>
              <a:rPr sz="1050" b="0">
                <a:solidFill>
                  <a:srgbClr val="4B5563"/>
                </a:solidFill>
                <a:latin typeface="Arial"/>
              </a:rPr>
              <a:t>data centers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4206240"/>
            <a:ext cx="1920240" cy="960120"/>
          </a:xfrm>
          <a:prstGeom prst="roundRect">
            <a:avLst>
              <a:gd name="adj" fmla="val 9000"/>
            </a:avLst>
          </a:prstGeom>
          <a:solidFill>
            <a:srgbClr val="E7F4EF"/>
          </a:solidFill>
          <a:ln w="11430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0E9060"/>
                </a:solidFill>
                <a:latin typeface="Arial"/>
              </a:rPr>
              <a:t>ap-southeast-2c</a:t>
            </a:r>
          </a:p>
          <a:p>
            <a:pPr algn="ctr"/>
            <a:r>
              <a:rPr sz="1050" b="0">
                <a:solidFill>
                  <a:srgbClr val="4B5563"/>
                </a:solidFill>
                <a:latin typeface="Arial"/>
              </a:rPr>
              <a:t>data centers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8229600" y="3657600"/>
            <a:ext cx="685800" cy="548640"/>
          </a:xfrm>
          <a:prstGeom prst="line">
            <a:avLst/>
          </a:prstGeom>
          <a:ln w="15875">
            <a:solidFill>
              <a:srgbClr val="0E9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01200" y="3657600"/>
            <a:ext cx="777240" cy="548640"/>
          </a:xfrm>
          <a:prstGeom prst="line">
            <a:avLst/>
          </a:prstGeom>
          <a:ln w="15875">
            <a:solidFill>
              <a:srgbClr val="0E9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89720" y="4681728"/>
            <a:ext cx="228600" cy="0"/>
          </a:xfrm>
          <a:prstGeom prst="line">
            <a:avLst/>
          </a:prstGeom>
          <a:ln w="15875">
            <a:solidFill>
              <a:srgbClr val="0E9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77700"/>
                </a:solidFill>
                <a:latin typeface="Arial"/>
              </a:rPr>
              <a:t>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2433"/>
                </a:solidFill>
                <a:latin typeface="Arial"/>
              </a:rPr>
              <a:t>Points of Presence (Edge Locations)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642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dirty="0">
                <a:latin typeface="Arial"/>
              </a:rPr>
              <a:t>Tiny AWS sites everywhere, so content reaches users fast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2606040" cy="173736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>
                <a:solidFill>
                  <a:srgbClr val="0E7C9E"/>
                </a:solidFill>
                <a:latin typeface="Arial"/>
              </a:rPr>
              <a:t>400+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4B5563"/>
                </a:solidFill>
                <a:latin typeface="Arial"/>
              </a:rPr>
              <a:t>Edge Locations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1874519"/>
            <a:ext cx="2606040" cy="173736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0128" y="214884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>
                <a:solidFill>
                  <a:srgbClr val="0E9060"/>
                </a:solidFill>
                <a:latin typeface="Arial"/>
              </a:rPr>
              <a:t>10+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301752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4B5563"/>
                </a:solidFill>
                <a:latin typeface="Arial"/>
              </a:rPr>
              <a:t>Regional Caches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1874519"/>
            <a:ext cx="2606040" cy="173736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71616" y="214884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>
                <a:solidFill>
                  <a:srgbClr val="E25A0B"/>
                </a:solidFill>
                <a:latin typeface="Arial"/>
              </a:rPr>
              <a:t>90+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71616" y="301752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4B5563"/>
                </a:solidFill>
                <a:latin typeface="Arial"/>
              </a:rPr>
              <a:t>cities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33104" y="1874519"/>
            <a:ext cx="2606040" cy="173736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33104" y="214884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>
                <a:solidFill>
                  <a:srgbClr val="7C3AED"/>
                </a:solidFill>
                <a:latin typeface="Arial"/>
              </a:rPr>
              <a:t>40+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301752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4B5563"/>
                </a:solidFill>
                <a:latin typeface="Arial"/>
              </a:rPr>
              <a:t>countries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69080"/>
            <a:ext cx="10881360" cy="123444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54864" rIns="292608" bIns="54864" rtlCol="0" anchor="ctr"/>
          <a:lstStyle/>
          <a:p>
            <a:pPr algn="l">
              <a:spcAft>
                <a:spcPts val="500"/>
              </a:spcAft>
            </a:pPr>
            <a:r>
              <a:rPr sz="1400" b="1" dirty="0">
                <a:solidFill>
                  <a:schemeClr val="tx1"/>
                </a:solidFill>
                <a:latin typeface="Arial"/>
              </a:rPr>
              <a:t>What they're for</a:t>
            </a:r>
          </a:p>
          <a:p>
            <a:pPr algn="l">
              <a:lnSpc>
                <a:spcPct val="125000"/>
              </a:lnSpc>
            </a:pPr>
            <a:r>
              <a:rPr sz="1300" b="1" dirty="0">
                <a:solidFill>
                  <a:schemeClr val="tx1"/>
                </a:solidFill>
                <a:latin typeface="Arial"/>
              </a:rPr>
              <a:t>Popular content (videos, images, downloads) is cached at the edge, physically near the user - so it's delivered with much lower latency. This is how CloudFront (AWS's CDN) works.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62356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6B7280"/>
                </a:solidFill>
                <a:latin typeface="Arial"/>
              </a:rPr>
              <a:t>Regions run your applications - edge locations deliver your content.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77700"/>
                </a:solidFill>
                <a:latin typeface="Arial"/>
              </a:rPr>
              <a:t>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2433"/>
                </a:solidFill>
                <a:latin typeface="Arial"/>
              </a:rPr>
              <a:t>The Shared Responsibility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642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4B5563"/>
                </a:solidFill>
                <a:latin typeface="Arial"/>
              </a:rPr>
              <a:t>Security is a partnership - each side owns a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377440" cy="2194560"/>
          </a:xfrm>
          <a:prstGeom prst="roundRect">
            <a:avLst>
              <a:gd name="adj" fmla="val 9000"/>
            </a:avLst>
          </a:prstGeom>
          <a:solidFill>
            <a:srgbClr val="E2EFF3"/>
          </a:solidFill>
          <a:ln w="12700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2103120" cy="468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E7C9E"/>
                </a:solidFill>
                <a:latin typeface="Arial"/>
              </a:rPr>
              <a:t>CUSTOMER</a:t>
            </a:r>
          </a:p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4B5563"/>
                </a:solidFill>
                <a:latin typeface="Arial"/>
              </a:rPr>
              <a:t>security IN the cloud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737360"/>
            <a:ext cx="8321040" cy="475488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7620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/>
            <a:r>
              <a:rPr sz="1150" b="1" dirty="0">
                <a:solidFill>
                  <a:srgbClr val="1A2433"/>
                </a:solidFill>
                <a:latin typeface="Arial"/>
              </a:rPr>
              <a:t>Customer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313432"/>
            <a:ext cx="8321040" cy="475488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7620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/>
            <a:r>
              <a:rPr sz="1150" b="1">
                <a:solidFill>
                  <a:srgbClr val="1A2433"/>
                </a:solidFill>
                <a:latin typeface="Arial"/>
              </a:rPr>
              <a:t>Apps, platform, IAM (users &amp; permissions)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889503"/>
            <a:ext cx="8321040" cy="475488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7620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/>
            <a:r>
              <a:rPr sz="1150" b="1">
                <a:solidFill>
                  <a:srgbClr val="1A2433"/>
                </a:solidFill>
                <a:latin typeface="Arial"/>
              </a:rPr>
              <a:t>OS, network &amp; firewall configuration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3465575"/>
            <a:ext cx="8321040" cy="475488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7620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/>
            <a:r>
              <a:rPr sz="1150" b="1">
                <a:solidFill>
                  <a:srgbClr val="1A2433"/>
                </a:solidFill>
                <a:latin typeface="Arial"/>
              </a:rPr>
              <a:t>Encryption - client side, server side, in transit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69080"/>
            <a:ext cx="2377440" cy="2194560"/>
          </a:xfrm>
          <a:prstGeom prst="roundRect">
            <a:avLst>
              <a:gd name="adj" fmla="val 9000"/>
            </a:avLst>
          </a:prstGeom>
          <a:solidFill>
            <a:srgbClr val="F8EFE0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3" name="TextBox 12"/>
          <p:cNvSpPr txBox="1"/>
          <p:nvPr/>
        </p:nvSpPr>
        <p:spPr>
          <a:xfrm>
            <a:off x="685800" y="4480560"/>
            <a:ext cx="2103120" cy="468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77700"/>
                </a:solidFill>
                <a:latin typeface="Arial"/>
              </a:rPr>
              <a:t>AWS</a:t>
            </a:r>
          </a:p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4B5563"/>
                </a:solidFill>
                <a:latin typeface="Arial"/>
              </a:rPr>
              <a:t>security OF the cloud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4160520"/>
            <a:ext cx="8321040" cy="475488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762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/>
            <a:r>
              <a:rPr sz="1150" b="1">
                <a:solidFill>
                  <a:srgbClr val="1A2433"/>
                </a:solidFill>
                <a:latin typeface="Arial"/>
              </a:rPr>
              <a:t>Software - compute, storage, database, networking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4736592"/>
            <a:ext cx="8321040" cy="475488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762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/>
            <a:r>
              <a:rPr sz="1150" b="1">
                <a:solidFill>
                  <a:srgbClr val="1A2433"/>
                </a:solidFill>
                <a:latin typeface="Arial"/>
              </a:rPr>
              <a:t>Hardware - the physical servers and equipment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5312664"/>
            <a:ext cx="8321040" cy="475488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762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/>
            <a:r>
              <a:rPr sz="1150" b="1">
                <a:solidFill>
                  <a:srgbClr val="1A2433"/>
                </a:solidFill>
                <a:latin typeface="Arial"/>
              </a:rPr>
              <a:t>Global infrastructure - regions, AZs, edge locations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80760"/>
            <a:ext cx="1088136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>
                <a:solidFill>
                  <a:srgbClr val="6B7280"/>
                </a:solidFill>
                <a:latin typeface="Arial"/>
              </a:rPr>
              <a:t>Memory trick: AWS secures the cloud itself - YOU secure what you put in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rial"/>
              </a:rPr>
              <a:t>DNS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2433"/>
                </a:solidFill>
                <a:latin typeface="Arial"/>
              </a:rPr>
              <a:t>What Is DNS?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4B5563"/>
                </a:solidFill>
                <a:latin typeface="Arial"/>
              </a:rPr>
              <a:t>The internet's phonebook - names in, IP addresses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0881360" cy="868680"/>
          </a:xfrm>
          <a:prstGeom prst="roundRect">
            <a:avLst>
              <a:gd name="adj" fmla="val 9000"/>
            </a:avLst>
          </a:prstGeom>
          <a:solidFill>
            <a:srgbClr val="F1F4F9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lnSpc>
                <a:spcPct val="120000"/>
              </a:lnSpc>
            </a:pPr>
            <a:r>
              <a:rPr sz="1450" b="1" dirty="0">
                <a:solidFill>
                  <a:srgbClr val="2563EB"/>
                </a:solidFill>
                <a:latin typeface="Arial"/>
              </a:rPr>
              <a:t>Domain Name System:  </a:t>
            </a:r>
            <a:r>
              <a:rPr sz="1450" b="0" dirty="0">
                <a:solidFill>
                  <a:srgbClr val="1A2433"/>
                </a:solidFill>
                <a:latin typeface="Arial"/>
              </a:rPr>
              <a:t>translates human-friendly names into the numeric IP addresses machines actually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880360"/>
            <a:ext cx="3840480" cy="822960"/>
          </a:xfrm>
          <a:prstGeom prst="roundRect">
            <a:avLst>
              <a:gd name="adj" fmla="val 9000"/>
            </a:avLst>
          </a:prstGeom>
          <a:solidFill>
            <a:srgbClr val="E7F2F5"/>
          </a:solidFill>
          <a:ln w="12700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500" b="1">
                <a:solidFill>
                  <a:srgbClr val="0E7C9E"/>
                </a:solidFill>
                <a:latin typeface="Arial"/>
              </a:rPr>
              <a:t>www.google.com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40680" y="3291840"/>
            <a:ext cx="1280160" cy="0"/>
          </a:xfrm>
          <a:prstGeom prst="line">
            <a:avLst/>
          </a:prstGeom>
          <a:ln w="3175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94960" y="2880360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rial"/>
              </a:rPr>
              <a:t>DNS lookup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880360"/>
            <a:ext cx="3840480" cy="822960"/>
          </a:xfrm>
          <a:prstGeom prst="roundRect">
            <a:avLst>
              <a:gd name="adj" fmla="val 9000"/>
            </a:avLst>
          </a:prstGeom>
          <a:solidFill>
            <a:srgbClr val="E7F4EF"/>
          </a:solidFill>
          <a:ln w="12700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500" b="1">
                <a:solidFill>
                  <a:srgbClr val="0E9060"/>
                </a:solidFill>
                <a:latin typeface="Arial"/>
              </a:rPr>
              <a:t>172.217.18.36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60520"/>
            <a:ext cx="5349240" cy="214884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2433"/>
                </a:solidFill>
                <a:latin typeface="Arial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54880"/>
            <a:ext cx="480060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B5563"/>
                </a:solidFill>
                <a:latin typeface="Arial"/>
              </a:rPr>
              <a:t>Without DNS you'd memorise numbers for every website. It's the backbone of the internet - almost every connection starts with a DNS lookup.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4160520"/>
            <a:ext cx="5532120" cy="214884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43434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2433"/>
                </a:solidFill>
                <a:latin typeface="Arial"/>
              </a:rPr>
              <a:t>Hierarchical names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7548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Arial"/>
              </a:rPr>
              <a:t>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47548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top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523036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Arial"/>
              </a:rPr>
              <a:t>example.com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523036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the domain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705856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Arial"/>
              </a:rPr>
              <a:t>www.example.com  /  api.example.com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5705856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subdomains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rial"/>
              </a:rPr>
              <a:t>DNS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2433"/>
                </a:solidFill>
                <a:latin typeface="Arial"/>
              </a:rPr>
              <a:t>How DNS Works - Finding example.com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4B5563"/>
                </a:solidFill>
                <a:latin typeface="Arial"/>
              </a:rPr>
              <a:t>Your local DNS server asks the hierarchy, top to bottom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0881360" cy="82296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95681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D8EAEF"/>
          </a:solidFill>
          <a:ln w="9525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0E7C9E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74519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7C9E"/>
                </a:solidFill>
                <a:latin typeface="Arial"/>
              </a:rPr>
              <a:t>Browser asks the local DNS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874519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B5563"/>
                </a:solidFill>
                <a:latin typeface="Arial"/>
              </a:rPr>
              <a:t>"what is the IP of example.com?" - this server is run by your company or ISP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10881360" cy="82296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87121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D8EDE6"/>
          </a:solidFill>
          <a:ln w="9525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0E9060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78892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9060"/>
                </a:solidFill>
                <a:latin typeface="Arial"/>
              </a:rPr>
              <a:t>Local DNS asks a Root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78892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B5563"/>
                </a:solidFill>
                <a:latin typeface="Arial"/>
              </a:rPr>
              <a:t>root replies: "I don't know, but the .com TLD server is at 1.2.3.4"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11880"/>
            <a:ext cx="10881360" cy="82296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77240" y="378561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AE5D8"/>
          </a:solidFill>
          <a:ln w="9525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E25A0B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0332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E25A0B"/>
                </a:solidFill>
                <a:latin typeface="Arial"/>
              </a:rPr>
              <a:t>Local DNS asks the .com TLD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70332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B5563"/>
                </a:solidFill>
                <a:latin typeface="Arial"/>
              </a:rPr>
              <a:t>TLD replies: "ask example.com's own name server at 5.6.7.8"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26280"/>
            <a:ext cx="10881360" cy="82296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77240" y="470001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EADFFC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61772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Local DNS asks that SLD name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61772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B5563"/>
                </a:solidFill>
                <a:latin typeface="Arial"/>
              </a:rPr>
              <a:t>it holds the zone file and answers: "example.com = 9.10.11.12"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40680"/>
            <a:ext cx="10881360" cy="82296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7240" y="561441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DCE6FC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2563EB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53212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563EB"/>
                </a:solidFill>
                <a:latin typeface="Arial"/>
              </a:rPr>
              <a:t>Answer returns and is cached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553212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B5563"/>
                </a:solidFill>
                <a:latin typeface="Arial"/>
              </a:rPr>
              <a:t>the browser connects to 9.10.11.12 - next time, the cached answer is instant (until its TTL expires)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6373368"/>
            <a:ext cx="10881360" cy="502920"/>
          </a:xfrm>
          <a:prstGeom prst="roundRect">
            <a:avLst>
              <a:gd name="adj" fmla="val 9000"/>
            </a:avLst>
          </a:prstGeom>
          <a:solidFill>
            <a:srgbClr val="F1F4F9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200" b="0">
                <a:solidFill>
                  <a:srgbClr val="6B7280"/>
                </a:solidFill>
                <a:latin typeface="Arial"/>
              </a:rPr>
              <a:t>Root is managed by ICANN, TLDs by IANA, and your domain's server by your registrar (e.g. Route 53).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F42B8C-7B70-4831-395D-029736E3A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2" y="11134"/>
            <a:ext cx="12170195" cy="683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097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25A0B"/>
                </a:solidFill>
                <a:latin typeface="Arial"/>
              </a:rPr>
              <a:t>PRIVATE VS PUBLIC 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2433"/>
                </a:solidFill>
                <a:latin typeface="Arial"/>
              </a:rPr>
              <a:t>Two Kinds of Addresses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4B5563"/>
                </a:solidFill>
                <a:latin typeface="Arial"/>
              </a:rPr>
              <a:t>Inside your network vs. out on the internet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4572000" cy="3108960"/>
          </a:xfrm>
          <a:prstGeom prst="roundRect">
            <a:avLst>
              <a:gd name="adj" fmla="val 9000"/>
            </a:avLst>
          </a:prstGeom>
          <a:solidFill>
            <a:srgbClr val="F1F4F9"/>
          </a:solidFill>
          <a:ln w="15875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E25A0B"/>
                </a:solidFill>
                <a:latin typeface="Arial"/>
              </a:rPr>
              <a:t>Your home network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50592"/>
            <a:ext cx="3977639" cy="658368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/>
            <a:r>
              <a:rPr sz="1300" b="1">
                <a:solidFill>
                  <a:srgbClr val="1A2433"/>
                </a:solidFill>
                <a:latin typeface="Arial"/>
              </a:rPr>
              <a:t>Laptop   </a:t>
            </a:r>
            <a:r>
              <a:rPr sz="1300" b="0">
                <a:solidFill>
                  <a:srgbClr val="E25A0B"/>
                </a:solidFill>
                <a:latin typeface="Arial"/>
              </a:rPr>
              <a:t>192.168.1.10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36976"/>
            <a:ext cx="3977639" cy="658368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/>
            <a:r>
              <a:rPr sz="1300" b="1">
                <a:solidFill>
                  <a:srgbClr val="1A2433"/>
                </a:solidFill>
                <a:latin typeface="Arial"/>
              </a:rPr>
              <a:t>Phone   </a:t>
            </a:r>
            <a:r>
              <a:rPr sz="1300" b="0">
                <a:solidFill>
                  <a:srgbClr val="E25A0B"/>
                </a:solidFill>
                <a:latin typeface="Arial"/>
              </a:rPr>
              <a:t>192.168.1.11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023360"/>
            <a:ext cx="3977639" cy="658368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/>
            <a:r>
              <a:rPr sz="1300" b="1">
                <a:solidFill>
                  <a:srgbClr val="1A2433"/>
                </a:solidFill>
                <a:latin typeface="Arial"/>
              </a:rPr>
              <a:t>Smart TV   </a:t>
            </a:r>
            <a:r>
              <a:rPr sz="1300" b="0">
                <a:solidFill>
                  <a:srgbClr val="E25A0B"/>
                </a:solidFill>
                <a:latin typeface="Arial"/>
              </a:rPr>
              <a:t>192.168.1.12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0916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rial"/>
              </a:rPr>
              <a:t>private addresses - only exist in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971800"/>
            <a:ext cx="1600200" cy="86868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350" b="1">
                <a:solidFill>
                  <a:srgbClr val="1A2433"/>
                </a:solidFill>
                <a:latin typeface="Arial"/>
              </a:rPr>
              <a:t>Router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20640" y="3401568"/>
            <a:ext cx="365760" cy="0"/>
          </a:xfrm>
          <a:prstGeom prst="line">
            <a:avLst/>
          </a:prstGeom>
          <a:ln w="2540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680960" y="2331720"/>
            <a:ext cx="3794760" cy="2148840"/>
          </a:xfrm>
          <a:prstGeom prst="ellipse">
            <a:avLst/>
          </a:prstGeom>
          <a:solidFill>
            <a:srgbClr val="E9F3F6"/>
          </a:solidFill>
          <a:ln w="15875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E7C9E"/>
                </a:solidFill>
                <a:latin typeface="Arial"/>
              </a:rPr>
              <a:t>The Internet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B5563"/>
                </a:solidFill>
                <a:latin typeface="Arial"/>
              </a:rPr>
              <a:t>sees one address only: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A2433"/>
                </a:solidFill>
                <a:latin typeface="Arial"/>
              </a:rPr>
              <a:t>203.0.113.5</a:t>
            </a:r>
          </a:p>
          <a:p>
            <a:pPr algn="ctr"/>
            <a:r>
              <a:rPr sz="1150" b="0">
                <a:solidFill>
                  <a:srgbClr val="4B5563"/>
                </a:solidFill>
                <a:latin typeface="Arial"/>
              </a:rPr>
              <a:t>your public IP (from your ISP)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600" y="3401568"/>
            <a:ext cx="594360" cy="0"/>
          </a:xfrm>
          <a:prstGeom prst="line">
            <a:avLst/>
          </a:prstGeom>
          <a:ln w="25400">
            <a:solidFill>
              <a:srgbClr val="0E7C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" y="5257800"/>
            <a:ext cx="5349240" cy="123444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228600" bIns="54864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25A0B"/>
                </a:solidFill>
                <a:latin typeface="Arial"/>
              </a:rPr>
              <a:t>Private IP = a room number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4B5563"/>
                </a:solidFill>
                <a:latin typeface="Arial"/>
              </a:rPr>
              <a:t>'Room 12' means something inside your building only. Every building can have a Room 12.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5257800"/>
            <a:ext cx="5532120" cy="123444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228600" bIns="54864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E7C9E"/>
                </a:solidFill>
                <a:latin typeface="Arial"/>
              </a:rPr>
              <a:t>Public IP = your street address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4B5563"/>
                </a:solidFill>
                <a:latin typeface="Arial"/>
              </a:rPr>
              <a:t>Unique in the whole world - it's how anyone, anywhere can reach your building.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25A0B"/>
                </a:solidFill>
                <a:latin typeface="Arial"/>
              </a:rPr>
              <a:t>PRIVATE VS PUBLIC 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2433"/>
                </a:solidFill>
                <a:latin typeface="Arial"/>
              </a:rPr>
              <a:t>Side by 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600200"/>
            <a:ext cx="4160520" cy="548640"/>
          </a:xfrm>
          <a:prstGeom prst="roundRect">
            <a:avLst>
              <a:gd name="adj" fmla="val 9000"/>
            </a:avLst>
          </a:prstGeom>
          <a:solidFill>
            <a:srgbClr val="FBEADF"/>
          </a:solidFill>
          <a:ln w="12700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500" b="1">
                <a:solidFill>
                  <a:srgbClr val="E25A0B"/>
                </a:solidFill>
                <a:latin typeface="Arial"/>
              </a:rPr>
              <a:t>PRIVATE 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600200"/>
            <a:ext cx="4160520" cy="548640"/>
          </a:xfrm>
          <a:prstGeom prst="roundRect">
            <a:avLst>
              <a:gd name="adj" fmla="val 9000"/>
            </a:avLst>
          </a:prstGeom>
          <a:solidFill>
            <a:srgbClr val="E0EEF2"/>
          </a:solidFill>
          <a:ln w="12700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500" b="1">
                <a:solidFill>
                  <a:srgbClr val="0E7C9E"/>
                </a:solidFill>
                <a:latin typeface="Arial"/>
              </a:rPr>
              <a:t>PUBLIC 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331720" cy="713232"/>
          </a:xfrm>
          <a:prstGeom prst="roundRect">
            <a:avLst>
              <a:gd name="adj" fmla="val 9000"/>
            </a:avLst>
          </a:prstGeom>
          <a:solidFill>
            <a:srgbClr val="F1F4F9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250" b="1">
                <a:solidFill>
                  <a:srgbClr val="4B5563"/>
                </a:solidFill>
                <a:latin typeface="Arial"/>
              </a:rPr>
              <a:t>Assigned by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286000"/>
            <a:ext cx="4160520" cy="713232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your router / network 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2286000"/>
            <a:ext cx="4160520" cy="713232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your ISP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2331720" cy="713232"/>
          </a:xfrm>
          <a:prstGeom prst="roundRect">
            <a:avLst>
              <a:gd name="adj" fmla="val 9000"/>
            </a:avLst>
          </a:prstGeom>
          <a:solidFill>
            <a:srgbClr val="F1F4F9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250" b="1">
                <a:solidFill>
                  <a:srgbClr val="4B5563"/>
                </a:solidFill>
                <a:latin typeface="Arial"/>
              </a:rPr>
              <a:t>Unique?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3108960"/>
            <a:ext cx="4160520" cy="713232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only inside your own network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108960"/>
            <a:ext cx="4160520" cy="713232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worldwide - no two alike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2331720" cy="713232"/>
          </a:xfrm>
          <a:prstGeom prst="roundRect">
            <a:avLst>
              <a:gd name="adj" fmla="val 9000"/>
            </a:avLst>
          </a:prstGeom>
          <a:solidFill>
            <a:srgbClr val="F1F4F9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250" b="1">
                <a:solidFill>
                  <a:srgbClr val="4B5563"/>
                </a:solidFill>
                <a:latin typeface="Arial"/>
              </a:rPr>
              <a:t>Works on internet?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3931920"/>
            <a:ext cx="4160520" cy="713232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no - internet routers drop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3931920"/>
            <a:ext cx="4160520" cy="713232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yes - reachable from anywhere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2331720" cy="713232"/>
          </a:xfrm>
          <a:prstGeom prst="roundRect">
            <a:avLst>
              <a:gd name="adj" fmla="val 9000"/>
            </a:avLst>
          </a:prstGeom>
          <a:solidFill>
            <a:srgbClr val="F1F4F9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250" b="1">
                <a:solidFill>
                  <a:srgbClr val="4B5563"/>
                </a:solidFill>
                <a:latin typeface="Arial"/>
              </a:rPr>
              <a:t>Cost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4754880"/>
            <a:ext cx="4160520" cy="713232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free - use as many as you like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4754880"/>
            <a:ext cx="4160520" cy="713232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paid / limited (only ~4.3 billion exist)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77840"/>
            <a:ext cx="2331720" cy="713232"/>
          </a:xfrm>
          <a:prstGeom prst="roundRect">
            <a:avLst>
              <a:gd name="adj" fmla="val 9000"/>
            </a:avLst>
          </a:prstGeom>
          <a:solidFill>
            <a:srgbClr val="F1F4F9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250" b="1">
                <a:solidFill>
                  <a:srgbClr val="4B5563"/>
                </a:solidFill>
                <a:latin typeface="Arial"/>
              </a:rPr>
              <a:t>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5577840"/>
            <a:ext cx="4160520" cy="713232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192.168.1.10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5577840"/>
            <a:ext cx="4160520" cy="713232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203.0.113.5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6B7280"/>
                </a:solidFill>
                <a:latin typeface="Arial"/>
              </a:rPr>
              <a:t>Both work together: devices use private IPs inside, and share one public IP to reach the internet (that swap is NAT - coming soon).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IP ADDRESSING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2433"/>
                </a:solidFill>
                <a:latin typeface="Arial"/>
              </a:rPr>
              <a:t>The 5 Classes of IPv4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4B5563"/>
                </a:solidFill>
                <a:latin typeface="Arial"/>
              </a:rPr>
              <a:t>The first octet tells you the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EEE5FD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250" b="1">
                <a:solidFill>
                  <a:srgbClr val="7C3AED"/>
                </a:solidFill>
                <a:latin typeface="Arial"/>
              </a:rPr>
              <a:t>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691640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EEE5FD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250" b="1">
                <a:solidFill>
                  <a:srgbClr val="7C3AED"/>
                </a:solidFill>
                <a:latin typeface="Arial"/>
              </a:rPr>
              <a:t>First octet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691640"/>
            <a:ext cx="2029967" cy="457200"/>
          </a:xfrm>
          <a:prstGeom prst="roundRect">
            <a:avLst>
              <a:gd name="adj" fmla="val 16000"/>
            </a:avLst>
          </a:prstGeom>
          <a:solidFill>
            <a:srgbClr val="EEE5FD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250" b="1">
                <a:solidFill>
                  <a:srgbClr val="7C3AED"/>
                </a:solidFill>
                <a:latin typeface="Arial"/>
              </a:rPr>
              <a:t>Default mask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59" y="1691640"/>
            <a:ext cx="5184648" cy="457200"/>
          </a:xfrm>
          <a:prstGeom prst="roundRect">
            <a:avLst>
              <a:gd name="adj" fmla="val 16000"/>
            </a:avLst>
          </a:prstGeom>
          <a:solidFill>
            <a:srgbClr val="EEE5FD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250" b="1">
                <a:solidFill>
                  <a:srgbClr val="7C3AED"/>
                </a:solidFill>
                <a:latin typeface="Arial"/>
              </a:rPr>
              <a:t>Used for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31720"/>
            <a:ext cx="512064" cy="457200"/>
          </a:xfrm>
          <a:prstGeom prst="roundRect">
            <a:avLst>
              <a:gd name="adj" fmla="val 50000"/>
            </a:avLst>
          </a:prstGeom>
          <a:solidFill>
            <a:srgbClr val="D8EAEF"/>
          </a:solidFill>
          <a:ln w="9525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0E7C9E"/>
                </a:solidFill>
                <a:latin typeface="Arial"/>
              </a:rPr>
              <a:t>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240280"/>
            <a:ext cx="2212848" cy="64008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1 - 126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2240280"/>
            <a:ext cx="2029967" cy="64008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255.0.0.0  (/8)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59" y="2240280"/>
            <a:ext cx="5184648" cy="64008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huge networks - millions of hosts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063240"/>
            <a:ext cx="512064" cy="457200"/>
          </a:xfrm>
          <a:prstGeom prst="roundRect">
            <a:avLst>
              <a:gd name="adj" fmla="val 50000"/>
            </a:avLst>
          </a:prstGeom>
          <a:solidFill>
            <a:srgbClr val="D8EDE6"/>
          </a:solidFill>
          <a:ln w="9525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0E9060"/>
                </a:solidFill>
                <a:latin typeface="Arial"/>
              </a:rPr>
              <a:t>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63040" y="2971800"/>
            <a:ext cx="2212848" cy="64008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128 - 191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2971800"/>
            <a:ext cx="2029967" cy="64008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255.255.0.0  (/16)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59" y="2971800"/>
            <a:ext cx="5184648" cy="64008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medium networks - universities, big companies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794759"/>
            <a:ext cx="512064" cy="457200"/>
          </a:xfrm>
          <a:prstGeom prst="roundRect">
            <a:avLst>
              <a:gd name="adj" fmla="val 50000"/>
            </a:avLst>
          </a:prstGeom>
          <a:solidFill>
            <a:srgbClr val="FAE5D8"/>
          </a:solidFill>
          <a:ln w="9525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E25A0B"/>
                </a:solidFill>
                <a:latin typeface="Arial"/>
              </a:rPr>
              <a:t>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3703320"/>
            <a:ext cx="2212848" cy="64008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192 - 223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3703320"/>
            <a:ext cx="2029967" cy="64008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255.255.255.0  (/24)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59" y="3703320"/>
            <a:ext cx="5184648" cy="64008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small networks - homes and offices (most common)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526279"/>
            <a:ext cx="512064" cy="457200"/>
          </a:xfrm>
          <a:prstGeom prst="roundRect">
            <a:avLst>
              <a:gd name="adj" fmla="val 50000"/>
            </a:avLst>
          </a:prstGeom>
          <a:solidFill>
            <a:srgbClr val="EADFFC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7C3AED"/>
                </a:solidFill>
                <a:latin typeface="Arial"/>
              </a:rPr>
              <a:t>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63040" y="4434840"/>
            <a:ext cx="2212848" cy="64008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224 - 239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49039" y="4434840"/>
            <a:ext cx="2029967" cy="64008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-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59" y="4434840"/>
            <a:ext cx="5184648" cy="64008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multicast - one sender to many receivers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257799"/>
            <a:ext cx="512064" cy="457200"/>
          </a:xfrm>
          <a:prstGeom prst="roundRect">
            <a:avLst>
              <a:gd name="adj" fmla="val 50000"/>
            </a:avLst>
          </a:prstGeom>
          <a:solidFill>
            <a:srgbClr val="F9DCDC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DC2626"/>
                </a:solidFill>
                <a:latin typeface="Arial"/>
              </a:rPr>
              <a:t>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63040" y="5166359"/>
            <a:ext cx="2212848" cy="64008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240 - 255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49039" y="5166359"/>
            <a:ext cx="2029967" cy="64008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-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52159" y="5166359"/>
            <a:ext cx="5184648" cy="64008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experimental - reserved, never assigned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989319"/>
            <a:ext cx="10881360" cy="548640"/>
          </a:xfrm>
          <a:prstGeom prst="roundRect">
            <a:avLst>
              <a:gd name="adj" fmla="val 9000"/>
            </a:avLst>
          </a:prstGeom>
          <a:solidFill>
            <a:srgbClr val="FBF4EB"/>
          </a:solidFill>
          <a:ln w="9525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300" b="1">
                <a:solidFill>
                  <a:srgbClr val="C77700"/>
                </a:solidFill>
                <a:latin typeface="Arial"/>
              </a:rPr>
              <a:t>Where is 127?  </a:t>
            </a:r>
            <a:r>
              <a:rPr sz="1300" b="0">
                <a:solidFill>
                  <a:srgbClr val="4B5563"/>
                </a:solidFill>
                <a:latin typeface="Arial"/>
              </a:rPr>
              <a:t>127.x.x.x is loopback - it always means 'this device itself' (that's why A stops at 126).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25A0B"/>
                </a:solidFill>
                <a:latin typeface="Arial"/>
              </a:rPr>
              <a:t>PRIVATE VS PUBLIC 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2433"/>
                </a:solidFill>
                <a:latin typeface="Arial"/>
              </a:rPr>
              <a:t>The Private Ranges (RFC 1918)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4B5563"/>
                </a:solidFill>
                <a:latin typeface="Arial"/>
              </a:rPr>
              <a:t>One reserved private range inside each class - memorise these three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611880" cy="320040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E7C9E"/>
                </a:solidFill>
                <a:latin typeface="Arial"/>
              </a:rPr>
              <a:t>Class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A2433"/>
                </a:solidFill>
                <a:latin typeface="Arial"/>
              </a:rPr>
              <a:t>10.0.0.0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↓</a:t>
            </a:r>
          </a:p>
          <a:p>
            <a:pPr algn="l"/>
            <a:r>
              <a:rPr sz="1600" b="1">
                <a:solidFill>
                  <a:srgbClr val="1A2433"/>
                </a:solidFill>
                <a:latin typeface="Arial"/>
              </a:rPr>
              <a:t>10.255.255.255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0440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D8EAEF"/>
          </a:solidFill>
          <a:ln w="9525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0E7C9E"/>
                </a:solidFill>
                <a:latin typeface="Arial"/>
              </a:rPr>
              <a:t>10.0.0.0/8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96512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4B5563"/>
                </a:solidFill>
                <a:latin typeface="Arial"/>
              </a:rPr>
              <a:t>~16.7 million addresses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348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Seen in: big enterprises, AWS VPCs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783080"/>
            <a:ext cx="3611880" cy="320040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9659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E9060"/>
                </a:solidFill>
                <a:latin typeface="Arial"/>
              </a:rPr>
              <a:t>Class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7744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A2433"/>
                </a:solidFill>
                <a:latin typeface="Arial"/>
              </a:rPr>
              <a:t>172.16.0.0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↓</a:t>
            </a:r>
          </a:p>
          <a:p>
            <a:pPr algn="l"/>
            <a:r>
              <a:rPr sz="1600" b="1">
                <a:solidFill>
                  <a:srgbClr val="1A2433"/>
                </a:solidFill>
                <a:latin typeface="Arial"/>
              </a:rPr>
              <a:t>172.31.255.255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0288" y="3520440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D8EDE6"/>
          </a:solidFill>
          <a:ln w="9525">
            <a:solidFill>
              <a:srgbClr val="0E9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0E9060"/>
                </a:solidFill>
                <a:latin typeface="Arial"/>
              </a:rPr>
              <a:t>172.16.0.0/12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4096512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4B5563"/>
                </a:solidFill>
                <a:latin typeface="Arial"/>
              </a:rPr>
              <a:t>~1 million addresses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44348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Seen in: medium networks, Docker defaults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74736" y="1783080"/>
            <a:ext cx="3611880" cy="320040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03336" y="19659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25A0B"/>
                </a:solidFill>
                <a:latin typeface="Arial"/>
              </a:rPr>
              <a:t>Class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37744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A2433"/>
                </a:solidFill>
                <a:latin typeface="Arial"/>
              </a:rPr>
              <a:t>192.168.0.0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↓</a:t>
            </a:r>
          </a:p>
          <a:p>
            <a:pPr algn="l"/>
            <a:r>
              <a:rPr sz="1600" b="1">
                <a:solidFill>
                  <a:srgbClr val="1A2433"/>
                </a:solidFill>
                <a:latin typeface="Arial"/>
              </a:rPr>
              <a:t>192.168.255.255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03336" y="3520440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FAE5D8"/>
          </a:solidFill>
          <a:ln w="9525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E25A0B"/>
                </a:solidFill>
                <a:latin typeface="Arial"/>
              </a:rPr>
              <a:t>192.168.0.0/16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3336" y="4096512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4B5563"/>
                </a:solidFill>
                <a:latin typeface="Arial"/>
              </a:rPr>
              <a:t>65,536 addresses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44348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Seen in: your home Wi-Fi router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49240"/>
            <a:ext cx="10881360" cy="1051560"/>
          </a:xfrm>
          <a:prstGeom prst="roundRect">
            <a:avLst>
              <a:gd name="adj" fmla="val 9000"/>
            </a:avLst>
          </a:prstGeom>
          <a:solidFill>
            <a:srgbClr val="F1F4F9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54864" rIns="274320" bIns="54864" rtlCol="0" anchor="ctr"/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A2433"/>
                </a:solidFill>
                <a:latin typeface="Arial"/>
              </a:rPr>
              <a:t>The rule that makes them 'private'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4B5563"/>
                </a:solidFill>
                <a:latin typeface="Arial"/>
              </a:rPr>
              <a:t>Internet routers refuse to carry these addresses. That's why every home can reuse 192.168.1.1 - the addresses never meet on the internet.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DB2777"/>
                </a:solidFill>
                <a:latin typeface="Arial"/>
              </a:rPr>
              <a:t>VPN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2433"/>
                </a:solidFill>
                <a:latin typeface="Arial"/>
              </a:rPr>
              <a:t>What Is a VPN?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4B5563"/>
                </a:solidFill>
                <a:latin typeface="Arial"/>
              </a:rPr>
              <a:t>Virtual Private Network - a private, encrypted tunnel over the public internet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2103120" cy="155448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5875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A2433"/>
                </a:solidFill>
                <a:latin typeface="Arial"/>
              </a:rPr>
              <a:t>You</a:t>
            </a:r>
          </a:p>
          <a:p>
            <a:pPr algn="ctr"/>
            <a:r>
              <a:rPr sz="1150" b="0">
                <a:solidFill>
                  <a:srgbClr val="4B5563"/>
                </a:solidFill>
                <a:latin typeface="Arial"/>
              </a:rPr>
              <a:t>on cafe Wi-Fi</a:t>
            </a:r>
          </a:p>
        </p:txBody>
      </p:sp>
      <p:sp>
        <p:nvSpPr>
          <p:cNvPr id="7" name="Oval 6"/>
          <p:cNvSpPr/>
          <p:nvPr/>
        </p:nvSpPr>
        <p:spPr>
          <a:xfrm>
            <a:off x="3657600" y="1874519"/>
            <a:ext cx="4846320" cy="2194560"/>
          </a:xfrm>
          <a:prstGeom prst="ellipse">
            <a:avLst/>
          </a:prstGeom>
          <a:solidFill>
            <a:srgbClr val="F1F4F9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Arial"/>
              </a:rPr>
              <a:t>the public internet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651760"/>
            <a:ext cx="7040880" cy="685800"/>
          </a:xfrm>
          <a:prstGeom prst="roundRect">
            <a:avLst>
              <a:gd name="adj" fmla="val 50000"/>
            </a:avLst>
          </a:prstGeom>
          <a:solidFill>
            <a:srgbClr val="F9DCE9"/>
          </a:solidFill>
          <a:ln w="22225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DB2777"/>
                </a:solidFill>
                <a:latin typeface="Arial"/>
              </a:rPr>
              <a:t>encrypted tunnel  -  nobody outside can read what's inside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2148840"/>
            <a:ext cx="1828800" cy="155448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5875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A2433"/>
                </a:solidFill>
                <a:latin typeface="Arial"/>
              </a:rPr>
              <a:t>VPN server</a:t>
            </a:r>
          </a:p>
          <a:p>
            <a:pPr algn="ctr"/>
            <a:r>
              <a:rPr sz="1100" b="0">
                <a:solidFill>
                  <a:srgbClr val="4B5563"/>
                </a:solidFill>
                <a:latin typeface="Arial"/>
              </a:rPr>
              <a:t>company or provider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4206240"/>
            <a:ext cx="4114800" cy="457200"/>
          </a:xfrm>
          <a:prstGeom prst="roundRect">
            <a:avLst>
              <a:gd name="adj" fmla="val 50000"/>
            </a:avLst>
          </a:prstGeom>
          <a:solidFill>
            <a:srgbClr val="F9DCDC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DC2626"/>
                </a:solidFill>
                <a:latin typeface="Arial"/>
              </a:rPr>
              <a:t>outsiders see only:  x9#Kf$2p...  (gibberish)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29200"/>
            <a:ext cx="10881360" cy="132588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54864" rIns="292608" bIns="54864" rtlCol="0" anchor="ctr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DB2777"/>
                </a:solidFill>
                <a:latin typeface="Arial"/>
              </a:rPr>
              <a:t>The one-line definition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2433"/>
                </a:solidFill>
                <a:latin typeface="Arial"/>
              </a:rPr>
              <a:t>A VPN wraps your traffic in encryption and carries it through a tunnel to a trusted server - so you get a PRIVATE connection while using PUBLIC internet cables.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77700"/>
                </a:solidFill>
                <a:latin typeface="Arial"/>
              </a:rPr>
              <a:t>NAT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2433"/>
                </a:solidFill>
                <a:latin typeface="Arial"/>
              </a:rPr>
              <a:t>What Is NAT?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4B5563"/>
                </a:solidFill>
                <a:latin typeface="Arial"/>
              </a:rPr>
              <a:t>Network Address Translation - the bridge between private and public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0881360" cy="685800"/>
          </a:xfrm>
          <a:prstGeom prst="roundRect">
            <a:avLst>
              <a:gd name="adj" fmla="val 9000"/>
            </a:avLst>
          </a:prstGeom>
          <a:solidFill>
            <a:srgbClr val="FCEEEE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400" b="1">
                <a:solidFill>
                  <a:srgbClr val="DC2626"/>
                </a:solidFill>
                <a:latin typeface="Arial"/>
              </a:rPr>
              <a:t>The problem:  </a:t>
            </a:r>
            <a:r>
              <a:rPr sz="1400" b="0">
                <a:solidFill>
                  <a:srgbClr val="1A2433"/>
                </a:solidFill>
                <a:latin typeface="Arial"/>
              </a:rPr>
              <a:t>private IPs (192.168.x.x ...) are dropped by internet routers. So how does your phone browse the web?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2377440" cy="123444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5875">
            <a:solidFill>
              <a:srgbClr val="E25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A2433"/>
                </a:solidFill>
                <a:latin typeface="Arial"/>
              </a:rPr>
              <a:t>Your laptop</a:t>
            </a:r>
          </a:p>
          <a:p>
            <a:pPr algn="ctr"/>
            <a:r>
              <a:rPr sz="1300" b="1">
                <a:solidFill>
                  <a:srgbClr val="E25A0B"/>
                </a:solidFill>
                <a:latin typeface="Arial"/>
              </a:rPr>
              <a:t>192.168.1.10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2560320"/>
            <a:ext cx="3017520" cy="1600200"/>
          </a:xfrm>
          <a:prstGeom prst="roundRect">
            <a:avLst>
              <a:gd name="adj" fmla="val 9000"/>
            </a:avLst>
          </a:prstGeom>
          <a:solidFill>
            <a:srgbClr val="F9F1E6"/>
          </a:solidFill>
          <a:ln w="15875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C77700"/>
                </a:solidFill>
                <a:latin typeface="Arial"/>
              </a:rPr>
              <a:t>Router doing NAT</a:t>
            </a:r>
          </a:p>
          <a:p>
            <a:pPr algn="ctr">
              <a:spcAft>
                <a:spcPts val="300"/>
              </a:spcAft>
            </a:pPr>
            <a:r>
              <a:rPr sz="1150" b="0">
                <a:solidFill>
                  <a:srgbClr val="4B5563"/>
                </a:solidFill>
                <a:latin typeface="Arial"/>
              </a:rPr>
              <a:t>swaps the source address:</a:t>
            </a:r>
          </a:p>
          <a:p>
            <a:pPr algn="ctr"/>
            <a:r>
              <a:rPr sz="1250" b="1">
                <a:solidFill>
                  <a:srgbClr val="1A2433"/>
                </a:solidFill>
                <a:latin typeface="Arial"/>
              </a:rPr>
              <a:t>192.168.1.10 → 203.0.113.5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743200"/>
            <a:ext cx="3566160" cy="123444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5875">
            <a:solidFill>
              <a:srgbClr val="0E7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A2433"/>
                </a:solidFill>
                <a:latin typeface="Arial"/>
              </a:rPr>
              <a:t>Website server</a:t>
            </a:r>
          </a:p>
          <a:p>
            <a:pPr algn="ctr"/>
            <a:r>
              <a:rPr sz="1250" b="1">
                <a:solidFill>
                  <a:srgbClr val="0E7C9E"/>
                </a:solidFill>
                <a:latin typeface="Arial"/>
              </a:rPr>
              <a:t>sees only  203.0.113.5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3355848"/>
            <a:ext cx="1051559" cy="0"/>
          </a:xfrm>
          <a:prstGeom prst="line">
            <a:avLst/>
          </a:prstGeom>
          <a:ln w="28575">
            <a:solidFill>
              <a:srgbClr val="C777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95160" y="3355848"/>
            <a:ext cx="1051560" cy="0"/>
          </a:xfrm>
          <a:prstGeom prst="line">
            <a:avLst/>
          </a:prstGeom>
          <a:ln w="28575">
            <a:solidFill>
              <a:srgbClr val="0E7C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43434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4B5563"/>
                </a:solidFill>
                <a:latin typeface="Arial"/>
              </a:rPr>
              <a:t>The router keeps a translation table, so when the reply comes back it knows exactly which inside device asked for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83480"/>
            <a:ext cx="10881360" cy="123444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54864" rIns="292608" bIns="54864" rtlCol="0" anchor="ctr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C77700"/>
                </a:solidFill>
                <a:latin typeface="Arial"/>
              </a:rPr>
              <a:t>Why NAT is everywhere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B5563"/>
                </a:solidFill>
                <a:latin typeface="Arial"/>
              </a:rPr>
              <a:t>There are only ~4.3 billion IPv4 addresses - not enough for every phone, TV and fridge. NAT lets a WHOLE network of private devices share one public IP. It's why IPv4 still survives today.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22000" cy="68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77700"/>
                </a:solidFill>
                <a:latin typeface="Arial"/>
              </a:rPr>
              <a:t>NAT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2433"/>
                </a:solidFill>
                <a:latin typeface="Arial"/>
              </a:rPr>
              <a:t>The 3 Types of NAT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611880" cy="3977639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rial"/>
              </a:rPr>
              <a:t>Static NAT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95728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DCE6FC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1 :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1546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One private IP permanently mapped to one public 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60520"/>
            <a:ext cx="31546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B5563"/>
                </a:solidFill>
                <a:latin typeface="Arial"/>
              </a:rPr>
              <a:t>Use it when: an inside server (web, mail) must always be reachable from the internet.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737360"/>
            <a:ext cx="3611880" cy="3977639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938528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Arial"/>
              </a:rPr>
              <a:t>Dynamic NAT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90288" y="2395728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D8EEEC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0D9488"/>
                </a:solidFill>
                <a:latin typeface="Arial"/>
              </a:rPr>
              <a:t>many :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017520"/>
            <a:ext cx="31546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Private IPs grab a public IP from a pool - first come, first served; returned when done.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4160520"/>
            <a:ext cx="31546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B5563"/>
                </a:solidFill>
                <a:latin typeface="Arial"/>
              </a:rPr>
              <a:t>Use it when: you own several public IPs and devices only need them sometimes.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737360"/>
            <a:ext cx="3611880" cy="3977639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03336" y="1938528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7700"/>
                </a:solidFill>
                <a:latin typeface="Arial"/>
              </a:rPr>
              <a:t>PAT / NAT Overload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03336" y="2395728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F6E9D6"/>
          </a:solidFill>
          <a:ln w="9525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C77700"/>
                </a:solidFill>
                <a:latin typeface="Arial"/>
              </a:rPr>
              <a:t>many :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3017520"/>
            <a:ext cx="31546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2433"/>
                </a:solidFill>
                <a:latin typeface="Arial"/>
              </a:rPr>
              <a:t>Everyone shares ONE public IP - the router tells sessions apart by PORT number.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4160520"/>
            <a:ext cx="31546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B5563"/>
                </a:solidFill>
                <a:latin typeface="Arial"/>
              </a:rPr>
              <a:t>Use it when: always. This is your home router and the AWS NAT Gateway.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03336" y="5138928"/>
            <a:ext cx="3154680" cy="384048"/>
          </a:xfrm>
          <a:prstGeom prst="roundRect">
            <a:avLst>
              <a:gd name="adj" fmla="val 50000"/>
            </a:avLst>
          </a:prstGeom>
          <a:solidFill>
            <a:srgbClr val="F7ECDB"/>
          </a:solidFill>
          <a:ln w="9525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100" b="1">
                <a:solidFill>
                  <a:srgbClr val="C77700"/>
                </a:solidFill>
                <a:latin typeface="Arial"/>
              </a:rPr>
              <a:t>the one you use every 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989320"/>
            <a:ext cx="10881360" cy="548640"/>
          </a:xfrm>
          <a:prstGeom prst="roundRect">
            <a:avLst>
              <a:gd name="adj" fmla="val 9000"/>
            </a:avLst>
          </a:prstGeom>
          <a:solidFill>
            <a:srgbClr val="F1F4F9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1250" b="0">
                <a:solidFill>
                  <a:srgbClr val="4B5563"/>
                </a:solidFill>
                <a:latin typeface="Arial"/>
              </a:rPr>
              <a:t>PAT example:  laptop 192.168.1.10:5001 → 203.0.113.5:40001   |   phone 192.168.1.11:5002 → 203.0.113.5:40002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5ab016a-022d-4842-b407-a61897a39a0c}" enabled="1" method="Privileged" siteId="{e1304ad9-93ba-4557-8b20-8c1c1143b39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3485</TotalTime>
  <Words>2545</Words>
  <Application>Microsoft Office PowerPoint</Application>
  <PresentationFormat>Widescreen</PresentationFormat>
  <Paragraphs>413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Shrook Bekhet | Ejada Systems</dc:creator>
  <cp:keywords/>
  <dc:description>generated using python-pptx</dc:description>
  <cp:lastModifiedBy>Shrook Bekhet | Ejada Systems</cp:lastModifiedBy>
  <cp:revision>4</cp:revision>
  <dcterms:created xsi:type="dcterms:W3CDTF">2013-01-27T09:14:16Z</dcterms:created>
  <dcterms:modified xsi:type="dcterms:W3CDTF">2026-07-22T18:16:41Z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Ejada Public Information</vt:lpwstr>
  </property>
</Properties>
</file>