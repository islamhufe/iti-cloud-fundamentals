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1"/>
  </p:notesMasterIdLst>
  <p:sldIdLst>
    <p:sldId id="256" r:id="rId2"/>
    <p:sldId id="258" r:id="rId3"/>
    <p:sldId id="260" r:id="rId4"/>
    <p:sldId id="262" r:id="rId5"/>
    <p:sldId id="287" r:id="rId6"/>
    <p:sldId id="288" r:id="rId7"/>
    <p:sldId id="289" r:id="rId8"/>
    <p:sldId id="290" r:id="rId9"/>
    <p:sldId id="286" r:id="rId10"/>
    <p:sldId id="282" r:id="rId11"/>
    <p:sldId id="283" r:id="rId12"/>
    <p:sldId id="265" r:id="rId13"/>
    <p:sldId id="284" r:id="rId14"/>
    <p:sldId id="266" r:id="rId15"/>
    <p:sldId id="285" r:id="rId16"/>
    <p:sldId id="267" r:id="rId17"/>
    <p:sldId id="269" r:id="rId18"/>
    <p:sldId id="263" r:id="rId19"/>
    <p:sldId id="270" r:id="rId20"/>
    <p:sldId id="271" r:id="rId21"/>
    <p:sldId id="273" r:id="rId22"/>
    <p:sldId id="272" r:id="rId23"/>
    <p:sldId id="274" r:id="rId24"/>
    <p:sldId id="275" r:id="rId25"/>
    <p:sldId id="294" r:id="rId26"/>
    <p:sldId id="320" r:id="rId27"/>
    <p:sldId id="276" r:id="rId28"/>
    <p:sldId id="277" r:id="rId29"/>
    <p:sldId id="278" r:id="rId30"/>
    <p:sldId id="279" r:id="rId31"/>
    <p:sldId id="291" r:id="rId32"/>
    <p:sldId id="324" r:id="rId33"/>
    <p:sldId id="325" r:id="rId34"/>
    <p:sldId id="326" r:id="rId35"/>
    <p:sldId id="293" r:id="rId36"/>
    <p:sldId id="295" r:id="rId37"/>
    <p:sldId id="296" r:id="rId38"/>
    <p:sldId id="297" r:id="rId39"/>
    <p:sldId id="298" r:id="rId40"/>
    <p:sldId id="299" r:id="rId41"/>
    <p:sldId id="323" r:id="rId42"/>
    <p:sldId id="300" r:id="rId43"/>
    <p:sldId id="321" r:id="rId44"/>
    <p:sldId id="322" r:id="rId45"/>
    <p:sldId id="301" r:id="rId46"/>
    <p:sldId id="327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28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9" r:id="rId67"/>
    <p:sldId id="330" r:id="rId68"/>
    <p:sldId id="280" r:id="rId69"/>
    <p:sldId id="281" r:id="rId70"/>
  </p:sldIdLst>
  <p:sldSz cx="9144000" cy="6858000" type="screen4x3"/>
  <p:notesSz cx="9144000" cy="6858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3502" autoAdjust="0"/>
  </p:normalViewPr>
  <p:slideViewPr>
    <p:cSldViewPr>
      <p:cViewPr varScale="1">
        <p:scale>
          <a:sx n="94" d="100"/>
          <a:sy n="94" d="100"/>
        </p:scale>
        <p:origin x="270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630E1-DB10-4633-8187-A1FFEC55046E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FABDB-A2F5-45F6-A324-03FA117B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Introduced many ideas that are standard today: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1- Hierarchical file systems</a:t>
            </a:r>
          </a:p>
          <a:p>
            <a:r>
              <a:rPr lang="en-US" dirty="0"/>
              <a:t>2- User Permissions</a:t>
            </a:r>
          </a:p>
          <a:p>
            <a:r>
              <a:rPr lang="en-US" dirty="0"/>
              <a:t>3- Security</a:t>
            </a:r>
          </a:p>
          <a:p>
            <a:r>
              <a:rPr lang="en-US" dirty="0"/>
              <a:t>4- Multiple Users</a:t>
            </a:r>
          </a:p>
          <a:p>
            <a:r>
              <a:rPr lang="en-US" dirty="0"/>
              <a:t>5- Dynamic Linking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99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was complex and taking too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79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At that time Oss were almost always written in assembly. Made it difficult to move to different 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39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1200" dirty="0">
              <a:solidFill>
                <a:srgbClr val="292934"/>
              </a:solidFill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64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source code mean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99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Hacker not a Cracker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In the late 1970s and early 1980s, Stallman</a:t>
            </a:r>
            <a:r>
              <a:rPr lang="en-US" sz="1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had</a:t>
            </a:r>
            <a:r>
              <a:rPr lang="en-US"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been</a:t>
            </a:r>
            <a:r>
              <a:rPr lang="en-US" sz="1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working</a:t>
            </a:r>
            <a:r>
              <a:rPr lang="en-US" sz="1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as</a:t>
            </a:r>
            <a:r>
              <a:rPr lang="en-US" sz="1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lang="en-US"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b="1" spc="-5" dirty="0">
                <a:solidFill>
                  <a:srgbClr val="292934"/>
                </a:solidFill>
                <a:latin typeface="Arial MT"/>
                <a:cs typeface="Arial MT"/>
              </a:rPr>
              <a:t>hacker</a:t>
            </a:r>
            <a:r>
              <a:rPr lang="en-US"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lang="en-US" sz="1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lang="en-US" sz="12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Artificial</a:t>
            </a:r>
            <a:r>
              <a:rPr lang="en-US" sz="1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Intelligence</a:t>
            </a:r>
            <a:r>
              <a:rPr lang="en-US" sz="12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Laboratory(AI</a:t>
            </a:r>
            <a:r>
              <a:rPr lang="en-US" sz="1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Lab)</a:t>
            </a:r>
            <a:r>
              <a:rPr lang="en-US" sz="1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of the (</a:t>
            </a:r>
            <a:r>
              <a:rPr lang="en-US" sz="1200" b="1" dirty="0">
                <a:solidFill>
                  <a:srgbClr val="292934"/>
                </a:solidFill>
                <a:latin typeface="Arial MT"/>
                <a:cs typeface="Arial MT"/>
              </a:rPr>
              <a:t>MIT</a:t>
            </a:r>
            <a:r>
              <a:rPr lang="en-US" sz="1200" dirty="0">
                <a:solidFill>
                  <a:srgbClr val="292934"/>
                </a:solidFill>
                <a:latin typeface="Arial MT"/>
                <a:cs typeface="Arial MT"/>
              </a:rPr>
              <a:t>).</a:t>
            </a:r>
            <a:endParaRPr lang="en-US" sz="1200" dirty="0">
              <a:latin typeface="Arial MT"/>
              <a:cs typeface="Arial MT"/>
            </a:endParaRPr>
          </a:p>
          <a:p>
            <a:r>
              <a:rPr lang="en-US" dirty="0"/>
              <a:t>At the time, the lab had a culture of sharing SW source code so anyone could fix bugs or add features.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 dirty="0">
                <a:solidFill>
                  <a:srgbClr val="292934"/>
                </a:solidFill>
                <a:latin typeface="Arial MT"/>
                <a:cs typeface="Arial MT"/>
              </a:rPr>
              <a:t>He decided to modify its source code himself so it can notify the people on the network that it needs a human intervention instead of waiting until someone discovers this coincidentally .</a:t>
            </a:r>
            <a:endParaRPr lang="en-US" sz="12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47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12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GNU = GNU not UNIX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9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FABDB-A2F5-45F6-A324-03FA117BB7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98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1873" y="2598241"/>
            <a:ext cx="5080253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35940" y="5316423"/>
            <a:ext cx="8072119" cy="100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365760"/>
          </a:xfrm>
          <a:custGeom>
            <a:avLst/>
            <a:gdLst/>
            <a:ahLst/>
            <a:cxnLst/>
            <a:rect l="l" t="t" r="r" b="b"/>
            <a:pathLst>
              <a:path w="9144000" h="365760">
                <a:moveTo>
                  <a:pt x="9144000" y="0"/>
                </a:moveTo>
                <a:lnTo>
                  <a:pt x="0" y="0"/>
                </a:lnTo>
                <a:lnTo>
                  <a:pt x="0" y="365760"/>
                </a:lnTo>
                <a:lnTo>
                  <a:pt x="9144000" y="36576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97737"/>
            <a:ext cx="80721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D2523B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2319"/>
            <a:ext cx="8072119" cy="460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UibaPTXSHk" TargetMode="External"/><Relationship Id="rId2" Type="http://schemas.openxmlformats.org/officeDocument/2006/relationships/hyperlink" Target="Richard%20Stallman%20Explains%20Everyth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youtube.com/watch?v=CP8CNp-vksc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Mm0HsmOTFI" TargetMode="External"/><Relationship Id="rId2" Type="http://schemas.openxmlformats.org/officeDocument/2006/relationships/hyperlink" Target="https://www.gnu.org.ua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5ocq6_3-nEw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rishabhpriyadarshi/logic-behind-codename-and-versioning-of-ubuntu-releases-72944fbe9592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linux.die.net/Intro-Linux/sect_02_03.html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ldp.org/" TargetMode="External"/><Relationship Id="rId2" Type="http://schemas.openxmlformats.org/officeDocument/2006/relationships/hyperlink" Target="http://www.linuxfromscratch.org/lfs/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0966" y="3429000"/>
            <a:ext cx="7961630" cy="3415029"/>
            <a:chOff x="676655" y="3382390"/>
            <a:chExt cx="7961630" cy="3415029"/>
          </a:xfrm>
        </p:grpSpPr>
        <p:sp>
          <p:nvSpPr>
            <p:cNvPr id="3" name="object 3"/>
            <p:cNvSpPr/>
            <p:nvPr/>
          </p:nvSpPr>
          <p:spPr>
            <a:xfrm>
              <a:off x="686561" y="3399281"/>
              <a:ext cx="7848600" cy="1905"/>
            </a:xfrm>
            <a:custGeom>
              <a:avLst/>
              <a:gdLst/>
              <a:ahLst/>
              <a:cxnLst/>
              <a:rect l="l" t="t" r="r" b="b"/>
              <a:pathLst>
                <a:path w="7848600" h="1904">
                  <a:moveTo>
                    <a:pt x="0" y="0"/>
                  </a:moveTo>
                  <a:lnTo>
                    <a:pt x="7848600" y="1523"/>
                  </a:lnTo>
                </a:path>
              </a:pathLst>
            </a:custGeom>
            <a:ln w="19812">
              <a:solidFill>
                <a:srgbClr val="D252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3636" y="3382390"/>
              <a:ext cx="3414610" cy="341456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5800" y="1676400"/>
            <a:ext cx="7848600" cy="1623060"/>
          </a:xfrm>
          <a:prstGeom prst="rect">
            <a:avLst/>
          </a:prstGeom>
          <a:ln w="9144">
            <a:solidFill>
              <a:srgbClr val="92A199"/>
            </a:solidFill>
          </a:ln>
        </p:spPr>
        <p:txBody>
          <a:bodyPr vert="horz" wrap="square" lIns="0" tIns="221615" rIns="0" bIns="0" rtlCol="0">
            <a:spAutoFit/>
          </a:bodyPr>
          <a:lstStyle/>
          <a:p>
            <a:pPr marL="297815" marR="276225" indent="2351405">
              <a:lnSpc>
                <a:spcPct val="100000"/>
              </a:lnSpc>
              <a:spcBef>
                <a:spcPts val="1745"/>
              </a:spcBef>
            </a:pPr>
            <a:r>
              <a:rPr sz="4400" spc="-100" dirty="0"/>
              <a:t>INTR</a:t>
            </a:r>
            <a:r>
              <a:rPr sz="4400" dirty="0"/>
              <a:t>O</a:t>
            </a:r>
            <a:r>
              <a:rPr sz="4400" spc="-305" dirty="0"/>
              <a:t> </a:t>
            </a:r>
            <a:r>
              <a:rPr sz="4400" spc="-185" dirty="0"/>
              <a:t>TO </a:t>
            </a:r>
            <a:br>
              <a:rPr lang="en-US" sz="4400" spc="-185" dirty="0"/>
            </a:br>
            <a:r>
              <a:rPr lang="en-EG" sz="4400" spc="-185" dirty="0"/>
              <a:t>            </a:t>
            </a:r>
            <a:r>
              <a:rPr sz="4400" spc="-100" dirty="0"/>
              <a:t>LINU</a:t>
            </a:r>
            <a:r>
              <a:rPr sz="4400" dirty="0"/>
              <a:t>X</a:t>
            </a:r>
            <a:r>
              <a:rPr sz="4400" spc="-210" dirty="0"/>
              <a:t> </a:t>
            </a:r>
            <a:r>
              <a:rPr sz="4400" spc="-100" dirty="0"/>
              <a:t>C</a:t>
            </a:r>
            <a:r>
              <a:rPr sz="4400" spc="-105" dirty="0"/>
              <a:t>O</a:t>
            </a:r>
            <a:r>
              <a:rPr sz="4400" spc="-100" dirty="0"/>
              <a:t>UR</a:t>
            </a:r>
            <a:r>
              <a:rPr sz="4400" spc="-95" dirty="0"/>
              <a:t>S</a:t>
            </a:r>
            <a:r>
              <a:rPr sz="4400" dirty="0"/>
              <a:t>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8592F-43D9-49B5-9BEA-717F20CDBD7A}"/>
              </a:ext>
            </a:extLst>
          </p:cNvPr>
          <p:cNvSpPr txBox="1"/>
          <p:nvPr/>
        </p:nvSpPr>
        <p:spPr>
          <a:xfrm>
            <a:off x="990600" y="4549847"/>
            <a:ext cx="2133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rgbClr val="C00000"/>
                </a:solidFill>
              </a:rPr>
              <a:t>8/8/2026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914" y="473600"/>
            <a:ext cx="3946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Kno</a:t>
            </a:r>
            <a:r>
              <a:rPr spc="-5" dirty="0"/>
              <a:t>w</a:t>
            </a:r>
            <a:r>
              <a:rPr spc="-204" dirty="0"/>
              <a:t> </a:t>
            </a:r>
            <a:r>
              <a:rPr spc="-100" dirty="0"/>
              <a:t>y</a:t>
            </a:r>
            <a:r>
              <a:rPr spc="-105" dirty="0"/>
              <a:t>ou</a:t>
            </a:r>
            <a:r>
              <a:rPr spc="-5" dirty="0"/>
              <a:t>r</a:t>
            </a:r>
            <a:r>
              <a:rPr spc="-275" dirty="0"/>
              <a:t> </a:t>
            </a:r>
            <a:r>
              <a:rPr spc="-250" dirty="0"/>
              <a:t>T</a:t>
            </a:r>
            <a:r>
              <a:rPr spc="-105" dirty="0"/>
              <a:t>raine</a:t>
            </a:r>
            <a:r>
              <a:rPr spc="-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794" y="1149912"/>
            <a:ext cx="182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Work</a:t>
            </a:r>
            <a:r>
              <a:rPr sz="1800" spc="-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Experience: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031" y="5598004"/>
            <a:ext cx="1123154" cy="6738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7DAFB5-519E-7309-8EEA-C57BDD2DE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055" y="5712369"/>
            <a:ext cx="1123154" cy="673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6CA45B-D6DF-0DB8-711F-C936389E3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649" y="5204123"/>
            <a:ext cx="1438951" cy="1438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B44495-9EA6-88AC-7321-AD37A967D6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916" y="1638967"/>
            <a:ext cx="1641024" cy="1822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F60655-60BA-CE75-A76D-2DFDDC4404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4" y="1625935"/>
            <a:ext cx="1821180" cy="17614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D47CF6-F939-DF08-8522-4D7F51D853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908" y="1668665"/>
            <a:ext cx="1539514" cy="1761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FC608A-3D30-5A59-0F50-9ADD8B68165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468" y="1620039"/>
            <a:ext cx="1616301" cy="18221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A1762AE-591E-B56C-E8D2-F88CC385916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618" y="1699697"/>
            <a:ext cx="1616300" cy="176143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EBE72FD-8307-1889-5AB2-D3FB2C00C44D}"/>
              </a:ext>
            </a:extLst>
          </p:cNvPr>
          <p:cNvSpPr txBox="1"/>
          <p:nvPr/>
        </p:nvSpPr>
        <p:spPr>
          <a:xfrm>
            <a:off x="72010" y="3440259"/>
            <a:ext cx="20404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ITI Intake 43 (9 months program) </a:t>
            </a:r>
            <a:br>
              <a:rPr lang="en-EG" sz="1000" dirty="0"/>
            </a:br>
            <a:r>
              <a:rPr lang="en-EG" sz="1000" dirty="0"/>
              <a:t>ES Track (Smart Village)</a:t>
            </a:r>
          </a:p>
          <a:p>
            <a:r>
              <a:rPr lang="en-EG" sz="1000" dirty="0"/>
              <a:t>Cpp + Problem Solving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060C65-4F38-AB80-62E4-F6EA0B7E1030}"/>
              </a:ext>
            </a:extLst>
          </p:cNvPr>
          <p:cNvSpPr txBox="1"/>
          <p:nvPr/>
        </p:nvSpPr>
        <p:spPr>
          <a:xfrm>
            <a:off x="5483117" y="3530153"/>
            <a:ext cx="20404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ITI Intake 1 (3 months program)</a:t>
            </a:r>
            <a:br>
              <a:rPr lang="en-EG" sz="1000" dirty="0"/>
            </a:br>
            <a:r>
              <a:rPr lang="en-EG" sz="1000" dirty="0"/>
              <a:t>eMobility Track (Smart Village)</a:t>
            </a:r>
          </a:p>
          <a:p>
            <a:r>
              <a:rPr lang="en-EG" sz="1000" dirty="0"/>
              <a:t>Cpp + Problem Solving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09D906-6C16-A049-EE16-ACD37609ABA6}"/>
              </a:ext>
            </a:extLst>
          </p:cNvPr>
          <p:cNvSpPr txBox="1"/>
          <p:nvPr/>
        </p:nvSpPr>
        <p:spPr>
          <a:xfrm>
            <a:off x="1991870" y="3530153"/>
            <a:ext cx="19676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ITI Intake 1 (4 months program)</a:t>
            </a:r>
            <a:br>
              <a:rPr lang="en-EG" sz="1000" dirty="0"/>
            </a:br>
            <a:r>
              <a:rPr lang="en-EG" sz="1000" dirty="0"/>
              <a:t>ES Track G3/G4(</a:t>
            </a:r>
            <a:r>
              <a:rPr lang="en-US" sz="1000" dirty="0"/>
              <a:t>Knowledge City</a:t>
            </a:r>
            <a:r>
              <a:rPr lang="en-EG" sz="1000" dirty="0"/>
              <a:t>)</a:t>
            </a:r>
          </a:p>
          <a:p>
            <a:r>
              <a:rPr lang="en-EG" sz="1000" dirty="0"/>
              <a:t>ARM Architecture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0FEB51-A243-BD89-CF05-23323F9BF868}"/>
              </a:ext>
            </a:extLst>
          </p:cNvPr>
          <p:cNvSpPr txBox="1"/>
          <p:nvPr/>
        </p:nvSpPr>
        <p:spPr>
          <a:xfrm>
            <a:off x="3848809" y="3539616"/>
            <a:ext cx="19676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IMT</a:t>
            </a:r>
          </a:p>
          <a:p>
            <a:r>
              <a:rPr lang="en-EG" sz="1000" dirty="0"/>
              <a:t>Dokki Branch  </a:t>
            </a:r>
            <a:br>
              <a:rPr lang="en-EG" sz="1000" dirty="0"/>
            </a:br>
            <a:r>
              <a:rPr lang="en-EG" sz="1000" dirty="0"/>
              <a:t>C / AVR Architecture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2D5D27-34E2-A5F3-CA6E-8655456F86FD}"/>
              </a:ext>
            </a:extLst>
          </p:cNvPr>
          <p:cNvSpPr txBox="1"/>
          <p:nvPr/>
        </p:nvSpPr>
        <p:spPr>
          <a:xfrm>
            <a:off x="1485390" y="5003181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Instructor @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02D57D-0B82-9209-7DA8-F6702CEDFE7C}"/>
              </a:ext>
            </a:extLst>
          </p:cNvPr>
          <p:cNvSpPr txBox="1"/>
          <p:nvPr/>
        </p:nvSpPr>
        <p:spPr>
          <a:xfrm>
            <a:off x="5419940" y="5034367"/>
            <a:ext cx="2166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Software Engineer @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D36CB5-8D72-3944-6A18-F522EA32C4CA}"/>
              </a:ext>
            </a:extLst>
          </p:cNvPr>
          <p:cNvSpPr txBox="1"/>
          <p:nvPr/>
        </p:nvSpPr>
        <p:spPr>
          <a:xfrm>
            <a:off x="7304096" y="3540150"/>
            <a:ext cx="20404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1000" dirty="0"/>
              <a:t>ITI  </a:t>
            </a:r>
            <a:br>
              <a:rPr lang="en-EG" sz="1000" dirty="0"/>
            </a:br>
            <a:r>
              <a:rPr lang="en-EG" sz="1000" dirty="0"/>
              <a:t>Summer Training (Helwan) </a:t>
            </a:r>
          </a:p>
          <a:p>
            <a:r>
              <a:rPr lang="en-EG" sz="1000" dirty="0"/>
              <a:t>IoT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55E4AA-B637-B686-3324-0E34ED57E746}"/>
              </a:ext>
            </a:extLst>
          </p:cNvPr>
          <p:cNvSpPr txBox="1"/>
          <p:nvPr/>
        </p:nvSpPr>
        <p:spPr>
          <a:xfrm>
            <a:off x="2739545" y="4235153"/>
            <a:ext cx="2908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+ Many More Online Courses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D8ACCA-5DB0-E0DE-E648-76C2635C561D}"/>
              </a:ext>
            </a:extLst>
          </p:cNvPr>
          <p:cNvSpPr txBox="1"/>
          <p:nvPr/>
        </p:nvSpPr>
        <p:spPr>
          <a:xfrm>
            <a:off x="2784625" y="588268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,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A8F403-D86C-4666-81E0-DDDE07340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87" y="5372513"/>
            <a:ext cx="1254155" cy="12541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286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8033384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spc="-1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Administration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92A199"/>
              </a:buClr>
              <a:buFont typeface="Arial MT"/>
              <a:buChar char="•"/>
            </a:pPr>
            <a:endParaRPr sz="2900" dirty="0">
              <a:latin typeface="Arial MT"/>
              <a:cs typeface="Arial MT"/>
            </a:endParaRPr>
          </a:p>
          <a:p>
            <a:pPr marL="469900" marR="5080" lvl="1" indent="-183515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Gain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sufficient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skills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perform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core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administration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tasks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on 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any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 distribution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2900" dirty="0">
              <a:latin typeface="Arial MT"/>
              <a:cs typeface="Arial MT"/>
            </a:endParaRPr>
          </a:p>
          <a:p>
            <a:pPr marL="469900" marR="920750" lvl="1" indent="-183515">
              <a:lnSpc>
                <a:spcPct val="100000"/>
              </a:lnSpc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Develop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 good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working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knowledge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using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both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000" spc="-5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graphical</a:t>
            </a:r>
            <a:r>
              <a:rPr sz="2000" b="1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000" b="1" spc="-35" dirty="0">
                <a:solidFill>
                  <a:srgbClr val="292934"/>
                </a:solidFill>
                <a:latin typeface="Arial MT"/>
                <a:cs typeface="Arial MT"/>
              </a:rPr>
              <a:t>user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interface</a:t>
            </a:r>
            <a:r>
              <a:rPr sz="2000" b="1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2000" b="1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line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 interfac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2900" dirty="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Be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familiar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with </a:t>
            </a:r>
            <a:r>
              <a:rPr sz="2000" b="1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structure</a:t>
            </a: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components.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7000" y="4038600"/>
            <a:ext cx="57194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85" dirty="0">
                <a:solidFill>
                  <a:srgbClr val="D2523B"/>
                </a:solidFill>
                <a:latin typeface="Arial"/>
                <a:cs typeface="Arial"/>
              </a:rPr>
              <a:t>Linux</a:t>
            </a:r>
            <a:r>
              <a:rPr sz="4800" b="1" spc="-19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90" dirty="0">
                <a:solidFill>
                  <a:srgbClr val="D2523B"/>
                </a:solidFill>
                <a:latin typeface="Arial"/>
                <a:cs typeface="Arial"/>
              </a:rPr>
              <a:t>history</a:t>
            </a:r>
            <a:endParaRPr sz="48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5" dirty="0"/>
              <a:t>Multics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16346" y="1339268"/>
            <a:ext cx="7922260" cy="2975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60s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computers were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huge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and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expensive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Researchers wanted an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OS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that would allow many users to share a single computer simultaneously.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sz="35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10" dirty="0">
                <a:solidFill>
                  <a:srgbClr val="292934"/>
                </a:solidFill>
                <a:latin typeface="Arial MT"/>
                <a:cs typeface="Arial MT"/>
              </a:rPr>
              <a:t>A project called </a:t>
            </a:r>
            <a:r>
              <a:rPr lang="en-US" sz="2400" b="1" spc="-10" dirty="0">
                <a:solidFill>
                  <a:srgbClr val="FF0000"/>
                </a:solidFill>
                <a:latin typeface="Arial MT"/>
                <a:cs typeface="Arial MT"/>
              </a:rPr>
              <a:t>Multics</a:t>
            </a:r>
            <a:r>
              <a:rPr lang="en-US" sz="2400" spc="-10" dirty="0">
                <a:solidFill>
                  <a:srgbClr val="292934"/>
                </a:solidFill>
                <a:latin typeface="Arial MT"/>
                <a:cs typeface="Arial MT"/>
              </a:rPr>
              <a:t> was started by </a:t>
            </a:r>
            <a:r>
              <a:rPr lang="en-US" sz="2400" b="1" spc="-10" dirty="0">
                <a:solidFill>
                  <a:srgbClr val="292934"/>
                </a:solidFill>
                <a:latin typeface="Arial MT"/>
                <a:cs typeface="Arial MT"/>
              </a:rPr>
              <a:t>MIT</a:t>
            </a:r>
            <a:r>
              <a:rPr lang="en-US" sz="2400" spc="-10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lang="en-US" sz="2400" b="1" spc="-10" dirty="0">
                <a:solidFill>
                  <a:srgbClr val="292934"/>
                </a:solidFill>
                <a:latin typeface="Arial MT"/>
                <a:cs typeface="Arial MT"/>
              </a:rPr>
              <a:t>Bell Labs</a:t>
            </a:r>
            <a:r>
              <a:rPr lang="en-US" sz="2400" spc="-1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B32F2-785F-4121-A983-41C8AB7ABE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252" y="4366404"/>
            <a:ext cx="3319279" cy="2190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5DA76E-F961-451A-AF77-B9DA6EA44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66" y="4320972"/>
            <a:ext cx="3048000" cy="21719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44174D-6F30-4D51-94F6-FAF21BF0B0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314441"/>
            <a:ext cx="2418475" cy="217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5" dirty="0"/>
              <a:t>Unix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16346" y="1339268"/>
            <a:ext cx="7922260" cy="45166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400" b="1" spc="-15" dirty="0">
                <a:solidFill>
                  <a:srgbClr val="292934"/>
                </a:solidFill>
                <a:latin typeface="Arial MT"/>
                <a:cs typeface="Arial MT"/>
              </a:rPr>
              <a:t>1969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Bell labs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withdrew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from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Multics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project.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But one researcher at Bell Labs, </a:t>
            </a:r>
            <a:r>
              <a:rPr lang="en-US" sz="2400" b="1" dirty="0">
                <a:solidFill>
                  <a:srgbClr val="FF0000"/>
                </a:solidFill>
                <a:latin typeface="Arial MT"/>
                <a:cs typeface="Arial MT"/>
              </a:rPr>
              <a:t>Ken Thompson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, still wanted a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simple OS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to run a game he had written.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He decided to start working on a new OS himself.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His friend made a play on “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Multics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” – called it “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UNIX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”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</a:tabLst>
            </a:pPr>
            <a:endParaRPr sz="3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41099-2906-4CE8-8712-73AA70E70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4367847"/>
            <a:ext cx="2590800" cy="255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5" dirty="0"/>
              <a:t>Unix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16346" y="1339268"/>
            <a:ext cx="8475254" cy="58631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Soon, </a:t>
            </a:r>
            <a:r>
              <a:rPr lang="en-US" sz="2400" b="1" dirty="0">
                <a:solidFill>
                  <a:srgbClr val="FF0000"/>
                </a:solidFill>
                <a:latin typeface="Arial MT"/>
                <a:cs typeface="Arial MT"/>
              </a:rPr>
              <a:t>Dennis Ritchie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joined the project.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At that time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OSs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were almost always written in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assembly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Dennis developed the </a:t>
            </a:r>
            <a:r>
              <a:rPr lang="en-US" sz="2400" b="1" dirty="0">
                <a:solidFill>
                  <a:srgbClr val="FF0000"/>
                </a:solidFill>
                <a:latin typeface="Arial MT"/>
                <a:cs typeface="Arial MT"/>
              </a:rPr>
              <a:t>C Programming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language.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Unix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was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rewritten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in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This was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revolutionary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because now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UNIX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could be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recompiled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for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different hardware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instead of being rewritten from scratch in assembly.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80669-3C4A-43A8-9964-4EB2B1BDB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655" y="5181600"/>
            <a:ext cx="2394062" cy="157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5" dirty="0"/>
              <a:t>Unix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16346" y="1339268"/>
            <a:ext cx="7922260" cy="5111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During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1980s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, many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companies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created their own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UNIX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versions and they sold it for </a:t>
            </a: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money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. 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</a:rPr>
              <a:t>Sun Microsystems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 Solaris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  <a:sym typeface="Wingdings" panose="05000000000000000000" pitchFamily="2" charset="2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IBM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  AIX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  <a:sym typeface="Wingdings" panose="05000000000000000000" pitchFamily="2" charset="2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Silicon Graphics 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  <a:sym typeface="Wingdings" panose="05000000000000000000" pitchFamily="2" charset="2"/>
              </a:rPr>
              <a:t> IRIX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90883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359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04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8455660" cy="387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60s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and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early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70s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programmers were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used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endParaRPr sz="2400" dirty="0">
              <a:latin typeface="Arial MT"/>
              <a:cs typeface="Arial MT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distribute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 MT"/>
                <a:cs typeface="Arial MT"/>
              </a:rPr>
              <a:t>source</a:t>
            </a:r>
            <a:r>
              <a:rPr sz="2400" b="1"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 MT"/>
                <a:cs typeface="Arial MT"/>
              </a:rPr>
              <a:t>code</a:t>
            </a:r>
            <a:r>
              <a:rPr sz="2400" b="1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their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 MT"/>
                <a:cs typeface="Arial MT"/>
              </a:rPr>
              <a:t>programs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b="1" spc="-10" dirty="0">
                <a:solidFill>
                  <a:srgbClr val="FF0000"/>
                </a:solidFill>
                <a:latin typeface="Arial MT"/>
                <a:cs typeface="Arial MT"/>
              </a:rPr>
              <a:t>Unix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family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292934"/>
                </a:solidFill>
                <a:latin typeface="Arial MT"/>
                <a:cs typeface="Arial MT"/>
              </a:rPr>
              <a:t>multitasking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i="1" spc="-5" dirty="0">
                <a:solidFill>
                  <a:srgbClr val="292934"/>
                </a:solidFill>
                <a:latin typeface="Arial MT"/>
                <a:cs typeface="Arial MT"/>
              </a:rPr>
              <a:t>multiuser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computer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operating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systems,</a:t>
            </a:r>
            <a:r>
              <a:rPr sz="24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was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developed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1970s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-6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Bell</a:t>
            </a:r>
            <a:r>
              <a:rPr sz="2400" b="1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Labs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research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center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by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Ken</a:t>
            </a:r>
            <a:r>
              <a:rPr sz="2400" b="1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Thompson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Dennis 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Ritchie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other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lang="en-US" sz="24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But,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things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started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change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late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70s/early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80s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when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manufacturers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stopped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provid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ing</a:t>
            </a:r>
            <a:r>
              <a:rPr sz="2400" b="1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source</a:t>
            </a:r>
            <a:r>
              <a:rPr sz="2400" b="1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code.</a:t>
            </a:r>
            <a:endParaRPr sz="2400" b="1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207633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B7AA-0310-4F86-8298-2A385B9B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94268"/>
            <a:ext cx="9446260" cy="1231106"/>
          </a:xfrm>
        </p:spPr>
        <p:txBody>
          <a:bodyPr/>
          <a:lstStyle/>
          <a:p>
            <a:r>
              <a:rPr lang="en-US" dirty="0"/>
              <a:t>Richard Stallman (Free SW Movement)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43D1-16B5-4D92-82E6-95E82270A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0801" y="5937312"/>
            <a:ext cx="4038600" cy="1107996"/>
          </a:xfrm>
        </p:spPr>
        <p:txBody>
          <a:bodyPr/>
          <a:lstStyle/>
          <a:p>
            <a:r>
              <a:rPr lang="en-US" b="1" dirty="0">
                <a:hlinkClick r:id="rId2" action="ppaction://hlinkfile"/>
              </a:rPr>
              <a:t>Richard Stallman Explains Everything</a:t>
            </a:r>
          </a:p>
          <a:p>
            <a:br>
              <a:rPr lang="en-US" dirty="0"/>
            </a:br>
            <a:br>
              <a:rPr lang="en-US" dirty="0">
                <a:hlinkClick r:id="rId2" action="ppaction://hlinkfile"/>
              </a:rPr>
            </a:br>
            <a:endParaRPr lang="en-US" dirty="0">
              <a:hlinkClick r:id="rId2" action="ppaction://hlinkfile"/>
            </a:endParaRPr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253D9F0D-DF07-4E74-878A-D49789FCB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371600"/>
            <a:ext cx="2997229" cy="434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1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BCE6-4651-44CF-9581-D76A035A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Richard Stallman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F8141-A96D-4DB4-8D49-317C9F4C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8400" y="5606265"/>
            <a:ext cx="8072119" cy="553998"/>
          </a:xfrm>
        </p:spPr>
        <p:txBody>
          <a:bodyPr/>
          <a:lstStyle/>
          <a:p>
            <a:r>
              <a:rPr lang="en-US" b="1" dirty="0">
                <a:hlinkClick r:id="rId2"/>
              </a:rPr>
              <a:t>Richard Stallman Talks About Ubuntu</a:t>
            </a:r>
            <a:endParaRPr 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5F679-C322-4757-9173-623EBECD9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03" y="1524000"/>
            <a:ext cx="5538591" cy="355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8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04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4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21426" y="1336366"/>
            <a:ext cx="7989570" cy="288168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94945" marR="40005" indent="-182880">
              <a:lnSpc>
                <a:spcPct val="90100"/>
              </a:lnSpc>
              <a:spcBef>
                <a:spcPts val="3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In the late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1970s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and early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1980s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Stallman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had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been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working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as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hacker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Artificial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Intelligence</a:t>
            </a:r>
            <a:r>
              <a:rPr sz="24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Laboratory(AI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Lab)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of the (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MIT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).</a:t>
            </a:r>
            <a:endParaRPr lang="en-US" sz="240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40005" indent="-182880">
              <a:lnSpc>
                <a:spcPct val="90100"/>
              </a:lnSpc>
              <a:spcBef>
                <a:spcPts val="38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sz="3250" dirty="0">
              <a:latin typeface="Arial MT"/>
              <a:cs typeface="Arial MT"/>
            </a:endParaRPr>
          </a:p>
          <a:p>
            <a:pPr marL="194945" marR="59055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They had a </a:t>
            </a:r>
            <a:r>
              <a:rPr lang="en-US" sz="2400" b="1" spc="-5" dirty="0">
                <a:solidFill>
                  <a:srgbClr val="FF0000"/>
                </a:solidFill>
                <a:latin typeface="Arial MT"/>
                <a:cs typeface="Arial MT"/>
              </a:rPr>
              <a:t>printer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in the lab which sometimes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jammed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4945" marR="59055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59055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He decided to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modify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its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source code 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himself so he can add a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notification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feature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45BB8-3296-4D60-B1A8-50F451C19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844" y="4283366"/>
            <a:ext cx="5070479" cy="26399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45485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04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4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914400"/>
            <a:ext cx="8144510" cy="4717317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</a:pPr>
            <a:r>
              <a:rPr lang="en-US" sz="3250" dirty="0">
                <a:latin typeface="Arial MT"/>
                <a:cs typeface="Arial MT"/>
              </a:rPr>
              <a:t>	</a:t>
            </a: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The lab later in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1980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received a new, faster laser printer from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Xerox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new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printer had the same problem, but this time the driver software was </a:t>
            </a: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proprietary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94945" marR="5080" indent="-182880">
              <a:lnSpc>
                <a:spcPts val="259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Xerox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refused to share their printer’s source code.</a:t>
            </a:r>
            <a:endParaRPr lang="en-US"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2A199"/>
              </a:buClr>
              <a:buFont typeface="Arial MT"/>
              <a:buChar char="•"/>
            </a:pPr>
            <a:endParaRPr sz="3250" dirty="0">
              <a:latin typeface="Arial MT"/>
              <a:cs typeface="Arial MT"/>
            </a:endParaRPr>
          </a:p>
          <a:p>
            <a:pPr marL="194945" marR="278765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This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event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convinced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him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people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need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be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free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lang="en-US"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endParaRPr lang="en-US" sz="2400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278765" lvl="1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Understand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how their software works.</a:t>
            </a:r>
          </a:p>
          <a:p>
            <a:pPr marL="652145" marR="278765" lvl="1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Modify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the software to meet their needs.</a:t>
            </a:r>
          </a:p>
          <a:p>
            <a:pPr marL="652145" marR="278765" lvl="1" indent="-182880">
              <a:lnSpc>
                <a:spcPts val="259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Arial MT"/>
                <a:cs typeface="Arial MT"/>
              </a:rPr>
              <a:t>Share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 improvements with others. 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84E65-11F4-41F8-829A-2996263A0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953" y="5206970"/>
            <a:ext cx="3563047" cy="147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30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46100" y="1500461"/>
            <a:ext cx="8597900" cy="30950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ts val="2375"/>
              </a:lnSpc>
              <a:spcBef>
                <a:spcPts val="9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September</a:t>
            </a:r>
            <a:r>
              <a:rPr sz="22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27,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1983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Stallman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announced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GNU</a:t>
            </a:r>
            <a:endParaRPr sz="2200" b="1" dirty="0">
              <a:latin typeface="Arial MT"/>
              <a:cs typeface="Arial MT"/>
            </a:endParaRPr>
          </a:p>
          <a:p>
            <a:pPr marL="194945">
              <a:lnSpc>
                <a:spcPts val="2375"/>
              </a:lnSpc>
            </a:pP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 dirty="0">
              <a:latin typeface="Arial MT"/>
              <a:cs typeface="Arial MT"/>
            </a:endParaRPr>
          </a:p>
          <a:p>
            <a:pPr marL="194945" marR="624205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GNU</a:t>
            </a:r>
            <a:r>
              <a:rPr sz="2200" b="1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200" b="1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aims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at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developing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complete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operating </a:t>
            </a:r>
            <a:r>
              <a:rPr sz="2200" b="1" spc="-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offering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freedoms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endParaRPr lang="en-US" sz="2200" spc="1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624205" lvl="1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b="1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endParaRPr lang="en-US" sz="2200" b="1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624205" lvl="1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b="1" spc="-3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2200" b="1" spc="-35" dirty="0">
                <a:solidFill>
                  <a:srgbClr val="292934"/>
                </a:solidFill>
                <a:latin typeface="Arial MT"/>
                <a:cs typeface="Arial MT"/>
              </a:rPr>
              <a:t>tudy</a:t>
            </a:r>
            <a:endParaRPr lang="en-US" sz="2200" b="1" spc="-3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624205" lvl="1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b="1" spc="-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odify</a:t>
            </a:r>
            <a:r>
              <a:rPr sz="2200" b="1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and </a:t>
            </a:r>
            <a:endParaRPr lang="en-US" sz="2200" b="1" spc="-5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652145" marR="624205" lvl="1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b="1" spc="-5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istribute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2A199"/>
              </a:buClr>
              <a:buFont typeface="Arial MT"/>
              <a:buChar char="•"/>
            </a:pP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DBBFF-7A33-4BDA-8B99-406035DC0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810000"/>
            <a:ext cx="3187864" cy="2787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455FA-DDE2-4F28-BE15-8407CD46B8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350780"/>
            <a:ext cx="3502863" cy="2247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02257"/>
            <a:ext cx="8608060" cy="19357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  <a:buClr>
                <a:srgbClr val="92A199"/>
              </a:buClr>
            </a:pPr>
            <a:endParaRPr sz="2750" dirty="0">
              <a:latin typeface="Arial MT"/>
              <a:cs typeface="Arial MT"/>
            </a:endParaRPr>
          </a:p>
          <a:p>
            <a:pPr marL="194945" marR="5080" indent="-182880">
              <a:lnSpc>
                <a:spcPts val="211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By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early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1990s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there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was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almost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enough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available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200" spc="-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 create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full operating</a:t>
            </a:r>
            <a:r>
              <a:rPr sz="2200" b="1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292934"/>
                </a:solidFill>
                <a:latin typeface="Arial MT"/>
                <a:cs typeface="Arial MT"/>
              </a:rPr>
              <a:t>However,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Arial MT"/>
                <a:cs typeface="Arial MT"/>
              </a:rPr>
              <a:t>GNU</a:t>
            </a:r>
            <a:r>
              <a:rPr sz="2200" b="1" spc="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Arial MT"/>
                <a:cs typeface="Arial MT"/>
              </a:rPr>
              <a:t>kernel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called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Hurd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failed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attract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enough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development</a:t>
            </a:r>
            <a:r>
              <a:rPr sz="22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effort,</a:t>
            </a:r>
            <a:r>
              <a:rPr sz="22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leaving </a:t>
            </a:r>
            <a:r>
              <a:rPr sz="2200" spc="-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GNU incomplete.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92A199"/>
              </a:buClr>
              <a:buFont typeface="Arial MT"/>
              <a:buChar char="•"/>
            </a:pPr>
            <a:endParaRPr sz="275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12BC9-6390-42CF-B0E5-9506CBCCD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50" y="3048000"/>
            <a:ext cx="4533900" cy="331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8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14169" y="1440090"/>
            <a:ext cx="8006715" cy="3506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1991,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Finland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student,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Linus</a:t>
            </a:r>
            <a:r>
              <a:rPr sz="2400" b="1" spc="-35" dirty="0">
                <a:solidFill>
                  <a:srgbClr val="292934"/>
                </a:solidFill>
                <a:latin typeface="Arial MT"/>
                <a:cs typeface="Arial MT"/>
              </a:rPr>
              <a:t> Torvalds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began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later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became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b="1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 MT"/>
                <a:cs typeface="Arial MT"/>
              </a:rPr>
              <a:t>kernel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He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wrote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program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specifically</a:t>
            </a:r>
            <a:r>
              <a:rPr sz="24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hardware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was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using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80386 </a:t>
            </a:r>
            <a:r>
              <a:rPr sz="2400" spc="-6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processor.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Development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was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done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MINIX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using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GNU</a:t>
            </a:r>
            <a:r>
              <a:rPr sz="2400" b="1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 MT"/>
                <a:cs typeface="Arial MT"/>
              </a:rPr>
              <a:t>C </a:t>
            </a:r>
            <a:r>
              <a:rPr sz="2400" b="1" spc="-20" dirty="0">
                <a:solidFill>
                  <a:srgbClr val="292934"/>
                </a:solidFill>
                <a:latin typeface="Arial MT"/>
                <a:cs typeface="Arial MT"/>
              </a:rPr>
              <a:t>compiler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 dirty="0">
              <a:latin typeface="Arial MT"/>
              <a:cs typeface="Arial MT"/>
            </a:endParaRPr>
          </a:p>
          <a:p>
            <a:pPr marL="194945" marR="87630" indent="-182880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As</a:t>
            </a:r>
            <a:r>
              <a:rPr sz="24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Torvalds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wrote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his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book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'Just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for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Fun',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eventually </a:t>
            </a:r>
            <a:r>
              <a:rPr sz="2400" spc="-6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ended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up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writing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operating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kernel.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25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August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1991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(age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21</a:t>
            </a:r>
            <a:r>
              <a:rPr lang="en-US" sz="2400" spc="-5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50BFA-8BC8-4096-91CA-43A94725C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495800"/>
            <a:ext cx="1828500" cy="2240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6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Hi</a:t>
            </a:r>
            <a:r>
              <a:rPr spc="-100" dirty="0"/>
              <a:t>st</a:t>
            </a:r>
            <a:r>
              <a:rPr spc="-105" dirty="0"/>
              <a:t>or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92325"/>
            <a:ext cx="7854950" cy="4207177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94945" marR="248920" indent="-182880">
              <a:lnSpc>
                <a:spcPct val="90100"/>
              </a:lnSpc>
              <a:spcBef>
                <a:spcPts val="35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1992,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suggested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releasing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kernel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under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GNU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endParaRPr lang="en-US" sz="2200" spc="10" dirty="0">
              <a:solidFill>
                <a:srgbClr val="292934"/>
              </a:solidFill>
              <a:latin typeface="Arial MT"/>
              <a:cs typeface="Arial MT"/>
            </a:endParaRPr>
          </a:p>
          <a:p>
            <a:pPr marL="12065" marR="248920">
              <a:lnSpc>
                <a:spcPct val="90100"/>
              </a:lnSpc>
              <a:spcBef>
                <a:spcPts val="355"/>
              </a:spcBef>
              <a:buClr>
                <a:srgbClr val="92A199"/>
              </a:buClr>
              <a:buSzPct val="84090"/>
              <a:tabLst>
                <a:tab pos="195580" algn="l"/>
              </a:tabLst>
            </a:pPr>
            <a:endParaRPr sz="3000" dirty="0">
              <a:latin typeface="Arial MT"/>
              <a:cs typeface="Arial MT"/>
            </a:endParaRPr>
          </a:p>
          <a:p>
            <a:pPr marL="194945" marR="549275" indent="-182880">
              <a:lnSpc>
                <a:spcPts val="238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GNU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developers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worked</a:t>
            </a:r>
            <a:r>
              <a:rPr sz="22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integrate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GNU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components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Linux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make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fully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functional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and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free </a:t>
            </a:r>
            <a:r>
              <a:rPr sz="2200" spc="-5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operating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system.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92A199"/>
              </a:buClr>
              <a:buFont typeface="Arial MT"/>
              <a:buChar char="•"/>
            </a:pPr>
            <a:endParaRPr sz="2950" dirty="0">
              <a:latin typeface="Arial MT"/>
              <a:cs typeface="Arial MT"/>
            </a:endParaRPr>
          </a:p>
          <a:p>
            <a:pPr marL="194945" marR="5080" indent="-182880">
              <a:lnSpc>
                <a:spcPts val="238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GNU/Linux</a:t>
            </a:r>
            <a:r>
              <a:rPr sz="2200" b="1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1992</a:t>
            </a:r>
            <a:r>
              <a:rPr sz="22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complete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2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open</a:t>
            </a:r>
            <a:r>
              <a:rPr sz="2200" b="1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source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,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Arial MT"/>
                <a:cs typeface="Arial MT"/>
              </a:rPr>
              <a:t>UNIX-like</a:t>
            </a:r>
            <a:r>
              <a:rPr sz="22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operating </a:t>
            </a:r>
            <a:r>
              <a:rPr sz="2200" spc="-5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system)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27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u="heavy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2"/>
              </a:rPr>
              <a:t>https://www.gnu.org.ua/</a:t>
            </a:r>
            <a:endParaRPr lang="en-US" sz="2200" u="heavy" spc="-5" dirty="0">
              <a:solidFill>
                <a:srgbClr val="800080"/>
              </a:solidFill>
              <a:uFill>
                <a:solidFill>
                  <a:srgbClr val="800080"/>
                </a:solidFill>
              </a:uFill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https://youtu.be/XMm0HsmOTFI</a:t>
            </a:r>
            <a:r>
              <a:rPr sz="2200" spc="80" dirty="0">
                <a:solidFill>
                  <a:srgbClr val="0000FF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-</a:t>
            </a:r>
            <a:r>
              <a:rPr sz="18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292934"/>
                </a:solidFill>
                <a:latin typeface="Arial MT"/>
                <a:cs typeface="Arial MT"/>
              </a:rPr>
              <a:t>Watch</a:t>
            </a:r>
            <a:r>
              <a:rPr sz="18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This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(Subtitles</a:t>
            </a:r>
            <a:r>
              <a:rPr sz="18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available)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8536" y="1437259"/>
            <a:ext cx="6591300" cy="39729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50870" y="4063060"/>
            <a:ext cx="30079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95" dirty="0">
                <a:solidFill>
                  <a:srgbClr val="D2523B"/>
                </a:solidFill>
                <a:latin typeface="Arial"/>
                <a:cs typeface="Arial"/>
              </a:rPr>
              <a:t>W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h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y</a:t>
            </a:r>
            <a:r>
              <a:rPr sz="4800" b="1" spc="-204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Linu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x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296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Wh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4894"/>
            <a:ext cx="7912100" cy="37811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Free,</a:t>
            </a:r>
            <a:r>
              <a:rPr sz="20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Safe,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Robust.</a:t>
            </a:r>
            <a:endParaRPr sz="20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Source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code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all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related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SW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available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 (</a:t>
            </a:r>
            <a:r>
              <a:rPr lang="en-US" sz="2000" b="1" dirty="0">
                <a:solidFill>
                  <a:srgbClr val="292934"/>
                </a:solidFill>
                <a:latin typeface="Arial MT"/>
                <a:cs typeface="Arial MT"/>
              </a:rPr>
              <a:t>Open Source</a:t>
            </a:r>
            <a:r>
              <a:rPr lang="en-US" sz="2000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194945" marR="20320" indent="-182880">
              <a:lnSpc>
                <a:spcPct val="80000"/>
              </a:lnSpc>
              <a:spcBef>
                <a:spcPts val="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Ported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large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variety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CPU architectures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(X86,</a:t>
            </a:r>
            <a:r>
              <a:rPr sz="2000" spc="-1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ARM,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PowerPC, </a:t>
            </a:r>
            <a:r>
              <a:rPr sz="2000" spc="-5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etc).</a:t>
            </a:r>
            <a:endParaRPr sz="20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32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Large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device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drivers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coverage.</a:t>
            </a:r>
            <a:endParaRPr sz="20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Hosting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huge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number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languages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libraries.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194945" marR="368935" indent="-182880">
              <a:lnSpc>
                <a:spcPct val="80000"/>
              </a:lnSpc>
              <a:spcBef>
                <a:spcPts val="5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is highly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modularized,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making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it easy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build something </a:t>
            </a:r>
            <a:r>
              <a:rPr sz="2000" spc="-5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new.</a:t>
            </a:r>
            <a:endParaRPr sz="20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1440"/>
              </a:spcBef>
              <a:buClr>
                <a:srgbClr val="92A199"/>
              </a:buClr>
              <a:buSzPct val="85000"/>
              <a:buChar char="•"/>
              <a:tabLst>
                <a:tab pos="19558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Large</a:t>
            </a: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Community.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503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Wh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940" y="1625549"/>
            <a:ext cx="7230745" cy="3831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 algn="just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everywhere.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It's on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your servers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and in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your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phones, cars, watches,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toasters, refrigerators...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and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desktops.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92A199"/>
              </a:buClr>
              <a:buFont typeface="Arial MT"/>
              <a:buChar char="•"/>
            </a:pPr>
            <a:endParaRPr sz="35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75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need to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switch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if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love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free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stuff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You’re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obsessed</a:t>
            </a: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customizing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things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love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creating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things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love being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part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 group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working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with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others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spc="-60" dirty="0">
                <a:solidFill>
                  <a:srgbClr val="292934"/>
                </a:solidFill>
                <a:latin typeface="Arial MT"/>
                <a:cs typeface="Arial MT"/>
              </a:rPr>
              <a:t>You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love</a:t>
            </a:r>
            <a:r>
              <a:rPr sz="2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idea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choice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503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Wh</a:t>
            </a:r>
            <a:r>
              <a:rPr spc="-5" dirty="0"/>
              <a:t>y</a:t>
            </a:r>
            <a:r>
              <a:rPr spc="-20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  <a:r>
              <a:rPr spc="-200" dirty="0"/>
              <a:t> </a:t>
            </a:r>
            <a:r>
              <a:rPr sz="2800" spc="-100" dirty="0"/>
              <a:t>(</a:t>
            </a:r>
            <a:r>
              <a:rPr sz="2800" spc="-95" dirty="0"/>
              <a:t>con</a:t>
            </a:r>
            <a:r>
              <a:rPr sz="2800" spc="-100" dirty="0"/>
              <a:t>t’d)</a:t>
            </a:r>
            <a:endParaRPr sz="28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A9F3D85-75F8-4DDD-AA58-566831D2A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612527"/>
            <a:ext cx="2254366" cy="20765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A484F7A-C85C-44E2-B5BE-FF8E5D2FC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2724290" cy="387296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2720CF-716F-448C-83D3-BBEC49978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343400"/>
            <a:ext cx="3773030" cy="20765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4974" y="4063060"/>
            <a:ext cx="783970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95" dirty="0">
                <a:solidFill>
                  <a:srgbClr val="D2523B"/>
                </a:solidFill>
                <a:latin typeface="Arial"/>
                <a:cs typeface="Arial"/>
              </a:rPr>
              <a:t>Different</a:t>
            </a:r>
            <a:r>
              <a:rPr sz="4800" b="1" spc="-229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85" dirty="0">
                <a:solidFill>
                  <a:srgbClr val="D2523B"/>
                </a:solidFill>
                <a:latin typeface="Arial"/>
                <a:cs typeface="Arial"/>
              </a:rPr>
              <a:t>Linux</a:t>
            </a:r>
            <a:r>
              <a:rPr sz="4800" b="1" spc="-20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95" dirty="0">
                <a:solidFill>
                  <a:srgbClr val="D2523B"/>
                </a:solidFill>
                <a:latin typeface="Arial"/>
                <a:cs typeface="Arial"/>
              </a:rPr>
              <a:t>distributions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877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Di</a:t>
            </a:r>
            <a:r>
              <a:rPr spc="-170" dirty="0"/>
              <a:t>f</a:t>
            </a:r>
            <a:r>
              <a:rPr spc="-100" dirty="0"/>
              <a:t>f</a:t>
            </a:r>
            <a:r>
              <a:rPr spc="-105" dirty="0"/>
              <a:t>eren</a:t>
            </a:r>
            <a:r>
              <a:rPr spc="-5" dirty="0"/>
              <a:t>t</a:t>
            </a:r>
            <a:r>
              <a:rPr spc="-21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Di</a:t>
            </a:r>
            <a:r>
              <a:rPr spc="-100" dirty="0"/>
              <a:t>st</a:t>
            </a:r>
            <a:r>
              <a:rPr spc="-105" dirty="0"/>
              <a:t>ribu</a:t>
            </a:r>
            <a:r>
              <a:rPr spc="-100" dirty="0"/>
              <a:t>t</a:t>
            </a:r>
            <a:r>
              <a:rPr spc="-105" dirty="0"/>
              <a:t>ion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3376295" cy="4565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580"/>
              </a:spcBef>
              <a:buFont typeface="Arial" panose="020B0604020202020204" pitchFamily="34" charset="0"/>
              <a:buChar char="•"/>
              <a:tabLst>
                <a:tab pos="267335" algn="l"/>
              </a:tabLst>
            </a:pPr>
            <a:endParaRPr sz="2400" dirty="0">
              <a:latin typeface="Arial MT"/>
              <a:cs typeface="Arial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AACE7B-3698-4620-99BB-CE624433D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09" y="2008538"/>
            <a:ext cx="8407989" cy="44621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Linux</a:t>
            </a:r>
            <a:r>
              <a:rPr spc="-15" dirty="0"/>
              <a:t> </a:t>
            </a:r>
            <a:r>
              <a:rPr spc="-5" dirty="0"/>
              <a:t>is</a:t>
            </a:r>
            <a:r>
              <a:rPr spc="-15" dirty="0"/>
              <a:t> </a:t>
            </a:r>
            <a:r>
              <a:rPr spc="-5" dirty="0"/>
              <a:t>like</a:t>
            </a:r>
            <a:r>
              <a:rPr spc="-15" dirty="0"/>
              <a:t> </a:t>
            </a:r>
            <a:r>
              <a:rPr dirty="0"/>
              <a:t>Lego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6832" y="3200400"/>
            <a:ext cx="3459479" cy="27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877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Di</a:t>
            </a:r>
            <a:r>
              <a:rPr spc="-170" dirty="0"/>
              <a:t>f</a:t>
            </a:r>
            <a:r>
              <a:rPr spc="-100" dirty="0"/>
              <a:t>f</a:t>
            </a:r>
            <a:r>
              <a:rPr spc="-105" dirty="0"/>
              <a:t>eren</a:t>
            </a:r>
            <a:r>
              <a:rPr spc="-5" dirty="0"/>
              <a:t>t</a:t>
            </a:r>
            <a:r>
              <a:rPr spc="-210" dirty="0"/>
              <a:t> </a:t>
            </a:r>
            <a:r>
              <a:rPr spc="-105" dirty="0"/>
              <a:t>Linu</a:t>
            </a:r>
            <a:r>
              <a:rPr spc="-5" dirty="0"/>
              <a:t>x</a:t>
            </a:r>
            <a:r>
              <a:rPr spc="-210" dirty="0"/>
              <a:t> </a:t>
            </a:r>
            <a:r>
              <a:rPr spc="-105" dirty="0"/>
              <a:t>Di</a:t>
            </a:r>
            <a:r>
              <a:rPr spc="-100" dirty="0"/>
              <a:t>st</a:t>
            </a:r>
            <a:r>
              <a:rPr spc="-105" dirty="0"/>
              <a:t>ribu</a:t>
            </a:r>
            <a:r>
              <a:rPr spc="-100" dirty="0"/>
              <a:t>t</a:t>
            </a:r>
            <a:r>
              <a:rPr spc="-105" dirty="0"/>
              <a:t>ion</a:t>
            </a:r>
            <a:r>
              <a:rPr spc="-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3376295" cy="485521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37795" algn="ctr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(PC)</a:t>
            </a:r>
            <a:endParaRPr sz="24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580"/>
              </a:spcBef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RedHat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RedHat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Enterprise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Centos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80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Fedora</a:t>
            </a:r>
            <a:endParaRPr sz="24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575"/>
              </a:spcBef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Debian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Debian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Ubuntu</a:t>
            </a:r>
            <a:endParaRPr sz="24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580"/>
              </a:spcBef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SUSE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75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SUSE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Enterprise</a:t>
            </a:r>
            <a:endParaRPr sz="2400">
              <a:latin typeface="Arial MT"/>
              <a:cs typeface="Arial MT"/>
            </a:endParaRPr>
          </a:p>
          <a:p>
            <a:pPr marL="854075" lvl="1" indent="-191135">
              <a:lnSpc>
                <a:spcPct val="100000"/>
              </a:lnSpc>
              <a:spcBef>
                <a:spcPts val="580"/>
              </a:spcBef>
              <a:buChar char="•"/>
              <a:tabLst>
                <a:tab pos="85471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Open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SUSE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7848" y="1442165"/>
            <a:ext cx="3141980" cy="288036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5715">
              <a:lnSpc>
                <a:spcPct val="100000"/>
              </a:lnSpc>
              <a:spcBef>
                <a:spcPts val="1545"/>
              </a:spcBef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(Embedded)</a:t>
            </a:r>
            <a:endParaRPr sz="24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spcBef>
                <a:spcPts val="1445"/>
              </a:spcBef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Ångström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distribution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92934"/>
              </a:buClr>
              <a:buFont typeface="Arial MT"/>
              <a:buChar char="–"/>
            </a:pPr>
            <a:endParaRPr sz="35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Embedded Debian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292934"/>
              </a:buClr>
              <a:buFont typeface="Arial MT"/>
              <a:buChar char="–"/>
            </a:pPr>
            <a:endParaRPr sz="3500">
              <a:latin typeface="Arial MT"/>
              <a:cs typeface="Arial MT"/>
            </a:endParaRPr>
          </a:p>
          <a:p>
            <a:pPr marL="266700" indent="-254635">
              <a:lnSpc>
                <a:spcPct val="100000"/>
              </a:lnSpc>
              <a:buChar char="–"/>
              <a:tabLst>
                <a:tab pos="267335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Ubuntu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7848" y="4808296"/>
            <a:ext cx="100774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–</a:t>
            </a:r>
            <a:r>
              <a:rPr sz="2400" spc="-1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Tizen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7848" y="5686755"/>
            <a:ext cx="1736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–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Firefox</a:t>
            </a:r>
            <a:r>
              <a:rPr sz="24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OS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190835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7280" y="4215460"/>
            <a:ext cx="55746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Ge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t</a:t>
            </a:r>
            <a:r>
              <a:rPr sz="4800" b="1" spc="-19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a</a:t>
            </a:r>
            <a:r>
              <a:rPr sz="4800" b="1" spc="-19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465" dirty="0">
                <a:solidFill>
                  <a:srgbClr val="D2523B"/>
                </a:solidFill>
                <a:latin typeface="Arial"/>
                <a:cs typeface="Arial"/>
              </a:rPr>
              <a:t>T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ast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e</a:t>
            </a:r>
            <a:r>
              <a:rPr sz="4800" b="1" spc="-18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o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f</a:t>
            </a:r>
            <a:r>
              <a:rPr sz="4800" b="1" spc="-19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105" dirty="0">
                <a:solidFill>
                  <a:srgbClr val="D2523B"/>
                </a:solidFill>
                <a:latin typeface="Arial"/>
                <a:cs typeface="Arial"/>
              </a:rPr>
              <a:t>Linu</a:t>
            </a:r>
            <a:r>
              <a:rPr sz="4800" b="1" dirty="0">
                <a:solidFill>
                  <a:srgbClr val="D2523B"/>
                </a:solidFill>
                <a:latin typeface="Arial"/>
                <a:cs typeface="Arial"/>
              </a:rPr>
              <a:t>x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603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5" dirty="0">
                <a:latin typeface="Arial"/>
                <a:cs typeface="Arial"/>
              </a:rPr>
              <a:t>Ge</a:t>
            </a:r>
            <a:r>
              <a:rPr b="1" spc="-5" dirty="0">
                <a:latin typeface="Arial"/>
                <a:cs typeface="Arial"/>
              </a:rPr>
              <a:t>t</a:t>
            </a:r>
            <a:r>
              <a:rPr b="1" spc="-19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</a:t>
            </a:r>
            <a:r>
              <a:rPr b="1" spc="-200" dirty="0">
                <a:latin typeface="Arial"/>
                <a:cs typeface="Arial"/>
              </a:rPr>
              <a:t> </a:t>
            </a:r>
            <a:r>
              <a:rPr b="1" spc="-405" dirty="0">
                <a:latin typeface="Arial"/>
                <a:cs typeface="Arial"/>
              </a:rPr>
              <a:t>T</a:t>
            </a:r>
            <a:r>
              <a:rPr b="1" spc="-105" dirty="0">
                <a:latin typeface="Arial"/>
                <a:cs typeface="Arial"/>
              </a:rPr>
              <a:t>ast</a:t>
            </a:r>
            <a:r>
              <a:rPr b="1" spc="-5" dirty="0">
                <a:latin typeface="Arial"/>
                <a:cs typeface="Arial"/>
              </a:rPr>
              <a:t>e</a:t>
            </a:r>
            <a:r>
              <a:rPr b="1" spc="-195" dirty="0">
                <a:latin typeface="Arial"/>
                <a:cs typeface="Arial"/>
              </a:rPr>
              <a:t> </a:t>
            </a:r>
            <a:r>
              <a:rPr b="1" spc="-105" dirty="0">
                <a:latin typeface="Arial"/>
                <a:cs typeface="Arial"/>
              </a:rPr>
              <a:t>o</a:t>
            </a:r>
            <a:r>
              <a:rPr b="1" spc="-5" dirty="0">
                <a:latin typeface="Arial"/>
                <a:cs typeface="Arial"/>
              </a:rPr>
              <a:t>f</a:t>
            </a:r>
            <a:r>
              <a:rPr b="1" spc="-204" dirty="0">
                <a:latin typeface="Arial"/>
                <a:cs typeface="Arial"/>
              </a:rPr>
              <a:t> </a:t>
            </a:r>
            <a:r>
              <a:rPr b="1" spc="-105" dirty="0">
                <a:latin typeface="Arial"/>
                <a:cs typeface="Arial"/>
              </a:rPr>
              <a:t>L</a:t>
            </a:r>
            <a:r>
              <a:rPr b="1" spc="-100" dirty="0">
                <a:latin typeface="Arial"/>
                <a:cs typeface="Arial"/>
              </a:rPr>
              <a:t>i</a:t>
            </a:r>
            <a:r>
              <a:rPr b="1" spc="-105" dirty="0">
                <a:latin typeface="Arial"/>
                <a:cs typeface="Arial"/>
              </a:rPr>
              <a:t>nu</a:t>
            </a:r>
            <a:r>
              <a:rPr b="1" spc="-5" dirty="0">
                <a:latin typeface="Arial"/>
                <a:cs typeface="Arial"/>
              </a:rPr>
              <a:t>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2057400"/>
            <a:ext cx="46482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5592" y="3850004"/>
            <a:ext cx="6677659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065" marR="5080" indent="-2539365">
              <a:lnSpc>
                <a:spcPct val="100000"/>
              </a:lnSpc>
              <a:spcBef>
                <a:spcPts val="100"/>
              </a:spcBef>
            </a:pPr>
            <a:r>
              <a:rPr sz="4800" b="1" spc="-95" dirty="0">
                <a:solidFill>
                  <a:srgbClr val="D2523B"/>
                </a:solidFill>
                <a:latin typeface="Arial"/>
                <a:cs typeface="Arial"/>
              </a:rPr>
              <a:t>Graphical</a:t>
            </a:r>
            <a:r>
              <a:rPr sz="4800" b="1" spc="-17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100" dirty="0">
                <a:solidFill>
                  <a:srgbClr val="D2523B"/>
                </a:solidFill>
                <a:latin typeface="Arial"/>
                <a:cs typeface="Arial"/>
              </a:rPr>
              <a:t>Installation</a:t>
            </a:r>
            <a:r>
              <a:rPr sz="4800" b="1" spc="-145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55" dirty="0">
                <a:solidFill>
                  <a:srgbClr val="D2523B"/>
                </a:solidFill>
                <a:latin typeface="Arial"/>
                <a:cs typeface="Arial"/>
              </a:rPr>
              <a:t>of </a:t>
            </a:r>
            <a:r>
              <a:rPr sz="4800" b="1" spc="-1320" dirty="0">
                <a:solidFill>
                  <a:srgbClr val="D2523B"/>
                </a:solidFill>
                <a:latin typeface="Arial"/>
                <a:cs typeface="Arial"/>
              </a:rPr>
              <a:t> </a:t>
            </a:r>
            <a:r>
              <a:rPr sz="4800" b="1" spc="-85" dirty="0">
                <a:solidFill>
                  <a:srgbClr val="D2523B"/>
                </a:solidFill>
                <a:latin typeface="Arial"/>
                <a:cs typeface="Arial"/>
              </a:rPr>
              <a:t>Linux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97737"/>
            <a:ext cx="40106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Ubun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u</a:t>
            </a:r>
            <a:r>
              <a:rPr sz="4000" spc="-204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st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alla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io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6016" y="2493123"/>
            <a:ext cx="2723537" cy="22162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8375" y="4668773"/>
            <a:ext cx="2665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E39789"/>
                </a:solidFill>
                <a:latin typeface="Arial MT"/>
                <a:cs typeface="Arial MT"/>
              </a:rPr>
              <a:t>Fo</a:t>
            </a:r>
            <a:r>
              <a:rPr sz="4000" spc="-100" dirty="0">
                <a:solidFill>
                  <a:srgbClr val="E39789"/>
                </a:solidFill>
                <a:latin typeface="Arial MT"/>
                <a:cs typeface="Arial MT"/>
              </a:rPr>
              <a:t>c</a:t>
            </a:r>
            <a:r>
              <a:rPr sz="4000" spc="-105" dirty="0">
                <a:solidFill>
                  <a:srgbClr val="E39789"/>
                </a:solidFill>
                <a:latin typeface="Arial MT"/>
                <a:cs typeface="Arial MT"/>
              </a:rPr>
              <a:t>a</a:t>
            </a:r>
            <a:r>
              <a:rPr sz="4000" spc="-5" dirty="0">
                <a:solidFill>
                  <a:srgbClr val="E39789"/>
                </a:solidFill>
                <a:latin typeface="Arial MT"/>
                <a:cs typeface="Arial MT"/>
              </a:rPr>
              <a:t>l</a:t>
            </a:r>
            <a:r>
              <a:rPr sz="4000" spc="-215" dirty="0">
                <a:solidFill>
                  <a:srgbClr val="E39789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E39789"/>
                </a:solidFill>
                <a:latin typeface="Arial MT"/>
                <a:cs typeface="Arial MT"/>
              </a:rPr>
              <a:t>Fo</a:t>
            </a:r>
            <a:r>
              <a:rPr sz="4000" spc="-100" dirty="0">
                <a:solidFill>
                  <a:srgbClr val="E39789"/>
                </a:solidFill>
                <a:latin typeface="Arial MT"/>
                <a:cs typeface="Arial MT"/>
              </a:rPr>
              <a:t>ss</a:t>
            </a:r>
            <a:r>
              <a:rPr sz="4000" spc="-5" dirty="0">
                <a:solidFill>
                  <a:srgbClr val="E39789"/>
                </a:solidFill>
                <a:latin typeface="Arial MT"/>
                <a:cs typeface="Arial MT"/>
              </a:rPr>
              <a:t>a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5794130"/>
            <a:ext cx="8150861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Ubuntu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Version’s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code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names</a:t>
            </a:r>
            <a:r>
              <a:rPr sz="900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are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made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of</a:t>
            </a:r>
            <a:r>
              <a:rPr sz="900" u="sng" spc="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two</a:t>
            </a:r>
            <a:r>
              <a:rPr sz="900" u="sng" spc="2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words,</a:t>
            </a:r>
            <a:r>
              <a:rPr sz="900" u="sng" spc="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first</a:t>
            </a:r>
            <a:r>
              <a:rPr sz="900" u="sng" spc="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being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an adjective</a:t>
            </a:r>
            <a:r>
              <a:rPr sz="900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and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the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second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one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is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an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animal</a:t>
            </a:r>
            <a:r>
              <a:rPr sz="900" u="sng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name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with</a:t>
            </a:r>
            <a:r>
              <a:rPr sz="900" u="sng" spc="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the same</a:t>
            </a:r>
            <a:r>
              <a:rPr sz="900" u="sng" spc="-1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first</a:t>
            </a:r>
            <a:r>
              <a:rPr sz="900" u="sng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900" u="sng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letter.</a:t>
            </a:r>
            <a:endParaRPr sz="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5C36734E-436E-4ADD-B121-959E46F4FE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676400"/>
            <a:ext cx="3689975" cy="1981200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91A2DD51-9BEC-4B7C-8054-366935392489}"/>
              </a:ext>
            </a:extLst>
          </p:cNvPr>
          <p:cNvSpPr txBox="1"/>
          <p:nvPr/>
        </p:nvSpPr>
        <p:spPr>
          <a:xfrm>
            <a:off x="1794129" y="4063060"/>
            <a:ext cx="620687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95" dirty="0">
                <a:solidFill>
                  <a:srgbClr val="D2523B"/>
                </a:solidFill>
                <a:latin typeface="Arial MT"/>
                <a:cs typeface="Arial MT"/>
              </a:rPr>
              <a:t>Exploring</a:t>
            </a:r>
            <a:r>
              <a:rPr sz="4800" spc="-22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800" b="1" spc="-90" dirty="0">
                <a:solidFill>
                  <a:srgbClr val="D2523B"/>
                </a:solidFill>
                <a:latin typeface="Arial MT"/>
                <a:cs typeface="Arial MT"/>
              </a:rPr>
              <a:t>Ubuntu</a:t>
            </a:r>
            <a:r>
              <a:rPr sz="4800" spc="-19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800" spc="-70" dirty="0">
                <a:solidFill>
                  <a:srgbClr val="D2523B"/>
                </a:solidFill>
                <a:latin typeface="Arial MT"/>
                <a:cs typeface="Arial MT"/>
              </a:rPr>
              <a:t>GUI</a:t>
            </a:r>
            <a:endParaRPr sz="4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90886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Linux GUI </a:t>
            </a:r>
            <a:endParaRPr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2FF7B-0915-47ED-AE3A-53F0C16255C4}"/>
              </a:ext>
            </a:extLst>
          </p:cNvPr>
          <p:cNvSpPr txBox="1"/>
          <p:nvPr/>
        </p:nvSpPr>
        <p:spPr>
          <a:xfrm>
            <a:off x="450850" y="1313536"/>
            <a:ext cx="824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Desktop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5D459-FBE6-4C5A-B3A9-01E9223ED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60" y="1981200"/>
            <a:ext cx="8586012" cy="458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96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Linux GUI 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DCCE2-4DB2-4FDB-9EC0-809B390CD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1590535"/>
            <a:ext cx="4953000" cy="4023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A7AAB8-BC89-430E-BE69-D718C7465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644" y="1097280"/>
            <a:ext cx="1219200" cy="15149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8B554C-AAF6-4FA4-84B0-923A1B699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656" y="1066800"/>
            <a:ext cx="1386840" cy="1514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5D4CD3-D2BE-4209-8017-D628F7AF40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644" y="3688156"/>
            <a:ext cx="1237175" cy="15149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A56829-42BC-452B-AC01-EC24E946A1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238" y="4755428"/>
            <a:ext cx="1717224" cy="17172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075E2F-ABCE-4329-9DCE-CC1C3D0F91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321" y="2971800"/>
            <a:ext cx="2307078" cy="11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31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Linux App Center 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AD7FD-0FC4-49C5-9526-BE6B64A79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649" y="2209800"/>
            <a:ext cx="3544701" cy="362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7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30576" y="3822572"/>
            <a:ext cx="46532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55344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Linu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x</a:t>
            </a:r>
            <a:r>
              <a:rPr sz="4000" spc="-20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yst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m  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000" spc="-9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u</a:t>
            </a:r>
            <a:r>
              <a:rPr sz="4000" spc="-95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000" spc="-9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u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000" spc="-21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&amp;</a:t>
            </a:r>
            <a:r>
              <a:rPr sz="4000" spc="-21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P</a:t>
            </a:r>
            <a:r>
              <a:rPr sz="4000" spc="-100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in</a:t>
            </a:r>
            <a:r>
              <a:rPr sz="4000" spc="-95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000" spc="-105" dirty="0">
                <a:solidFill>
                  <a:srgbClr val="D2523B"/>
                </a:solidFill>
                <a:latin typeface="Arial MT"/>
                <a:cs typeface="Arial MT"/>
              </a:rPr>
              <a:t>iple</a:t>
            </a:r>
            <a:r>
              <a:rPr sz="4000" spc="-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4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48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013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Linu</a:t>
            </a:r>
            <a:r>
              <a:rPr sz="4000" spc="-5" dirty="0">
                <a:solidFill>
                  <a:srgbClr val="D2523B"/>
                </a:solidFill>
              </a:rPr>
              <a:t>x</a:t>
            </a:r>
            <a:r>
              <a:rPr sz="4000" spc="-20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r>
              <a:rPr sz="4000" spc="-229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t</a:t>
            </a:r>
            <a:r>
              <a:rPr sz="4000" spc="-105" dirty="0">
                <a:solidFill>
                  <a:srgbClr val="D2523B"/>
                </a:solidFill>
              </a:rPr>
              <a:t>ru</a:t>
            </a:r>
            <a:r>
              <a:rPr sz="4000" spc="-100" dirty="0">
                <a:solidFill>
                  <a:srgbClr val="D2523B"/>
                </a:solidFill>
              </a:rPr>
              <a:t>ct</a:t>
            </a:r>
            <a:r>
              <a:rPr sz="4000" spc="-105" dirty="0">
                <a:solidFill>
                  <a:srgbClr val="D2523B"/>
                </a:solidFill>
              </a:rPr>
              <a:t>ur</a:t>
            </a:r>
            <a:r>
              <a:rPr sz="4000" spc="-5" dirty="0">
                <a:solidFill>
                  <a:srgbClr val="D2523B"/>
                </a:solidFill>
              </a:rPr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4224655" cy="353885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BootLoader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(grub,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uboot,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vivi)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Kernel</a:t>
            </a:r>
            <a:r>
              <a:rPr sz="24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(www.kernel.org)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Filesystem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(FHS)</a:t>
            </a:r>
            <a:endParaRPr sz="24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init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process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shell</a:t>
            </a:r>
            <a:r>
              <a:rPr sz="2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(bash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ash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sh)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Services</a:t>
            </a:r>
            <a:r>
              <a:rPr sz="20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manager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Scripts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&amp;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Environment</a:t>
            </a:r>
            <a:r>
              <a:rPr sz="2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variables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endParaRPr sz="200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Applications</a:t>
            </a:r>
            <a:r>
              <a:rPr sz="2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(user</a:t>
            </a:r>
            <a:r>
              <a:rPr sz="20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apps,</a:t>
            </a:r>
            <a:r>
              <a:rPr sz="20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GUI,</a:t>
            </a:r>
            <a:r>
              <a:rPr sz="2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…)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04343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140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Linu</a:t>
            </a:r>
            <a:r>
              <a:rPr sz="4000" spc="-5" dirty="0">
                <a:solidFill>
                  <a:srgbClr val="D2523B"/>
                </a:solidFill>
              </a:rPr>
              <a:t>x</a:t>
            </a:r>
            <a:r>
              <a:rPr sz="4000" spc="-20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r>
              <a:rPr sz="4000" spc="-229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Prin</a:t>
            </a:r>
            <a:r>
              <a:rPr sz="4000" spc="-100" dirty="0">
                <a:solidFill>
                  <a:srgbClr val="D2523B"/>
                </a:solidFill>
              </a:rPr>
              <a:t>c</a:t>
            </a:r>
            <a:r>
              <a:rPr sz="4000" spc="-105" dirty="0">
                <a:solidFill>
                  <a:srgbClr val="D2523B"/>
                </a:solidFill>
              </a:rPr>
              <a:t>iple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003"/>
            <a:ext cx="7442834" cy="21646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Everything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(including</a:t>
            </a:r>
            <a:r>
              <a:rPr sz="24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hardware).</a:t>
            </a:r>
            <a:endParaRPr sz="24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Consists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small,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single-purpose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programs.</a:t>
            </a:r>
            <a:endParaRPr sz="2400" dirty="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Ability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chain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programs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together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perform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complex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tasks.</a:t>
            </a:r>
            <a:endParaRPr sz="24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Users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usually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avoids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user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interfaces.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075072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1436" y="3775328"/>
            <a:ext cx="612648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3805" marR="5080" indent="-1221105">
              <a:lnSpc>
                <a:spcPct val="100000"/>
              </a:lnSpc>
              <a:spcBef>
                <a:spcPts val="95"/>
              </a:spcBef>
            </a:pP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Roo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21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Fil</a:t>
            </a:r>
            <a:r>
              <a:rPr sz="4300" spc="-114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sys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4300" spc="-229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Hie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a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ch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y 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tandar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3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(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FHS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)</a:t>
            </a:r>
            <a:endParaRPr sz="4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656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702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FileS</a:t>
            </a:r>
            <a:r>
              <a:rPr sz="4000" spc="-100" dirty="0">
                <a:solidFill>
                  <a:srgbClr val="D2523B"/>
                </a:solidFill>
              </a:rPr>
              <a:t>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r>
              <a:rPr sz="4000" spc="-22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Hierar</a:t>
            </a:r>
            <a:r>
              <a:rPr sz="4000" spc="-100" dirty="0">
                <a:solidFill>
                  <a:srgbClr val="D2523B"/>
                </a:solidFill>
              </a:rPr>
              <a:t>c</a:t>
            </a:r>
            <a:r>
              <a:rPr sz="4000" spc="-105" dirty="0">
                <a:solidFill>
                  <a:srgbClr val="D2523B"/>
                </a:solidFill>
              </a:rPr>
              <a:t>h</a:t>
            </a:r>
            <a:r>
              <a:rPr sz="4000" spc="-5" dirty="0">
                <a:solidFill>
                  <a:srgbClr val="D2523B"/>
                </a:solidFill>
              </a:rPr>
              <a:t>y</a:t>
            </a:r>
            <a:r>
              <a:rPr sz="4000" spc="-21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t</a:t>
            </a:r>
            <a:r>
              <a:rPr sz="4000" spc="-105" dirty="0">
                <a:solidFill>
                  <a:srgbClr val="D2523B"/>
                </a:solidFill>
              </a:rPr>
              <a:t>andar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033" y="1790747"/>
            <a:ext cx="7827572" cy="382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08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702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FileS</a:t>
            </a:r>
            <a:r>
              <a:rPr sz="4000" spc="-100" dirty="0">
                <a:solidFill>
                  <a:srgbClr val="D2523B"/>
                </a:solidFill>
              </a:rPr>
              <a:t>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r>
              <a:rPr sz="4000" spc="-22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Hierar</a:t>
            </a:r>
            <a:r>
              <a:rPr sz="4000" spc="-100" dirty="0">
                <a:solidFill>
                  <a:srgbClr val="D2523B"/>
                </a:solidFill>
              </a:rPr>
              <a:t>c</a:t>
            </a:r>
            <a:r>
              <a:rPr sz="4000" spc="-105" dirty="0">
                <a:solidFill>
                  <a:srgbClr val="D2523B"/>
                </a:solidFill>
              </a:rPr>
              <a:t>h</a:t>
            </a:r>
            <a:r>
              <a:rPr sz="4000" spc="-5" dirty="0">
                <a:solidFill>
                  <a:srgbClr val="D2523B"/>
                </a:solidFill>
              </a:rPr>
              <a:t>y</a:t>
            </a:r>
            <a:r>
              <a:rPr sz="4000" spc="-21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S</a:t>
            </a:r>
            <a:r>
              <a:rPr sz="4000" spc="-100" dirty="0">
                <a:solidFill>
                  <a:srgbClr val="D2523B"/>
                </a:solidFill>
              </a:rPr>
              <a:t>t</a:t>
            </a:r>
            <a:r>
              <a:rPr sz="4000" spc="-105" dirty="0">
                <a:solidFill>
                  <a:srgbClr val="D2523B"/>
                </a:solidFill>
              </a:rPr>
              <a:t>andar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0603"/>
            <a:ext cx="939800" cy="47199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b="1" dirty="0">
                <a:solidFill>
                  <a:srgbClr val="292934"/>
                </a:solidFill>
                <a:latin typeface="Courier New"/>
                <a:cs typeface="Courier New"/>
              </a:rPr>
              <a:t>/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/bin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/sbin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/boot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/dev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/etc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/home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/root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/lib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/media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/opt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/proc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/usr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292934"/>
                </a:solidFill>
                <a:latin typeface="Courier New"/>
                <a:cs typeface="Courier New"/>
              </a:rPr>
              <a:t>/var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4994" y="1550603"/>
            <a:ext cx="5968365" cy="47199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root</a:t>
            </a:r>
            <a:r>
              <a:rPr sz="2000" b="1" spc="-4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directory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commands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&amp;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 executable files</a:t>
            </a:r>
            <a:endParaRPr sz="2000">
              <a:latin typeface="Courier New"/>
              <a:cs typeface="Courier New"/>
            </a:endParaRPr>
          </a:p>
          <a:p>
            <a:pPr marL="12700" marR="766445">
              <a:lnSpc>
                <a:spcPct val="11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system commands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&amp;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executable files </a:t>
            </a:r>
            <a:r>
              <a:rPr sz="2000" b="1" spc="-119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kernel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&amp;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 bootloader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ct val="110000"/>
              </a:lnSpc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hardware device files (nodes)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configuration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files</a:t>
            </a:r>
            <a:r>
              <a:rPr sz="2000" b="1" spc="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and</a:t>
            </a:r>
            <a:r>
              <a:rPr sz="2000" b="1" spc="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startup</a:t>
            </a:r>
            <a:r>
              <a:rPr sz="2000" b="1" spc="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scripts </a:t>
            </a:r>
            <a:r>
              <a:rPr sz="2000" b="1" spc="-118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users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home directories</a:t>
            </a:r>
            <a:endParaRPr sz="2000">
              <a:latin typeface="Courier New"/>
              <a:cs typeface="Courier New"/>
            </a:endParaRPr>
          </a:p>
          <a:p>
            <a:pPr marL="12700" marR="2900045">
              <a:lnSpc>
                <a:spcPct val="110000"/>
              </a:lnSpc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root home directory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shared</a:t>
            </a:r>
            <a:r>
              <a:rPr sz="2000" b="1" spc="-3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library</a:t>
            </a:r>
            <a:r>
              <a:rPr sz="2000" b="1" spc="-3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files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mount points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for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storage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media</a:t>
            </a:r>
            <a:endParaRPr sz="2000">
              <a:latin typeface="Courier New"/>
              <a:cs typeface="Courier New"/>
            </a:endParaRPr>
          </a:p>
          <a:p>
            <a:pPr marL="12700" marR="2138045">
              <a:lnSpc>
                <a:spcPct val="110000"/>
              </a:lnSpc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third parity applications </a:t>
            </a:r>
            <a:r>
              <a:rPr sz="2000" b="1" spc="-119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virtual</a:t>
            </a:r>
            <a:r>
              <a:rPr sz="2000" b="1" spc="-1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process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files</a:t>
            </a:r>
            <a:endParaRPr sz="2000">
              <a:latin typeface="Courier New"/>
              <a:cs typeface="Courier New"/>
            </a:endParaRPr>
          </a:p>
          <a:p>
            <a:pPr marL="12700" marR="461645">
              <a:lnSpc>
                <a:spcPct val="110000"/>
              </a:lnSpc>
            </a:pP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other users applications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&amp;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libraries </a:t>
            </a:r>
            <a:r>
              <a:rPr sz="2000" b="1" spc="-119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files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that change</a:t>
            </a:r>
            <a:r>
              <a:rPr sz="20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56566D"/>
                </a:solidFill>
                <a:latin typeface="Courier New"/>
                <a:cs typeface="Courier New"/>
              </a:rPr>
              <a:t>a</a:t>
            </a:r>
            <a:r>
              <a:rPr sz="2000" b="1" spc="-5" dirty="0">
                <a:solidFill>
                  <a:srgbClr val="56566D"/>
                </a:solidFill>
                <a:latin typeface="Courier New"/>
                <a:cs typeface="Courier New"/>
              </a:rPr>
              <a:t> lot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74969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1200" y="4038600"/>
            <a:ext cx="7560309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300" spc="-110" dirty="0">
                <a:solidFill>
                  <a:srgbClr val="D2523B"/>
                </a:solidFill>
                <a:latin typeface="Arial MT"/>
                <a:cs typeface="Arial MT"/>
              </a:rPr>
              <a:t>Graphical User Interface</a:t>
            </a:r>
            <a:endParaRPr sz="43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382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182" y="4102989"/>
            <a:ext cx="7560309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oduc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io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300" spc="-20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o</a:t>
            </a:r>
            <a:r>
              <a:rPr sz="4300" spc="-19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10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h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300" spc="-20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co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mm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300" spc="-20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lin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endParaRPr sz="4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96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Terminal 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53683-1BAD-45C2-8AD5-78B3EEE23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2053236"/>
            <a:ext cx="6834102" cy="1957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82FF7B-0915-47ED-AE3A-53F0C16255C4}"/>
              </a:ext>
            </a:extLst>
          </p:cNvPr>
          <p:cNvSpPr txBox="1"/>
          <p:nvPr/>
        </p:nvSpPr>
        <p:spPr>
          <a:xfrm>
            <a:off x="518160" y="1237478"/>
            <a:ext cx="8242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Shortcut t</a:t>
            </a:r>
            <a:r>
              <a:rPr lang="en-US" sz="3000" dirty="0"/>
              <a:t>o open a </a:t>
            </a:r>
            <a:r>
              <a:rPr lang="en-US" sz="3000" b="1" dirty="0"/>
              <a:t>new terminal : CTRL + ALT + T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15894-A12D-4CC9-8A9C-9E1453D8F29B}"/>
              </a:ext>
            </a:extLst>
          </p:cNvPr>
          <p:cNvSpPr txBox="1"/>
          <p:nvPr/>
        </p:nvSpPr>
        <p:spPr>
          <a:xfrm>
            <a:off x="594360" y="4272560"/>
            <a:ext cx="69865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Prompt</a:t>
            </a:r>
            <a:r>
              <a:rPr lang="en-US" sz="2000" b="1" dirty="0"/>
              <a:t> : </a:t>
            </a:r>
            <a:r>
              <a:rPr lang="en-US" sz="2000" b="1" dirty="0" err="1"/>
              <a:t>linux-user@linux-vm</a:t>
            </a:r>
            <a:r>
              <a:rPr lang="en-US" sz="2000" b="1" dirty="0"/>
              <a:t>:~$</a:t>
            </a:r>
          </a:p>
          <a:p>
            <a:r>
              <a:rPr lang="en-US" sz="2000" b="1" dirty="0"/>
              <a:t>Command : what comes after the ‘$’ or ‘#’</a:t>
            </a:r>
          </a:p>
          <a:p>
            <a:r>
              <a:rPr lang="en-US" sz="2000" b="1" dirty="0"/>
              <a:t>Username : </a:t>
            </a:r>
            <a:r>
              <a:rPr lang="en-US" sz="2000" b="1" dirty="0" err="1"/>
              <a:t>linux</a:t>
            </a:r>
            <a:r>
              <a:rPr lang="en-US" sz="2000" b="1" dirty="0"/>
              <a:t>-user</a:t>
            </a:r>
          </a:p>
          <a:p>
            <a:r>
              <a:rPr lang="en-US" sz="2000" b="1" dirty="0"/>
              <a:t>Hostname : </a:t>
            </a:r>
            <a:r>
              <a:rPr lang="en-US" sz="2000" b="1" dirty="0" err="1"/>
              <a:t>linux-vm</a:t>
            </a:r>
            <a:endParaRPr lang="en-US" sz="2000" b="1" dirty="0"/>
          </a:p>
          <a:p>
            <a:r>
              <a:rPr lang="en-US" sz="2000" b="1" dirty="0"/>
              <a:t>~ : current working directory “Home”</a:t>
            </a:r>
          </a:p>
          <a:p>
            <a:r>
              <a:rPr lang="en-US" sz="2000" b="1" dirty="0"/>
              <a:t>$ or # : $ indicates Normal User, # indicates the root user.</a:t>
            </a:r>
          </a:p>
          <a:p>
            <a:endParaRPr lang="en-US" sz="2000" b="1" dirty="0"/>
          </a:p>
          <a:p>
            <a:r>
              <a:rPr lang="en-US" sz="2000" b="1" dirty="0"/>
              <a:t>The Cursor is blinking after “$” waiting for your command</a:t>
            </a:r>
          </a:p>
        </p:txBody>
      </p:sp>
    </p:spTree>
    <p:extLst>
      <p:ext uri="{BB962C8B-B14F-4D97-AF65-F5344CB8AC3E}">
        <p14:creationId xmlns:p14="http://schemas.microsoft.com/office/powerpoint/2010/main" val="24165261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56362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Terminals Vs Shells </a:t>
            </a:r>
            <a:endParaRPr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82FF7B-0915-47ED-AE3A-53F0C16255C4}"/>
              </a:ext>
            </a:extLst>
          </p:cNvPr>
          <p:cNvSpPr txBox="1"/>
          <p:nvPr/>
        </p:nvSpPr>
        <p:spPr>
          <a:xfrm>
            <a:off x="563880" y="1447800"/>
            <a:ext cx="80162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When you open </a:t>
            </a:r>
            <a:r>
              <a:rPr lang="en-US" sz="3200" b="1" dirty="0"/>
              <a:t>GNOME Terminal</a:t>
            </a:r>
            <a:r>
              <a:rPr lang="en-US" sz="3200" dirty="0"/>
              <a:t> on Ubuntu: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Terminal is the GUI Application.</a:t>
            </a:r>
          </a:p>
          <a:p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It takes your commands and pass them to the shell “</a:t>
            </a:r>
            <a:r>
              <a:rPr lang="en-US" sz="3200" b="1" dirty="0" err="1"/>
              <a:t>sh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FF0000"/>
                </a:solidFill>
              </a:rPr>
              <a:t>bash</a:t>
            </a:r>
            <a:r>
              <a:rPr lang="en-US" sz="3200" b="1" dirty="0"/>
              <a:t>, </a:t>
            </a:r>
            <a:r>
              <a:rPr lang="en-US" sz="3200" b="1" dirty="0" err="1"/>
              <a:t>zsh</a:t>
            </a:r>
            <a:r>
              <a:rPr lang="en-US" sz="3200" b="1" dirty="0"/>
              <a:t>, PowerShell”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73796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33204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Comman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17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Line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447800"/>
            <a:ext cx="8760460" cy="457753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syntax</a:t>
            </a:r>
            <a:endParaRPr sz="2200" dirty="0">
              <a:latin typeface="Arial MT"/>
              <a:cs typeface="Arial MT"/>
            </a:endParaRPr>
          </a:p>
          <a:p>
            <a:pPr marL="286385" marR="1943100">
              <a:lnSpc>
                <a:spcPts val="2900"/>
              </a:lnSpc>
              <a:spcBef>
                <a:spcPts val="15"/>
              </a:spcBef>
            </a:pP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command [option(s)] [parameter(s)] </a:t>
            </a:r>
            <a:r>
              <a:rPr sz="2200" b="1" spc="-131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command –(one_character_option) </a:t>
            </a:r>
            <a:r>
              <a:rPr sz="2200" b="1" spc="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r>
              <a:rPr sz="2200" b="1" spc="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D2523B"/>
                </a:solidFill>
                <a:latin typeface="Courier New"/>
                <a:cs typeface="Courier New"/>
              </a:rPr>
              <a:t>–-(full_word_option)</a:t>
            </a:r>
            <a:endParaRPr sz="2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 dirty="0">
              <a:latin typeface="Courier New"/>
              <a:cs typeface="Courier New"/>
            </a:endParaRPr>
          </a:p>
          <a:p>
            <a:pPr marL="469900" lvl="1" indent="-184150">
              <a:lnSpc>
                <a:spcPct val="100000"/>
              </a:lnSpc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Boldface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used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as-is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text</a:t>
            </a:r>
            <a:endParaRPr sz="19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Clr>
                <a:srgbClr val="92A199"/>
              </a:buClr>
              <a:buFont typeface="Arial MT"/>
              <a:buChar char="•"/>
            </a:pPr>
            <a:endParaRPr sz="1800" dirty="0">
              <a:latin typeface="Arial MT"/>
              <a:cs typeface="Arial MT"/>
            </a:endParaRPr>
          </a:p>
          <a:p>
            <a:pPr marL="469900" marR="116839" lvl="1" indent="-183515">
              <a:lnSpc>
                <a:spcPts val="2050"/>
              </a:lnSpc>
              <a:spcBef>
                <a:spcPts val="5"/>
              </a:spcBef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Arguments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option-arguments</a:t>
            </a:r>
            <a:r>
              <a:rPr sz="1900" spc="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enclosed</a:t>
            </a:r>
            <a:r>
              <a:rPr sz="19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'['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']'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notation</a:t>
            </a:r>
            <a:r>
              <a:rPr sz="19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are </a:t>
            </a:r>
            <a:r>
              <a:rPr sz="1900" spc="-5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b="1" spc="-5" dirty="0">
                <a:solidFill>
                  <a:srgbClr val="292934"/>
                </a:solidFill>
                <a:latin typeface="Arial MT"/>
                <a:cs typeface="Arial MT"/>
              </a:rPr>
              <a:t>optional</a:t>
            </a:r>
            <a:r>
              <a:rPr sz="19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can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be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omitted.</a:t>
            </a:r>
            <a:endParaRPr sz="19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469900" marR="579120" lvl="1" indent="-183515">
              <a:lnSpc>
                <a:spcPts val="2060"/>
              </a:lnSpc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Arguments</a:t>
            </a:r>
            <a:r>
              <a:rPr sz="19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separated</a:t>
            </a:r>
            <a:r>
              <a:rPr sz="19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by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'|'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vertical</a:t>
            </a:r>
            <a:r>
              <a:rPr sz="19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bar</a:t>
            </a:r>
            <a:r>
              <a:rPr sz="19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notation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mutually- </a:t>
            </a:r>
            <a:r>
              <a:rPr sz="1900" spc="-509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exclusive.</a:t>
            </a:r>
            <a:endParaRPr sz="19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Arial MT"/>
              <a:buChar char="•"/>
            </a:pPr>
            <a:endParaRPr sz="1750" dirty="0">
              <a:latin typeface="Arial MT"/>
              <a:cs typeface="Arial MT"/>
            </a:endParaRPr>
          </a:p>
          <a:p>
            <a:pPr marL="469900" marR="5080" lvl="1" indent="-183515">
              <a:lnSpc>
                <a:spcPts val="2050"/>
              </a:lnSpc>
              <a:buClr>
                <a:srgbClr val="92A199"/>
              </a:buClr>
              <a:buSzPct val="84210"/>
              <a:buChar char="•"/>
              <a:tabLst>
                <a:tab pos="470534" algn="l"/>
              </a:tabLst>
            </a:pPr>
            <a:r>
              <a:rPr sz="1900" b="1" spc="-5" dirty="0">
                <a:solidFill>
                  <a:srgbClr val="292934"/>
                </a:solidFill>
                <a:latin typeface="Arial MT"/>
                <a:cs typeface="Arial MT"/>
              </a:rPr>
              <a:t>Ellipses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( "..."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used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denote</a:t>
            </a:r>
            <a:r>
              <a:rPr sz="19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9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one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more</a:t>
            </a:r>
            <a:r>
              <a:rPr sz="19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occurrences</a:t>
            </a:r>
            <a:r>
              <a:rPr sz="19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an </a:t>
            </a:r>
            <a:r>
              <a:rPr sz="1900" spc="-509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option</a:t>
            </a:r>
            <a:r>
              <a:rPr sz="19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operand</a:t>
            </a:r>
            <a:r>
              <a:rPr sz="1900" spc="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are</a:t>
            </a:r>
            <a:r>
              <a:rPr sz="19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allowed.</a:t>
            </a:r>
            <a:endParaRPr sz="19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983956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85800"/>
            <a:ext cx="66268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Why do we use commands ?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447800"/>
            <a:ext cx="8760460" cy="18255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Faster</a:t>
            </a:r>
          </a:p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Automation</a:t>
            </a:r>
          </a:p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Precise </a:t>
            </a:r>
          </a:p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Works for Remote Machines that does not have GUI</a:t>
            </a:r>
          </a:p>
          <a:p>
            <a:pPr marL="195580" indent="-18288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84090"/>
              <a:buChar char="•"/>
              <a:tabLst>
                <a:tab pos="195580" algn="l"/>
              </a:tabLst>
            </a:pPr>
            <a:r>
              <a:rPr lang="en-US" sz="2200" spc="-5" dirty="0">
                <a:solidFill>
                  <a:srgbClr val="292934"/>
                </a:solidFill>
                <a:latin typeface="Arial MT"/>
                <a:cs typeface="Arial MT"/>
              </a:rPr>
              <a:t>More Fun</a:t>
            </a:r>
            <a:endParaRPr sz="22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376711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6904" y="3775328"/>
            <a:ext cx="5495290" cy="1336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0" marR="5080" indent="-1486535">
              <a:lnSpc>
                <a:spcPct val="100000"/>
              </a:lnSpc>
              <a:spcBef>
                <a:spcPts val="95"/>
              </a:spcBef>
            </a:pP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B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owsin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3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300" spc="-24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Explo</a:t>
            </a:r>
            <a:r>
              <a:rPr sz="43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300" spc="-10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300" spc="-114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300" spc="-5" dirty="0">
                <a:solidFill>
                  <a:srgbClr val="D2523B"/>
                </a:solidFill>
                <a:latin typeface="Arial MT"/>
                <a:cs typeface="Arial MT"/>
              </a:rPr>
              <a:t>g  </a:t>
            </a:r>
            <a:r>
              <a:rPr sz="4300" spc="-95" dirty="0">
                <a:solidFill>
                  <a:srgbClr val="D2523B"/>
                </a:solidFill>
                <a:latin typeface="Arial MT"/>
                <a:cs typeface="Arial MT"/>
              </a:rPr>
              <a:t>Filesystem</a:t>
            </a:r>
            <a:endParaRPr sz="43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31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529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Brow</a:t>
            </a:r>
            <a:r>
              <a:rPr sz="4000" spc="-100" dirty="0">
                <a:solidFill>
                  <a:srgbClr val="D2523B"/>
                </a:solidFill>
              </a:rPr>
              <a:t>s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100" dirty="0">
                <a:solidFill>
                  <a:srgbClr val="D2523B"/>
                </a:solidFill>
              </a:rPr>
              <a:t>x</a:t>
            </a:r>
            <a:r>
              <a:rPr sz="4000" spc="-105" dirty="0">
                <a:solidFill>
                  <a:srgbClr val="D2523B"/>
                </a:solidFill>
              </a:rPr>
              <a:t>plorin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1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File</a:t>
            </a:r>
            <a:r>
              <a:rPr sz="4000" spc="-100" dirty="0">
                <a:solidFill>
                  <a:srgbClr val="D2523B"/>
                </a:solidFill>
              </a:rPr>
              <a:t>syst</a:t>
            </a:r>
            <a:r>
              <a:rPr sz="4000" spc="-105" dirty="0">
                <a:solidFill>
                  <a:srgbClr val="D2523B"/>
                </a:solidFill>
              </a:rPr>
              <a:t>e</a:t>
            </a:r>
            <a:r>
              <a:rPr sz="4000" spc="-5" dirty="0">
                <a:solidFill>
                  <a:srgbClr val="D2523B"/>
                </a:solidFill>
              </a:rPr>
              <a:t>m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6890" y="1610586"/>
          <a:ext cx="5600700" cy="15342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8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437">
                <a:tc>
                  <a:txBody>
                    <a:bodyPr/>
                    <a:lstStyle/>
                    <a:p>
                      <a:pPr marL="214629" indent="-182880">
                        <a:lnSpc>
                          <a:spcPts val="2270"/>
                        </a:lnSpc>
                        <a:buClr>
                          <a:srgbClr val="92A199"/>
                        </a:buClr>
                        <a:buSzPct val="84090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sz="2200" b="1" spc="-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2845">
                        <a:lnSpc>
                          <a:spcPts val="2270"/>
                        </a:lnSpc>
                      </a:pPr>
                      <a:r>
                        <a:rPr sz="22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change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270"/>
                        </a:lnSpc>
                      </a:pPr>
                      <a:r>
                        <a:rPr sz="22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directory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49">
                <a:tc>
                  <a:txBody>
                    <a:bodyPr/>
                    <a:lstStyle/>
                    <a:p>
                      <a:pPr marR="67945" algn="r">
                        <a:lnSpc>
                          <a:spcPts val="213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3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dir-name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ts val="2110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1900" b="1" spc="-3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900" b="1" spc="-3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dir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44">
                <a:tc>
                  <a:txBody>
                    <a:bodyPr/>
                    <a:lstStyle/>
                    <a:p>
                      <a:pPr marR="67945"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35"/>
                        </a:lnSpc>
                      </a:pPr>
                      <a:r>
                        <a:rPr sz="20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–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ts val="2115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1900" b="1" spc="-5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previous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67945"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35"/>
                        </a:lnSpc>
                      </a:pPr>
                      <a:r>
                        <a:rPr sz="20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ts val="2115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1900" b="1" spc="-4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900" b="1" spc="-4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current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54">
                <a:tc>
                  <a:txBody>
                    <a:bodyPr/>
                    <a:lstStyle/>
                    <a:p>
                      <a:pPr marR="67945" algn="r">
                        <a:lnSpc>
                          <a:spcPts val="2135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35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..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7870">
                        <a:lnSpc>
                          <a:spcPts val="2115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go</a:t>
                      </a:r>
                      <a:r>
                        <a:rPr sz="1900" b="1" spc="-6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up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5940" y="3395853"/>
            <a:ext cx="7112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95"/>
              </a:spcBef>
              <a:buClr>
                <a:srgbClr val="92A199"/>
              </a:buClr>
              <a:buSzPct val="84090"/>
              <a:buFont typeface="Arial MT"/>
              <a:buChar char="•"/>
              <a:tabLst>
                <a:tab pos="195580" algn="l"/>
              </a:tabLst>
            </a:pPr>
            <a:r>
              <a:rPr sz="2200" b="1" spc="-5" dirty="0">
                <a:solidFill>
                  <a:srgbClr val="292934"/>
                </a:solidFill>
                <a:latin typeface="Courier New"/>
                <a:cs typeface="Courier New"/>
              </a:rPr>
              <a:t>pwd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3395853"/>
            <a:ext cx="52419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56566D"/>
                </a:solidFill>
                <a:latin typeface="Courier New"/>
                <a:cs typeface="Courier New"/>
              </a:rPr>
              <a:t>print</a:t>
            </a:r>
            <a:r>
              <a:rPr sz="2200" b="1" spc="-1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56566D"/>
                </a:solidFill>
                <a:latin typeface="Courier New"/>
                <a:cs typeface="Courier New"/>
              </a:rPr>
              <a:t>current</a:t>
            </a:r>
            <a:r>
              <a:rPr sz="2200" b="1" spc="-2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56566D"/>
                </a:solidFill>
                <a:latin typeface="Courier New"/>
                <a:cs typeface="Courier New"/>
              </a:rPr>
              <a:t>working</a:t>
            </a:r>
            <a:r>
              <a:rPr sz="2200" b="1" spc="20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srgbClr val="56566D"/>
                </a:solidFill>
                <a:latin typeface="Courier New"/>
                <a:cs typeface="Courier New"/>
              </a:rPr>
              <a:t>directory</a:t>
            </a:r>
            <a:endParaRPr sz="22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16890" y="4003902"/>
          <a:ext cx="7107555" cy="1534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0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564">
                <a:tc>
                  <a:txBody>
                    <a:bodyPr/>
                    <a:lstStyle/>
                    <a:p>
                      <a:pPr marL="214629" indent="-182880">
                        <a:lnSpc>
                          <a:spcPts val="2270"/>
                        </a:lnSpc>
                        <a:buClr>
                          <a:srgbClr val="92A199"/>
                        </a:buClr>
                        <a:buSzPct val="84090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sz="2200" b="1" spc="-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ls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72845">
                        <a:lnSpc>
                          <a:spcPts val="2270"/>
                        </a:lnSpc>
                      </a:pPr>
                      <a:r>
                        <a:rPr sz="22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list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2270"/>
                        </a:lnSpc>
                      </a:pPr>
                      <a:r>
                        <a:rPr sz="22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files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ts val="2270"/>
                        </a:lnSpc>
                      </a:pPr>
                      <a:r>
                        <a:rPr sz="2200" b="1" spc="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2200" b="1" spc="-4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current</a:t>
                      </a:r>
                      <a:r>
                        <a:rPr sz="2200" b="1" spc="-3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directory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0722">
                <a:tc>
                  <a:txBody>
                    <a:bodyPr/>
                    <a:lstStyle/>
                    <a:p>
                      <a:pPr marL="305435">
                        <a:lnSpc>
                          <a:spcPts val="213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ls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05435" marR="67945" algn="just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ls  ls  ls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13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–l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–lh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another-path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–a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110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long</a:t>
                      </a:r>
                      <a:r>
                        <a:rPr sz="1900" b="1" spc="-5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list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73660" marR="374015">
                        <a:lnSpc>
                          <a:spcPct val="105300"/>
                        </a:lnSpc>
                      </a:pP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long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list,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human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read </a:t>
                      </a:r>
                      <a:r>
                        <a:rPr sz="1900" b="1" spc="-113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list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another folder </a:t>
                      </a:r>
                      <a:r>
                        <a:rPr sz="1900" b="1" spc="-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list</a:t>
                      </a:r>
                      <a:r>
                        <a:rPr sz="1900" b="1" spc="-1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all</a:t>
                      </a:r>
                      <a:r>
                        <a:rPr sz="1900" b="1" spc="-1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with</a:t>
                      </a:r>
                      <a:r>
                        <a:rPr sz="1900" b="1" spc="-15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-10" dirty="0">
                          <a:solidFill>
                            <a:srgbClr val="E39789"/>
                          </a:solidFill>
                          <a:latin typeface="Courier New"/>
                          <a:cs typeface="Courier New"/>
                        </a:rPr>
                        <a:t>hidden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35940" y="5788863"/>
            <a:ext cx="57569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95"/>
              </a:spcBef>
              <a:buClr>
                <a:srgbClr val="92A199"/>
              </a:buClr>
              <a:buSzPct val="84090"/>
              <a:buFont typeface="Arial MT"/>
              <a:buChar char="•"/>
              <a:tabLst>
                <a:tab pos="195580" algn="l"/>
              </a:tabLst>
            </a:pPr>
            <a:r>
              <a:rPr sz="2200" b="1" spc="-5" dirty="0">
                <a:solidFill>
                  <a:srgbClr val="292934"/>
                </a:solidFill>
                <a:latin typeface="Courier New"/>
                <a:cs typeface="Courier New"/>
              </a:rPr>
              <a:t>Absolute</a:t>
            </a:r>
            <a:r>
              <a:rPr sz="2200" b="1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292934"/>
                </a:solidFill>
                <a:latin typeface="Courier New"/>
                <a:cs typeface="Courier New"/>
              </a:rPr>
              <a:t>and</a:t>
            </a:r>
            <a:r>
              <a:rPr sz="2200" b="1" dirty="0">
                <a:solidFill>
                  <a:srgbClr val="292934"/>
                </a:solidFill>
                <a:latin typeface="Courier New"/>
                <a:cs typeface="Courier New"/>
              </a:rPr>
              <a:t> Relative </a:t>
            </a:r>
            <a:r>
              <a:rPr sz="2200" b="1" spc="-5" dirty="0">
                <a:solidFill>
                  <a:srgbClr val="292934"/>
                </a:solidFill>
                <a:latin typeface="Courier New"/>
                <a:cs typeface="Courier New"/>
              </a:rPr>
              <a:t>Path</a:t>
            </a:r>
            <a:r>
              <a:rPr sz="2200" b="1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292934"/>
                </a:solidFill>
                <a:latin typeface="Courier New"/>
                <a:cs typeface="Courier New"/>
              </a:rPr>
              <a:t>names.</a:t>
            </a:r>
            <a:endParaRPr sz="2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314322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0541" y="4095063"/>
            <a:ext cx="6750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eat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29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f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il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400" spc="-23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204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to</a:t>
            </a:r>
            <a:r>
              <a:rPr sz="4400" spc="-114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35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1004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Crea</a:t>
            </a:r>
            <a:r>
              <a:rPr sz="4000" spc="-100" dirty="0">
                <a:solidFill>
                  <a:srgbClr val="D2523B"/>
                </a:solidFill>
              </a:rPr>
              <a:t>t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0" dirty="0">
                <a:solidFill>
                  <a:srgbClr val="D2523B"/>
                </a:solidFill>
              </a:rPr>
              <a:t>f</a:t>
            </a:r>
            <a:r>
              <a:rPr sz="4000" spc="-105" dirty="0">
                <a:solidFill>
                  <a:srgbClr val="D2523B"/>
                </a:solidFill>
              </a:rPr>
              <a:t>ile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r>
              <a:rPr sz="4000" spc="-21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dire</a:t>
            </a:r>
            <a:r>
              <a:rPr sz="4000" spc="-100" dirty="0">
                <a:solidFill>
                  <a:srgbClr val="D2523B"/>
                </a:solidFill>
              </a:rPr>
              <a:t>ct</a:t>
            </a:r>
            <a:r>
              <a:rPr sz="4000" spc="-105" dirty="0">
                <a:solidFill>
                  <a:srgbClr val="D2523B"/>
                </a:solidFill>
              </a:rPr>
              <a:t>orie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87167"/>
              </p:ext>
            </p:extLst>
          </p:nvPr>
        </p:nvGraphicFramePr>
        <p:xfrm>
          <a:off x="516890" y="1660392"/>
          <a:ext cx="6092823" cy="2540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2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7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3740">
                <a:tc>
                  <a:txBody>
                    <a:bodyPr/>
                    <a:lstStyle/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sz="2400" b="1" spc="-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touch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305435" marR="83185">
                        <a:lnSpc>
                          <a:spcPct val="120000"/>
                        </a:lnSpc>
                      </a:pPr>
                      <a:r>
                        <a:rPr sz="24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tou</a:t>
                      </a:r>
                      <a:r>
                        <a:rPr sz="2400" b="1" spc="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h  </a:t>
                      </a:r>
                      <a:r>
                        <a:rPr sz="24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tou</a:t>
                      </a:r>
                      <a:r>
                        <a:rPr sz="2400" b="1" spc="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24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462405">
                        <a:lnSpc>
                          <a:spcPts val="2480"/>
                        </a:lnSpc>
                      </a:pPr>
                      <a:r>
                        <a:rPr sz="24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create</a:t>
                      </a:r>
                      <a:r>
                        <a:rPr sz="2400" b="1" spc="-6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b="1" spc="-4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1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file-name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400" b="1" spc="-1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file1</a:t>
                      </a:r>
                      <a:r>
                        <a:rPr sz="2400" b="1" spc="-3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file2</a:t>
                      </a:r>
                      <a:r>
                        <a:rPr sz="2400" b="1" spc="-3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file3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b="1" spc="-1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file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250">
                        <a:latin typeface="Times New Roman"/>
                        <a:cs typeface="Times New Roman"/>
                      </a:endParaRPr>
                    </a:p>
                    <a:p>
                      <a:pPr marL="214629" indent="-182880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sz="2400" b="1" spc="-5" dirty="0">
                          <a:solidFill>
                            <a:srgbClr val="292934"/>
                          </a:solidFill>
                          <a:latin typeface="Courier New"/>
                          <a:cs typeface="Courier New"/>
                        </a:rPr>
                        <a:t>mkdir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3054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mkdir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250" dirty="0">
                        <a:latin typeface="Times New Roman"/>
                        <a:cs typeface="Times New Roman"/>
                      </a:endParaRPr>
                    </a:p>
                    <a:p>
                      <a:pPr marL="1462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create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400" b="1" spc="-5" dirty="0" err="1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dir</a:t>
                      </a:r>
                      <a:r>
                        <a:rPr sz="2400" b="1" spc="-5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-name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250">
                        <a:latin typeface="Times New Roman"/>
                        <a:cs typeface="Times New Roman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250" dirty="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solidFill>
                            <a:srgbClr val="56566D"/>
                          </a:solidFill>
                          <a:latin typeface="Courier New"/>
                          <a:cs typeface="Courier New"/>
                        </a:rPr>
                        <a:t>directory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5683C1F-3DA2-4984-AE95-DC6ED4FF6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493397"/>
              </p:ext>
            </p:extLst>
          </p:nvPr>
        </p:nvGraphicFramePr>
        <p:xfrm>
          <a:off x="501650" y="4384485"/>
          <a:ext cx="8070850" cy="3551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7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3740">
                <a:tc>
                  <a:txBody>
                    <a:bodyPr/>
                    <a:lstStyle/>
                    <a:p>
                      <a:pPr marL="31749" marR="0" lvl="0" indent="0" defTabSz="914400" eaLnBrk="1" fontAlgn="auto" latinLnBrk="0" hangingPunct="1">
                        <a:lnSpc>
                          <a:spcPts val="24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A199"/>
                        </a:buClr>
                        <a:buSzPct val="85416"/>
                        <a:buFont typeface="Arial MT"/>
                        <a:buNone/>
                        <a:tabLst>
                          <a:tab pos="214629" algn="l"/>
                        </a:tabLst>
                        <a:defRPr/>
                      </a:pPr>
                      <a:r>
                        <a:rPr lang="en-US" sz="2400" b="1" spc="-10" dirty="0">
                          <a:solidFill>
                            <a:srgbClr val="D2523B"/>
                          </a:solidFill>
                          <a:latin typeface="Courier New"/>
                          <a:cs typeface="Courier New"/>
                        </a:rPr>
                        <a:t>file-name 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rules: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1-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Alphanumeric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 (a-zA-Z0-9)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2-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Special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 characters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except ‘/’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3-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No Extensions 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in Linux “file.txt” txt is considered as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part of the file name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.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4- To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hide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 a file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precede it with ‘.’</a:t>
                      </a:r>
                    </a:p>
                    <a:p>
                      <a:pPr marL="214629" indent="-182880">
                        <a:lnSpc>
                          <a:spcPts val="2480"/>
                        </a:lnSpc>
                        <a:buClr>
                          <a:srgbClr val="92A199"/>
                        </a:buClr>
                        <a:buSzPct val="85416"/>
                        <a:buFont typeface="Arial MT"/>
                        <a:buChar char="•"/>
                        <a:tabLst>
                          <a:tab pos="214629" algn="l"/>
                        </a:tabLst>
                      </a:pPr>
                      <a:r>
                        <a:rPr lang="en-US" sz="2400" dirty="0">
                          <a:latin typeface="Courier New"/>
                          <a:cs typeface="Courier New"/>
                        </a:rPr>
                        <a:t>5- </a:t>
                      </a:r>
                      <a:r>
                        <a:rPr lang="en-US" sz="2400" b="1" dirty="0">
                          <a:latin typeface="Courier New"/>
                          <a:cs typeface="Courier New"/>
                        </a:rPr>
                        <a:t>Files</a:t>
                      </a:r>
                      <a:r>
                        <a:rPr lang="en-US" sz="2400" dirty="0">
                          <a:latin typeface="Courier New"/>
                          <a:cs typeface="Courier New"/>
                        </a:rPr>
                        <a:t> in Linux are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case sensitive. </a:t>
                      </a:r>
                      <a:endParaRPr sz="2400" b="1" dirty="0">
                        <a:solidFill>
                          <a:srgbClr val="FF000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259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41" y="4095063"/>
            <a:ext cx="59880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Cop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y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4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19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o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v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29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f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il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267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140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Cop</a:t>
            </a:r>
            <a:r>
              <a:rPr sz="4000" spc="-100" dirty="0">
                <a:solidFill>
                  <a:srgbClr val="D2523B"/>
                </a:solidFill>
              </a:rPr>
              <a:t>y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19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mo</a:t>
            </a:r>
            <a:r>
              <a:rPr sz="4000" spc="-100" dirty="0">
                <a:solidFill>
                  <a:srgbClr val="D2523B"/>
                </a:solidFill>
              </a:rPr>
              <a:t>v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04" dirty="0">
                <a:solidFill>
                  <a:srgbClr val="D2523B"/>
                </a:solidFill>
              </a:rPr>
              <a:t> </a:t>
            </a:r>
            <a:r>
              <a:rPr sz="4000" spc="-100" dirty="0">
                <a:solidFill>
                  <a:srgbClr val="D2523B"/>
                </a:solidFill>
              </a:rPr>
              <a:t>f</a:t>
            </a:r>
            <a:r>
              <a:rPr sz="4000" spc="-105" dirty="0">
                <a:solidFill>
                  <a:srgbClr val="D2523B"/>
                </a:solidFill>
              </a:rPr>
              <a:t>ile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96593"/>
            <a:ext cx="65995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1841500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cp	</a:t>
            </a:r>
            <a:r>
              <a:rPr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copy</a:t>
            </a:r>
            <a:r>
              <a:rPr sz="2400" b="1" spc="-1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files </a:t>
            </a:r>
            <a:r>
              <a:rPr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and</a:t>
            </a:r>
            <a:r>
              <a:rPr sz="2400" b="1" spc="-3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directories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1969744"/>
            <a:ext cx="36836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cp</a:t>
            </a:r>
            <a:r>
              <a:rPr sz="2000" b="1" spc="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source</a:t>
            </a:r>
            <a:r>
              <a:rPr sz="2000" b="1" spc="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destination </a:t>
            </a:r>
            <a:r>
              <a:rPr sz="2000" b="1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cp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 –</a:t>
            </a: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p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 source destination </a:t>
            </a:r>
            <a:r>
              <a:rPr sz="2000" b="1" spc="-119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 err="1">
                <a:solidFill>
                  <a:srgbClr val="D2523B"/>
                </a:solidFill>
                <a:latin typeface="Courier New"/>
                <a:cs typeface="Courier New"/>
              </a:rPr>
              <a:t>cp</a:t>
            </a:r>
            <a:r>
              <a:rPr sz="2000" b="1" spc="-2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–</a:t>
            </a:r>
            <a:r>
              <a:rPr lang="en-US"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r</a:t>
            </a:r>
            <a:r>
              <a:rPr sz="2000" b="1" spc="-1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source</a:t>
            </a:r>
            <a:r>
              <a:rPr sz="2000" b="1" spc="-1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destination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3228" y="2335504"/>
            <a:ext cx="3425572" cy="75405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lang="en-US"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P</a:t>
            </a:r>
            <a:r>
              <a:rPr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reserve</a:t>
            </a:r>
            <a:r>
              <a:rPr lang="en-US"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 attributes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with</a:t>
            </a:r>
            <a:r>
              <a:rPr sz="2000" b="1" spc="-65" dirty="0">
                <a:solidFill>
                  <a:srgbClr val="E39789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E39789"/>
                </a:solidFill>
                <a:latin typeface="Courier New"/>
                <a:cs typeface="Courier New"/>
              </a:rPr>
              <a:t>contents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492330"/>
            <a:ext cx="1826895" cy="8445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73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mv</a:t>
            </a:r>
            <a:endParaRPr sz="24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535"/>
              </a:spcBef>
              <a:tabLst>
                <a:tab pos="897255" algn="l"/>
              </a:tabLst>
            </a:pP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mv	source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4994" y="3492330"/>
            <a:ext cx="6048375" cy="84455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move</a:t>
            </a:r>
            <a:r>
              <a:rPr sz="2400" b="1" spc="-1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56566D"/>
                </a:solidFill>
                <a:latin typeface="Courier New"/>
                <a:cs typeface="Courier New"/>
              </a:rPr>
              <a:t>&amp;</a:t>
            </a:r>
            <a:r>
              <a:rPr sz="2400" b="1" spc="-2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rename files</a:t>
            </a:r>
            <a:r>
              <a:rPr sz="2400" b="1" spc="-1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56566D"/>
                </a:solidFill>
                <a:latin typeface="Courier New"/>
                <a:cs typeface="Courier New"/>
              </a:rPr>
              <a:t>&amp;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 directories</a:t>
            </a:r>
            <a:endParaRPr sz="2400">
              <a:latin typeface="Courier New"/>
              <a:cs typeface="Courier New"/>
            </a:endParaRPr>
          </a:p>
          <a:p>
            <a:pPr marL="290195">
              <a:lnSpc>
                <a:spcPct val="100000"/>
              </a:lnSpc>
              <a:spcBef>
                <a:spcPts val="535"/>
              </a:spcBef>
            </a:pPr>
            <a:r>
              <a:rPr sz="2000" b="1" spc="-5" dirty="0">
                <a:solidFill>
                  <a:srgbClr val="D2523B"/>
                </a:solidFill>
                <a:latin typeface="Courier New"/>
                <a:cs typeface="Courier New"/>
              </a:rPr>
              <a:t>destination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0259" y="4304534"/>
            <a:ext cx="7333615" cy="126936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67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6215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If</a:t>
            </a:r>
            <a:r>
              <a:rPr sz="2400" b="1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in</a:t>
            </a:r>
            <a:r>
              <a:rPr sz="2400" b="1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same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dir,</a:t>
            </a:r>
            <a:r>
              <a:rPr sz="2400" b="1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it’s</a:t>
            </a:r>
            <a:r>
              <a:rPr sz="2400" b="1" spc="-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considered</a:t>
            </a:r>
            <a:r>
              <a:rPr sz="2400" b="1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rename.</a:t>
            </a:r>
            <a:endParaRPr sz="2400" dirty="0">
              <a:latin typeface="Courier New"/>
              <a:cs typeface="Courier New"/>
            </a:endParaRPr>
          </a:p>
          <a:p>
            <a:pPr marL="195580" indent="-183515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6215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If</a:t>
            </a:r>
            <a:r>
              <a:rPr sz="2400" b="1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to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another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partition</a:t>
            </a:r>
            <a:r>
              <a:rPr sz="2400" b="1" spc="-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or</a:t>
            </a:r>
            <a:r>
              <a:rPr sz="2400" b="1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directory,</a:t>
            </a:r>
            <a:endParaRPr sz="2400" dirty="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it’s</a:t>
            </a:r>
            <a:r>
              <a:rPr sz="2400" b="1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Courier New"/>
                <a:cs typeface="Courier New"/>
              </a:rPr>
              <a:t>considered</a:t>
            </a:r>
            <a:r>
              <a:rPr sz="2400" b="1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move.</a:t>
            </a:r>
            <a:endParaRPr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489144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398" y="4095063"/>
            <a:ext cx="71526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Re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o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v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4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f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il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400" spc="-240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an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19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d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r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c</a:t>
            </a:r>
            <a:r>
              <a:rPr sz="4400" spc="-114" dirty="0">
                <a:solidFill>
                  <a:srgbClr val="D2523B"/>
                </a:solidFill>
                <a:latin typeface="Arial MT"/>
                <a:cs typeface="Arial MT"/>
              </a:rPr>
              <a:t>t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o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ri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223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468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Remo</a:t>
            </a:r>
            <a:r>
              <a:rPr sz="4000" spc="-100" dirty="0">
                <a:solidFill>
                  <a:srgbClr val="D2523B"/>
                </a:solidFill>
              </a:rPr>
              <a:t>v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190" dirty="0">
                <a:solidFill>
                  <a:srgbClr val="D2523B"/>
                </a:solidFill>
              </a:rPr>
              <a:t> </a:t>
            </a:r>
            <a:r>
              <a:rPr sz="4000" spc="-100" dirty="0">
                <a:solidFill>
                  <a:srgbClr val="D2523B"/>
                </a:solidFill>
              </a:rPr>
              <a:t>f</a:t>
            </a:r>
            <a:r>
              <a:rPr sz="4000" spc="-105" dirty="0">
                <a:solidFill>
                  <a:srgbClr val="D2523B"/>
                </a:solidFill>
              </a:rPr>
              <a:t>ile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r>
              <a:rPr sz="4000" spc="-22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an</a:t>
            </a:r>
            <a:r>
              <a:rPr sz="4000" spc="-5" dirty="0">
                <a:solidFill>
                  <a:srgbClr val="D2523B"/>
                </a:solidFill>
              </a:rPr>
              <a:t>d</a:t>
            </a:r>
            <a:r>
              <a:rPr sz="4000" spc="-190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dire</a:t>
            </a:r>
            <a:r>
              <a:rPr sz="4000" spc="-100" dirty="0">
                <a:solidFill>
                  <a:srgbClr val="D2523B"/>
                </a:solidFill>
              </a:rPr>
              <a:t>ct</a:t>
            </a:r>
            <a:r>
              <a:rPr sz="4000" spc="-105" dirty="0">
                <a:solidFill>
                  <a:srgbClr val="D2523B"/>
                </a:solidFill>
              </a:rPr>
              <a:t>orie</a:t>
            </a:r>
            <a:r>
              <a:rPr sz="4000" spc="-5" dirty="0">
                <a:solidFill>
                  <a:srgbClr val="D2523B"/>
                </a:solidFill>
              </a:rPr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2313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rmdir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9775" y="1592021"/>
            <a:ext cx="4705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remove</a:t>
            </a:r>
            <a:r>
              <a:rPr sz="2800" b="1" spc="-4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empty</a:t>
            </a:r>
            <a:r>
              <a:rPr sz="2800" b="1" spc="-4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directory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97151"/>
            <a:ext cx="6605270" cy="214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D2523B"/>
                </a:solidFill>
                <a:latin typeface="Courier New"/>
                <a:cs typeface="Courier New"/>
              </a:rPr>
              <a:t>rmdir</a:t>
            </a:r>
            <a:r>
              <a:rPr sz="2400" b="1" spc="-5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D2523B"/>
                </a:solidFill>
                <a:latin typeface="Courier New"/>
                <a:cs typeface="Courier New"/>
              </a:rPr>
              <a:t>empty-dir-name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>
              <a:latin typeface="Courier New"/>
              <a:cs typeface="Courier New"/>
            </a:endParaRPr>
          </a:p>
          <a:p>
            <a:pPr marL="195580" marR="5080" indent="-195580">
              <a:lnSpc>
                <a:spcPct val="120100"/>
              </a:lnSpc>
              <a:spcBef>
                <a:spcPts val="5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2755900" algn="l"/>
              </a:tabLst>
            </a:pP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rm	</a:t>
            </a:r>
            <a:r>
              <a:rPr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remove </a:t>
            </a:r>
            <a:r>
              <a:rPr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files and </a:t>
            </a:r>
            <a:r>
              <a:rPr sz="2400" b="1" dirty="0">
                <a:solidFill>
                  <a:srgbClr val="56566D"/>
                </a:solidFill>
                <a:latin typeface="Courier New"/>
                <a:cs typeface="Courier New"/>
              </a:rPr>
              <a:t>dirs </a:t>
            </a:r>
            <a:r>
              <a:rPr sz="2400" b="1" spc="-143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D2523B"/>
                </a:solidFill>
                <a:latin typeface="Courier New"/>
                <a:cs typeface="Courier New"/>
              </a:rPr>
              <a:t>rm</a:t>
            </a:r>
            <a:r>
              <a:rPr sz="2400" b="1" spc="-10" dirty="0">
                <a:solidFill>
                  <a:srgbClr val="D2523B"/>
                </a:solidFill>
                <a:latin typeface="Courier New"/>
                <a:cs typeface="Courier New"/>
              </a:rPr>
              <a:t> file-name</a:t>
            </a:r>
            <a:endParaRPr sz="24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D2523B"/>
                </a:solidFill>
                <a:latin typeface="Courier New"/>
                <a:cs typeface="Courier New"/>
              </a:rPr>
              <a:t>rm</a:t>
            </a:r>
            <a:r>
              <a:rPr sz="2400" b="1" spc="-4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D2523B"/>
                </a:solidFill>
                <a:latin typeface="Courier New"/>
                <a:cs typeface="Courier New"/>
              </a:rPr>
              <a:t>–r</a:t>
            </a:r>
            <a:r>
              <a:rPr sz="24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D2523B"/>
                </a:solidFill>
                <a:latin typeface="Courier New"/>
                <a:cs typeface="Courier New"/>
              </a:rPr>
              <a:t>dir-name</a:t>
            </a:r>
            <a:endParaRPr sz="2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77787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341" y="4095063"/>
            <a:ext cx="6141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ett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i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g</a:t>
            </a:r>
            <a:r>
              <a:rPr sz="44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He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l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p</a:t>
            </a:r>
            <a:r>
              <a:rPr sz="4400" spc="-229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5" dirty="0">
                <a:solidFill>
                  <a:srgbClr val="D2523B"/>
                </a:solidFill>
                <a:latin typeface="Arial MT"/>
                <a:cs typeface="Arial MT"/>
              </a:rPr>
              <a:t>(</a:t>
            </a:r>
            <a:r>
              <a:rPr sz="4400" spc="-90" dirty="0">
                <a:solidFill>
                  <a:srgbClr val="D2523B"/>
                </a:solidFill>
                <a:latin typeface="Arial MT"/>
                <a:cs typeface="Arial MT"/>
              </a:rPr>
              <a:t>m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a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n</a:t>
            </a:r>
            <a:r>
              <a:rPr sz="4400" spc="-215" dirty="0">
                <a:solidFill>
                  <a:srgbClr val="D2523B"/>
                </a:solidFill>
                <a:latin typeface="Arial MT"/>
                <a:cs typeface="Arial MT"/>
              </a:rPr>
              <a:t> </a:t>
            </a:r>
            <a:r>
              <a:rPr sz="4400" spc="-100" dirty="0">
                <a:solidFill>
                  <a:srgbClr val="D2523B"/>
                </a:solidFill>
                <a:latin typeface="Arial MT"/>
                <a:cs typeface="Arial MT"/>
              </a:rPr>
              <a:t>page</a:t>
            </a:r>
            <a:r>
              <a:rPr sz="4400" spc="-95" dirty="0">
                <a:solidFill>
                  <a:srgbClr val="D2523B"/>
                </a:solidFill>
                <a:latin typeface="Arial MT"/>
                <a:cs typeface="Arial MT"/>
              </a:rPr>
              <a:t>s</a:t>
            </a:r>
            <a:r>
              <a:rPr sz="4400" dirty="0">
                <a:solidFill>
                  <a:srgbClr val="D2523B"/>
                </a:solidFill>
                <a:latin typeface="Arial MT"/>
                <a:cs typeface="Arial MT"/>
              </a:rPr>
              <a:t>)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476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7101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>
                <a:solidFill>
                  <a:srgbClr val="D2523B"/>
                </a:solidFill>
              </a:rPr>
              <a:t>Ge</a:t>
            </a:r>
            <a:r>
              <a:rPr sz="4000" spc="-100" dirty="0">
                <a:solidFill>
                  <a:srgbClr val="D2523B"/>
                </a:solidFill>
              </a:rPr>
              <a:t>tt</a:t>
            </a:r>
            <a:r>
              <a:rPr sz="4000" spc="-105" dirty="0">
                <a:solidFill>
                  <a:srgbClr val="D2523B"/>
                </a:solidFill>
              </a:rPr>
              <a:t>in</a:t>
            </a:r>
            <a:r>
              <a:rPr sz="4000" spc="-5" dirty="0">
                <a:solidFill>
                  <a:srgbClr val="D2523B"/>
                </a:solidFill>
              </a:rPr>
              <a:t>g</a:t>
            </a:r>
            <a:r>
              <a:rPr sz="4000" spc="-215" dirty="0">
                <a:solidFill>
                  <a:srgbClr val="D2523B"/>
                </a:solidFill>
              </a:rPr>
              <a:t> </a:t>
            </a:r>
            <a:r>
              <a:rPr sz="4000" spc="-105" dirty="0">
                <a:solidFill>
                  <a:srgbClr val="D2523B"/>
                </a:solidFill>
              </a:rPr>
              <a:t>Hel</a:t>
            </a:r>
            <a:r>
              <a:rPr sz="4000" spc="-5" dirty="0">
                <a:solidFill>
                  <a:srgbClr val="D2523B"/>
                </a:solidFill>
              </a:rPr>
              <a:t>p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89278"/>
            <a:ext cx="8032750" cy="4811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indent="-182880">
              <a:lnSpc>
                <a:spcPts val="1545"/>
              </a:lnSpc>
              <a:spcBef>
                <a:spcPts val="95"/>
              </a:spcBef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Help</a:t>
            </a:r>
            <a:r>
              <a:rPr sz="13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endParaRPr sz="1300">
              <a:latin typeface="Arial MT"/>
              <a:cs typeface="Arial MT"/>
            </a:endParaRPr>
          </a:p>
          <a:p>
            <a:pPr marL="286385">
              <a:lnSpc>
                <a:spcPts val="1305"/>
              </a:lnSpc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man</a:t>
            </a:r>
            <a:r>
              <a:rPr sz="1100" b="1" spc="-4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>
              <a:latin typeface="Courier New"/>
              <a:cs typeface="Courier New"/>
            </a:endParaRPr>
          </a:p>
          <a:p>
            <a:pPr marL="469900" marR="5080">
              <a:lnSpc>
                <a:spcPct val="82600"/>
              </a:lnSpc>
              <a:spcBef>
                <a:spcPts val="309"/>
              </a:spcBef>
            </a:pP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System-wide</a:t>
            </a:r>
            <a:r>
              <a:rPr sz="10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1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10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provides</a:t>
            </a:r>
            <a:r>
              <a:rPr sz="10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short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reference</a:t>
            </a:r>
            <a:r>
              <a:rPr sz="1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manuals (pages)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for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individual</a:t>
            </a:r>
            <a:r>
              <a:rPr sz="10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commands,</a:t>
            </a:r>
            <a:r>
              <a:rPr sz="10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API</a:t>
            </a:r>
            <a:r>
              <a:rPr sz="10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functions,</a:t>
            </a:r>
            <a:r>
              <a:rPr sz="1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concepts,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configuration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syntax,</a:t>
            </a:r>
            <a:r>
              <a:rPr sz="10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file</a:t>
            </a:r>
            <a:r>
              <a:rPr sz="10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formats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0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organized</a:t>
            </a:r>
            <a:r>
              <a:rPr sz="10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sections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(1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user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commands,</a:t>
            </a:r>
            <a:r>
              <a:rPr sz="1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2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10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calls...).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That's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traditional</a:t>
            </a:r>
            <a:r>
              <a:rPr sz="10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Unix </a:t>
            </a:r>
            <a:r>
              <a:rPr sz="1000" spc="-2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1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system.</a:t>
            </a:r>
            <a:endParaRPr sz="1000">
              <a:latin typeface="Arial MT"/>
              <a:cs typeface="Arial MT"/>
            </a:endParaRPr>
          </a:p>
          <a:p>
            <a:pPr marL="286385">
              <a:lnSpc>
                <a:spcPts val="1280"/>
              </a:lnSpc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info</a:t>
            </a:r>
            <a:r>
              <a:rPr sz="11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Another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10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originating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 the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GNU project</a:t>
            </a:r>
            <a:endParaRPr sz="10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  <a:spcBef>
                <a:spcPts val="20"/>
              </a:spcBef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help</a:t>
            </a:r>
            <a:r>
              <a:rPr sz="11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>
              <a:latin typeface="Courier New"/>
              <a:cs typeface="Courier New"/>
            </a:endParaRPr>
          </a:p>
          <a:p>
            <a:pPr marL="469900" marR="314325">
              <a:lnSpc>
                <a:spcPts val="1060"/>
              </a:lnSpc>
              <a:spcBef>
                <a:spcPts val="575"/>
              </a:spcBef>
            </a:pP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Built-in</a:t>
            </a:r>
            <a:r>
              <a:rPr sz="10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1000" spc="-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bash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shell (and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shell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only)</a:t>
            </a:r>
            <a:r>
              <a:rPr sz="10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documents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some</a:t>
            </a:r>
            <a:r>
              <a:rPr sz="1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of the</a:t>
            </a:r>
            <a:r>
              <a:rPr sz="10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built-in</a:t>
            </a:r>
            <a:r>
              <a:rPr sz="10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commands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keywords</a:t>
            </a:r>
            <a:r>
              <a:rPr sz="10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of that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shell. </a:t>
            </a:r>
            <a:r>
              <a:rPr sz="1000" spc="-2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That's</a:t>
            </a:r>
            <a:r>
              <a:rPr sz="1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an</a:t>
            </a:r>
            <a:r>
              <a:rPr sz="10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internal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system</a:t>
            </a:r>
            <a:r>
              <a:rPr sz="10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that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shell.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Command </a:t>
            </a:r>
            <a:r>
              <a:rPr sz="1300" spc="-10" dirty="0">
                <a:solidFill>
                  <a:srgbClr val="292934"/>
                </a:solidFill>
                <a:latin typeface="Arial MT"/>
                <a:cs typeface="Arial MT"/>
              </a:rPr>
              <a:t>type</a:t>
            </a:r>
            <a:endParaRPr sz="130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  <a:spcBef>
                <a:spcPts val="90"/>
              </a:spcBef>
            </a:pPr>
            <a:r>
              <a:rPr sz="1200" b="1" spc="-5" dirty="0">
                <a:solidFill>
                  <a:srgbClr val="D2523B"/>
                </a:solidFill>
                <a:latin typeface="Courier New"/>
                <a:cs typeface="Courier New"/>
              </a:rPr>
              <a:t>type</a:t>
            </a:r>
            <a:endParaRPr sz="1200">
              <a:latin typeface="Courier New"/>
              <a:cs typeface="Courier New"/>
            </a:endParaRPr>
          </a:p>
          <a:p>
            <a:pPr marL="427355">
              <a:lnSpc>
                <a:spcPct val="100000"/>
              </a:lnSpc>
              <a:spcBef>
                <a:spcPts val="334"/>
              </a:spcBef>
            </a:pP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Display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information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about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command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15" dirty="0">
                <a:solidFill>
                  <a:srgbClr val="292934"/>
                </a:solidFill>
                <a:latin typeface="Arial MT"/>
                <a:cs typeface="Arial MT"/>
              </a:rPr>
              <a:t>type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10" dirty="0">
                <a:solidFill>
                  <a:srgbClr val="292934"/>
                </a:solidFill>
                <a:latin typeface="Arial MT"/>
                <a:cs typeface="Arial MT"/>
              </a:rPr>
              <a:t>Man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Pages</a:t>
            </a:r>
            <a:endParaRPr sz="1300">
              <a:latin typeface="Arial MT"/>
              <a:cs typeface="Arial MT"/>
            </a:endParaRPr>
          </a:p>
          <a:p>
            <a:pPr marL="242570">
              <a:lnSpc>
                <a:spcPct val="100000"/>
              </a:lnSpc>
              <a:spcBef>
                <a:spcPts val="90"/>
              </a:spcBef>
            </a:pPr>
            <a:r>
              <a:rPr sz="1200" b="1" spc="-5" dirty="0">
                <a:solidFill>
                  <a:srgbClr val="D2523B"/>
                </a:solidFill>
                <a:latin typeface="Courier New"/>
                <a:cs typeface="Courier New"/>
              </a:rPr>
              <a:t>man</a:t>
            </a:r>
            <a:r>
              <a:rPr sz="12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200" b="1" spc="-5" dirty="0">
                <a:solidFill>
                  <a:srgbClr val="D2523B"/>
                </a:solidFill>
                <a:latin typeface="Courier New"/>
                <a:cs typeface="Courier New"/>
              </a:rPr>
              <a:t>man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Courier New"/>
              <a:cs typeface="Courier New"/>
            </a:endParaRPr>
          </a:p>
          <a:p>
            <a:pPr marL="195580" indent="-182880">
              <a:lnSpc>
                <a:spcPts val="1545"/>
              </a:lnSpc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Display</a:t>
            </a:r>
            <a:r>
              <a:rPr sz="1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manual</a:t>
            </a:r>
            <a:r>
              <a:rPr sz="13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page</a:t>
            </a:r>
            <a:r>
              <a:rPr sz="13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descriptions</a:t>
            </a:r>
            <a:endParaRPr sz="1300">
              <a:latin typeface="Arial MT"/>
              <a:cs typeface="Arial MT"/>
            </a:endParaRPr>
          </a:p>
          <a:p>
            <a:pPr marL="286385">
              <a:lnSpc>
                <a:spcPts val="1305"/>
              </a:lnSpc>
            </a:pPr>
            <a:r>
              <a:rPr sz="1100" b="1" dirty="0">
                <a:solidFill>
                  <a:srgbClr val="D2523B"/>
                </a:solidFill>
                <a:latin typeface="Courier New"/>
                <a:cs typeface="Courier New"/>
              </a:rPr>
              <a:t>man</a:t>
            </a:r>
            <a:r>
              <a:rPr sz="1100" b="1" spc="-5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D2523B"/>
                </a:solidFill>
                <a:latin typeface="Courier New"/>
                <a:cs typeface="Courier New"/>
              </a:rPr>
              <a:t>-f</a:t>
            </a:r>
            <a:r>
              <a:rPr sz="1100" b="1" spc="-4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whatis</a:t>
            </a:r>
            <a:r>
              <a:rPr sz="1100" b="1" spc="-50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command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400">
              <a:latin typeface="Courier New"/>
              <a:cs typeface="Courier New"/>
            </a:endParaRPr>
          </a:p>
          <a:p>
            <a:pPr marL="195580" indent="-182880">
              <a:lnSpc>
                <a:spcPts val="1545"/>
              </a:lnSpc>
              <a:buClr>
                <a:srgbClr val="92A199"/>
              </a:buClr>
              <a:buSzPct val="84615"/>
              <a:buChar char="•"/>
              <a:tabLst>
                <a:tab pos="194945" algn="l"/>
                <a:tab pos="195580" algn="l"/>
              </a:tabLst>
            </a:pPr>
            <a:r>
              <a:rPr sz="1300" spc="-10" dirty="0">
                <a:solidFill>
                  <a:srgbClr val="292934"/>
                </a:solidFill>
                <a:latin typeface="Arial MT"/>
                <a:cs typeface="Arial MT"/>
              </a:rPr>
              <a:t>Search</a:t>
            </a:r>
            <a:r>
              <a:rPr sz="13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manual</a:t>
            </a:r>
            <a:r>
              <a:rPr sz="13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page</a:t>
            </a:r>
            <a:r>
              <a:rPr sz="13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names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descriptions</a:t>
            </a:r>
            <a:endParaRPr sz="1300">
              <a:latin typeface="Arial MT"/>
              <a:cs typeface="Arial MT"/>
            </a:endParaRPr>
          </a:p>
          <a:p>
            <a:pPr marL="286385" marR="6477000">
              <a:lnSpc>
                <a:spcPts val="1320"/>
              </a:lnSpc>
              <a:spcBef>
                <a:spcPts val="30"/>
              </a:spcBef>
            </a:pP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man -k pattern </a:t>
            </a:r>
            <a:r>
              <a:rPr sz="1100" b="1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apropos</a:t>
            </a:r>
            <a:r>
              <a:rPr sz="1100" b="1" spc="-35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sz="1100" b="1" spc="-5" dirty="0">
                <a:solidFill>
                  <a:srgbClr val="D2523B"/>
                </a:solidFill>
                <a:latin typeface="Courier New"/>
                <a:cs typeface="Courier New"/>
              </a:rPr>
              <a:t>pattern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5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</a:pP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more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info</a:t>
            </a:r>
            <a:r>
              <a:rPr sz="13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regarding</a:t>
            </a:r>
            <a:r>
              <a:rPr sz="13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getting</a:t>
            </a:r>
            <a:r>
              <a:rPr sz="13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help</a:t>
            </a:r>
            <a:r>
              <a:rPr sz="13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Arial MT"/>
                <a:cs typeface="Arial MT"/>
              </a:rPr>
              <a:t>-&gt;</a:t>
            </a:r>
            <a:r>
              <a:rPr sz="13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LINK</a:t>
            </a:r>
            <a:endParaRPr sz="13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6647775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341" y="4095063"/>
            <a:ext cx="614108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Browsing and Exploring 	    Filesystem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463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82270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Browsing and exploring File System</a:t>
            </a:r>
            <a:endParaRPr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468449" y="1676400"/>
            <a:ext cx="8684260" cy="12388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Relative Path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Absolute Path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766228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82270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Browsing and exploring File System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42313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cd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9775" y="1592021"/>
            <a:ext cx="4705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change</a:t>
            </a:r>
            <a:r>
              <a:rPr lang="en-US" sz="2800" b="1" spc="-45" dirty="0">
                <a:solidFill>
                  <a:srgbClr val="56566D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directory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97151"/>
            <a:ext cx="8684260" cy="4200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cd </a:t>
            </a: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dir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-name go to </a:t>
            </a: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dir</a:t>
            </a:r>
            <a:endParaRPr lang="en-US" sz="2400" b="1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cd – go previous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cd . Go to current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cd .. Go up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 dirty="0">
              <a:latin typeface="Courier New"/>
              <a:cs typeface="Courier New"/>
            </a:endParaRPr>
          </a:p>
          <a:p>
            <a:pPr marL="195580" marR="5080" indent="-195580">
              <a:lnSpc>
                <a:spcPct val="120100"/>
              </a:lnSpc>
              <a:spcBef>
                <a:spcPts val="5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2755900" algn="l"/>
              </a:tabLst>
            </a:pPr>
            <a:r>
              <a:rPr lang="en-US" sz="2400" b="1" spc="-5" dirty="0" err="1">
                <a:solidFill>
                  <a:srgbClr val="292934"/>
                </a:solidFill>
                <a:latin typeface="Courier New"/>
                <a:cs typeface="Courier New"/>
              </a:rPr>
              <a:t>pwd</a:t>
            </a:r>
            <a:r>
              <a:rPr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	</a:t>
            </a:r>
            <a:r>
              <a:rPr lang="en-US"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print current working directory</a:t>
            </a:r>
          </a:p>
          <a:p>
            <a:pPr marL="195580" marR="5080" indent="-195580">
              <a:lnSpc>
                <a:spcPct val="120100"/>
              </a:lnSpc>
              <a:spcBef>
                <a:spcPts val="5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275590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ls</a:t>
            </a:r>
            <a:r>
              <a:rPr lang="en-US" sz="2400" b="1" spc="-5" dirty="0">
                <a:solidFill>
                  <a:srgbClr val="56566D"/>
                </a:solidFill>
                <a:latin typeface="Courier New"/>
                <a:cs typeface="Courier New"/>
              </a:rPr>
              <a:t>            list files in current directory </a:t>
            </a:r>
          </a:p>
          <a:p>
            <a:pPr marL="195580" marR="5080" indent="-195580">
              <a:lnSpc>
                <a:spcPct val="120100"/>
              </a:lnSpc>
              <a:spcBef>
                <a:spcPts val="5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2755900" algn="l"/>
              </a:tabLst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ls –</a:t>
            </a: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lh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long list, human readable</a:t>
            </a:r>
          </a:p>
          <a:p>
            <a:pPr marL="195580" marR="5080" indent="-195580">
              <a:lnSpc>
                <a:spcPct val="120100"/>
              </a:lnSpc>
              <a:spcBef>
                <a:spcPts val="5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2755900" algn="l"/>
              </a:tabLst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ls another-path list another folder</a:t>
            </a:r>
          </a:p>
          <a:p>
            <a:pPr marL="195580" marR="5080" indent="-195580">
              <a:lnSpc>
                <a:spcPct val="120100"/>
              </a:lnSpc>
              <a:spcBef>
                <a:spcPts val="5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  <a:tab pos="2755900" algn="l"/>
              </a:tabLst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ls –a list all with hidden files</a:t>
            </a:r>
          </a:p>
        </p:txBody>
      </p:sp>
    </p:spTree>
    <p:extLst>
      <p:ext uri="{BB962C8B-B14F-4D97-AF65-F5344CB8AC3E}">
        <p14:creationId xmlns:p14="http://schemas.microsoft.com/office/powerpoint/2010/main" val="28947593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7800" y="4191000"/>
            <a:ext cx="74062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Creating Files and Directories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674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6174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Creating files and directories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42313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touch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76600" y="1581988"/>
            <a:ext cx="4705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create a new file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97151"/>
            <a:ext cx="8684260" cy="2385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touch file-name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touch file1 file2 file3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endParaRPr lang="en-US" sz="24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endParaRPr lang="en-US" sz="24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mkdir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</a:t>
            </a: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dir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-name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 dirty="0">
              <a:latin typeface="Courier New"/>
              <a:cs typeface="Courier New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430F4CA-EFE3-40F4-845E-8B0D9416D7C4}"/>
              </a:ext>
            </a:extLst>
          </p:cNvPr>
          <p:cNvSpPr txBox="1"/>
          <p:nvPr/>
        </p:nvSpPr>
        <p:spPr>
          <a:xfrm>
            <a:off x="457200" y="3093887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lang="en-US" sz="2400" b="1" spc="-5" dirty="0" err="1">
                <a:solidFill>
                  <a:srgbClr val="292934"/>
                </a:solidFill>
                <a:latin typeface="Courier New"/>
                <a:cs typeface="Courier New"/>
              </a:rPr>
              <a:t>mkdir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91DC3F6-E857-47E1-8379-A9EAA9E143AE}"/>
              </a:ext>
            </a:extLst>
          </p:cNvPr>
          <p:cNvSpPr txBox="1"/>
          <p:nvPr/>
        </p:nvSpPr>
        <p:spPr>
          <a:xfrm>
            <a:off x="3250474" y="3093887"/>
            <a:ext cx="4705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create a new directory</a:t>
            </a:r>
            <a:endParaRPr sz="2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755436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7800" y="4191000"/>
            <a:ext cx="74062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Copying and Moving Files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185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6174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Copying and Moving Files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42313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lang="en-US" sz="2400" b="1" spc="-5" dirty="0" err="1">
                <a:solidFill>
                  <a:srgbClr val="292934"/>
                </a:solidFill>
                <a:latin typeface="Courier New"/>
                <a:cs typeface="Courier New"/>
              </a:rPr>
              <a:t>cp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0166" y="1617570"/>
            <a:ext cx="58674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copy files and directories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97151"/>
            <a:ext cx="8684260" cy="4652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source destination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cp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–p source destination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cp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–a source destination with contents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 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endParaRPr lang="en-US" sz="24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endParaRPr lang="en-US" sz="24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mv source destination</a:t>
            </a:r>
          </a:p>
          <a:p>
            <a:pPr marL="286385">
              <a:spcBef>
                <a:spcPts val="100"/>
              </a:spcBef>
            </a:pPr>
            <a:r>
              <a:rPr lang="en-US"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If in same </a:t>
            </a:r>
            <a:r>
              <a:rPr lang="en-US" sz="2400" b="1" spc="-10" dirty="0" err="1">
                <a:solidFill>
                  <a:srgbClr val="56566D"/>
                </a:solidFill>
                <a:latin typeface="Courier New"/>
                <a:cs typeface="Courier New"/>
              </a:rPr>
              <a:t>dir</a:t>
            </a:r>
            <a:r>
              <a:rPr lang="en-US" sz="2400" b="1" spc="-10" dirty="0">
                <a:solidFill>
                  <a:srgbClr val="56566D"/>
                </a:solidFill>
                <a:latin typeface="Courier New"/>
                <a:cs typeface="Courier New"/>
              </a:rPr>
              <a:t>, it’s considered renaming. If to another partition or directory, it’s considered move.</a:t>
            </a:r>
            <a:endParaRPr lang="en-US" sz="2400" dirty="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 dirty="0">
              <a:latin typeface="Courier New"/>
              <a:cs typeface="Courier New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430F4CA-EFE3-40F4-845E-8B0D9416D7C4}"/>
              </a:ext>
            </a:extLst>
          </p:cNvPr>
          <p:cNvSpPr txBox="1"/>
          <p:nvPr/>
        </p:nvSpPr>
        <p:spPr>
          <a:xfrm>
            <a:off x="535940" y="3546007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Courier New"/>
                <a:cs typeface="Courier New"/>
              </a:rPr>
              <a:t>mv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91DC3F6-E857-47E1-8379-A9EAA9E143AE}"/>
              </a:ext>
            </a:extLst>
          </p:cNvPr>
          <p:cNvSpPr txBox="1"/>
          <p:nvPr/>
        </p:nvSpPr>
        <p:spPr>
          <a:xfrm>
            <a:off x="1905000" y="3548184"/>
            <a:ext cx="77724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move &amp; rename files &amp; directories</a:t>
            </a:r>
            <a:endParaRPr sz="2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375813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200" y="4191000"/>
            <a:ext cx="74062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Removing Files and Directories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407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61746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>
                <a:solidFill>
                  <a:srgbClr val="D2523B"/>
                </a:solidFill>
              </a:rPr>
              <a:t>Removing Files and Directories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42313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lang="en-US" sz="2400" b="1" spc="-5" dirty="0" err="1">
                <a:solidFill>
                  <a:srgbClr val="292934"/>
                </a:solidFill>
                <a:latin typeface="Courier New"/>
                <a:cs typeface="Courier New"/>
              </a:rPr>
              <a:t>rmdir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0166" y="1617570"/>
            <a:ext cx="58674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remove empty directory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97151"/>
            <a:ext cx="8684260" cy="27674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rmdir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empty-</a:t>
            </a: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dir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-name  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endParaRPr lang="en-US" sz="24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endParaRPr lang="en-US" sz="2400" b="1" spc="-5" dirty="0">
              <a:solidFill>
                <a:srgbClr val="D2523B"/>
              </a:solidFill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rm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file-name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rm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 –r </a:t>
            </a:r>
            <a:r>
              <a:rPr lang="en-US" sz="2400" b="1" dirty="0" err="1">
                <a:solidFill>
                  <a:srgbClr val="D2523B"/>
                </a:solidFill>
                <a:latin typeface="Courier New"/>
                <a:cs typeface="Courier New"/>
              </a:rPr>
              <a:t>dir</a:t>
            </a:r>
            <a:r>
              <a:rPr lang="en-US" sz="2400" b="1" dirty="0">
                <a:solidFill>
                  <a:srgbClr val="D2523B"/>
                </a:solidFill>
                <a:latin typeface="Courier New"/>
                <a:cs typeface="Courier New"/>
              </a:rPr>
              <a:t>-name</a:t>
            </a:r>
          </a:p>
          <a:p>
            <a:pPr marL="286385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 dirty="0">
              <a:latin typeface="Courier New"/>
              <a:cs typeface="Courier New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430F4CA-EFE3-40F4-845E-8B0D9416D7C4}"/>
              </a:ext>
            </a:extLst>
          </p:cNvPr>
          <p:cNvSpPr txBox="1"/>
          <p:nvPr/>
        </p:nvSpPr>
        <p:spPr>
          <a:xfrm>
            <a:off x="535940" y="2805786"/>
            <a:ext cx="11226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Arial MT"/>
              <a:buChar char="•"/>
              <a:tabLst>
                <a:tab pos="195580" algn="l"/>
              </a:tabLst>
            </a:pPr>
            <a:r>
              <a:rPr lang="en-US" sz="2400" b="1" spc="-5" dirty="0" err="1">
                <a:solidFill>
                  <a:srgbClr val="292934"/>
                </a:solidFill>
                <a:latin typeface="Courier New"/>
                <a:cs typeface="Courier New"/>
              </a:rPr>
              <a:t>rm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FAFBFA52-4F73-4AAB-82A1-A53797D7F2D9}"/>
              </a:ext>
            </a:extLst>
          </p:cNvPr>
          <p:cNvSpPr txBox="1"/>
          <p:nvPr/>
        </p:nvSpPr>
        <p:spPr>
          <a:xfrm>
            <a:off x="1867989" y="1616675"/>
            <a:ext cx="58674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remove empty directory</a:t>
            </a:r>
            <a:endParaRPr sz="2800" dirty="0">
              <a:latin typeface="Courier New"/>
              <a:cs typeface="Courier New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6FE091D-1535-43D4-A1AB-0E221AAE7A96}"/>
              </a:ext>
            </a:extLst>
          </p:cNvPr>
          <p:cNvSpPr txBox="1"/>
          <p:nvPr/>
        </p:nvSpPr>
        <p:spPr>
          <a:xfrm>
            <a:off x="1861458" y="2754511"/>
            <a:ext cx="58674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56566D"/>
                </a:solidFill>
                <a:latin typeface="Courier New"/>
                <a:cs typeface="Courier New"/>
              </a:rPr>
              <a:t>remove files and </a:t>
            </a:r>
            <a:r>
              <a:rPr lang="en-US" sz="2800" b="1" spc="-10" dirty="0" err="1">
                <a:solidFill>
                  <a:srgbClr val="56566D"/>
                </a:solidFill>
                <a:latin typeface="Courier New"/>
                <a:cs typeface="Courier New"/>
              </a:rPr>
              <a:t>dirs</a:t>
            </a:r>
            <a:endParaRPr sz="28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820786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870" y="4038600"/>
            <a:ext cx="835133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5" dirty="0">
                <a:solidFill>
                  <a:srgbClr val="D2523B"/>
                </a:solidFill>
                <a:latin typeface="Arial MT"/>
                <a:cs typeface="Arial MT"/>
              </a:rPr>
              <a:t>Managing and Securing files and 		        permissions</a:t>
            </a:r>
            <a:endParaRPr sz="4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1828800"/>
            <a:ext cx="36899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650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688537"/>
            <a:ext cx="1020826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105" dirty="0">
                <a:solidFill>
                  <a:srgbClr val="D2523B"/>
                </a:solidFill>
              </a:rPr>
              <a:t>Managing and securing files and permissions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BD7A6-26AA-450C-9802-57ABFE147F73}"/>
              </a:ext>
            </a:extLst>
          </p:cNvPr>
          <p:cNvSpPr txBox="1"/>
          <p:nvPr/>
        </p:nvSpPr>
        <p:spPr>
          <a:xfrm>
            <a:off x="381000" y="1752600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file has an owner and assigned to a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Linux allows users to set permissions on files and directories to protect </a:t>
            </a:r>
            <a:r>
              <a:rPr lang="en-US"/>
              <a:t>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965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511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319"/>
            <a:ext cx="7954009" cy="1770998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From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Scratch</a:t>
            </a:r>
            <a:endParaRPr sz="2400" dirty="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24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u="heavy" spc="-5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2"/>
              </a:rPr>
              <a:t>http://www.linuxfromscratch.org/lfs/</a:t>
            </a:r>
            <a:endParaRPr sz="20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92A199"/>
              </a:buClr>
              <a:buFont typeface="Arial MT"/>
              <a:buChar char="•"/>
            </a:pPr>
            <a:endParaRPr sz="205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Linux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Documentation</a:t>
            </a:r>
            <a:r>
              <a:rPr sz="24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project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292934"/>
                </a:solidFill>
                <a:latin typeface="Arial MT"/>
                <a:cs typeface="Arial MT"/>
              </a:rPr>
              <a:t>HowTos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-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Guides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–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292934"/>
                </a:solidFill>
                <a:latin typeface="Arial MT"/>
                <a:cs typeface="Arial MT"/>
              </a:rPr>
              <a:t>FAQs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469900" lvl="1" indent="-184150">
              <a:lnSpc>
                <a:spcPct val="100000"/>
              </a:lnSpc>
              <a:spcBef>
                <a:spcPts val="240"/>
              </a:spcBef>
              <a:buClr>
                <a:srgbClr val="92A199"/>
              </a:buClr>
              <a:buSzPct val="85000"/>
              <a:buChar char="•"/>
              <a:tabLst>
                <a:tab pos="470534" algn="l"/>
              </a:tabLst>
            </a:pPr>
            <a:r>
              <a:rPr sz="2000" u="heavy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 MT"/>
                <a:cs typeface="Arial MT"/>
                <a:hlinkClick r:id="rId3"/>
              </a:rPr>
              <a:t>http://www.tldp.org/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316423"/>
            <a:ext cx="5712460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3200" b="1" spc="-380" dirty="0" err="1">
                <a:solidFill>
                  <a:srgbClr val="D2523B"/>
                </a:solidFill>
                <a:latin typeface="Arial"/>
                <a:cs typeface="Arial"/>
              </a:rPr>
              <a:t>Ramy</a:t>
            </a:r>
            <a:r>
              <a:rPr lang="en-US" sz="3200" b="1" spc="-380" dirty="0">
                <a:solidFill>
                  <a:srgbClr val="D2523B"/>
                </a:solidFill>
                <a:latin typeface="Arial"/>
                <a:cs typeface="Arial"/>
              </a:rPr>
              <a:t> Adel </a:t>
            </a:r>
            <a:r>
              <a:rPr lang="en-US" sz="3200" b="1" spc="-380" dirty="0" err="1">
                <a:solidFill>
                  <a:srgbClr val="D2523B"/>
                </a:solidFill>
                <a:latin typeface="Arial"/>
                <a:cs typeface="Arial"/>
              </a:rPr>
              <a:t>Abdelrazek</a:t>
            </a:r>
            <a:endParaRPr lang="en-US" sz="3200" b="1" spc="-380" dirty="0">
              <a:solidFill>
                <a:srgbClr val="D2523B"/>
              </a:solidFill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3200" b="1" spc="-380" dirty="0" err="1">
                <a:solidFill>
                  <a:srgbClr val="D2523B"/>
                </a:solidFill>
                <a:latin typeface="Arial"/>
                <a:cs typeface="Arial"/>
              </a:rPr>
              <a:t>rami.adel.abdelrazek@gmail.com</a:t>
            </a:r>
            <a:endParaRPr lang="en-US" sz="32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3059" y="2799337"/>
            <a:ext cx="5071193" cy="9473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1990</TotalTime>
  <Words>2255</Words>
  <Application>Microsoft Macintosh PowerPoint</Application>
  <PresentationFormat>On-screen Show (4:3)</PresentationFormat>
  <Paragraphs>443</Paragraphs>
  <Slides>69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Arial</vt:lpstr>
      <vt:lpstr>Arial MT</vt:lpstr>
      <vt:lpstr>Calibri</vt:lpstr>
      <vt:lpstr>Courier New</vt:lpstr>
      <vt:lpstr>Times New Roman</vt:lpstr>
      <vt:lpstr>Office Theme</vt:lpstr>
      <vt:lpstr>INTRO TO              LINUX COURSE</vt:lpstr>
      <vt:lpstr>Know your Trainer</vt:lpstr>
      <vt:lpstr>Objectives</vt:lpstr>
      <vt:lpstr>PowerPoint Presentation</vt:lpstr>
      <vt:lpstr>Multics</vt:lpstr>
      <vt:lpstr>Unix</vt:lpstr>
      <vt:lpstr>Unix</vt:lpstr>
      <vt:lpstr>Unix</vt:lpstr>
      <vt:lpstr>Linux History</vt:lpstr>
      <vt:lpstr>Richard Stallman (Free SW Movement)</vt:lpstr>
      <vt:lpstr>Richard Stallman</vt:lpstr>
      <vt:lpstr>Linux History (cont’d)</vt:lpstr>
      <vt:lpstr>Linux History (cont’d)</vt:lpstr>
      <vt:lpstr>Linux History (cont’d)</vt:lpstr>
      <vt:lpstr>Linux History (cont’d)</vt:lpstr>
      <vt:lpstr>Linux History (cont’d)</vt:lpstr>
      <vt:lpstr>Linux History (cont’d)</vt:lpstr>
      <vt:lpstr>PowerPoint Presentation</vt:lpstr>
      <vt:lpstr>PowerPoint Presentation</vt:lpstr>
      <vt:lpstr>Why Linux</vt:lpstr>
      <vt:lpstr>Why Linux (cont’d)</vt:lpstr>
      <vt:lpstr>Why Linux (cont’d)</vt:lpstr>
      <vt:lpstr>PowerPoint Presentation</vt:lpstr>
      <vt:lpstr>Different Linux Distributions</vt:lpstr>
      <vt:lpstr>Linux is like Lego</vt:lpstr>
      <vt:lpstr>Different Linux Distributions</vt:lpstr>
      <vt:lpstr>PowerPoint Presentation</vt:lpstr>
      <vt:lpstr>Get a Taste of Linux</vt:lpstr>
      <vt:lpstr>PowerPoint Presentation</vt:lpstr>
      <vt:lpstr>PowerPoint Presentation</vt:lpstr>
      <vt:lpstr>PowerPoint Presentation</vt:lpstr>
      <vt:lpstr>Linux GUI </vt:lpstr>
      <vt:lpstr>Linux GUI </vt:lpstr>
      <vt:lpstr>Linux App Center </vt:lpstr>
      <vt:lpstr>PowerPoint Presentation</vt:lpstr>
      <vt:lpstr>Linux System Structure</vt:lpstr>
      <vt:lpstr>Linux System Principles</vt:lpstr>
      <vt:lpstr>PowerPoint Presentation</vt:lpstr>
      <vt:lpstr>FileSystem Hierarchy Standard</vt:lpstr>
      <vt:lpstr>FileSystem Hierarchy Standard</vt:lpstr>
      <vt:lpstr>PowerPoint Presentation</vt:lpstr>
      <vt:lpstr>PowerPoint Presentation</vt:lpstr>
      <vt:lpstr>Terminal </vt:lpstr>
      <vt:lpstr>Terminals Vs Shells </vt:lpstr>
      <vt:lpstr>Command Line</vt:lpstr>
      <vt:lpstr>Why do we use commands ?</vt:lpstr>
      <vt:lpstr>PowerPoint Presentation</vt:lpstr>
      <vt:lpstr>Browsing and Exploring Filesystem</vt:lpstr>
      <vt:lpstr>PowerPoint Presentation</vt:lpstr>
      <vt:lpstr>Creating files and directories</vt:lpstr>
      <vt:lpstr>PowerPoint Presentation</vt:lpstr>
      <vt:lpstr>Copying and moving files</vt:lpstr>
      <vt:lpstr>PowerPoint Presentation</vt:lpstr>
      <vt:lpstr>Removing files and directories</vt:lpstr>
      <vt:lpstr>PowerPoint Presentation</vt:lpstr>
      <vt:lpstr>Getting Help</vt:lpstr>
      <vt:lpstr>PowerPoint Presentation</vt:lpstr>
      <vt:lpstr>Browsing and exploring File System</vt:lpstr>
      <vt:lpstr>Browsing and exploring File System</vt:lpstr>
      <vt:lpstr>PowerPoint Presentation</vt:lpstr>
      <vt:lpstr>Creating files and directories</vt:lpstr>
      <vt:lpstr>PowerPoint Presentation</vt:lpstr>
      <vt:lpstr>Copying and Moving Files</vt:lpstr>
      <vt:lpstr>PowerPoint Presentation</vt:lpstr>
      <vt:lpstr>Removing Files and Directories</vt:lpstr>
      <vt:lpstr>PowerPoint Presentation</vt:lpstr>
      <vt:lpstr>Managing and securing files and permissions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</dc:creator>
  <cp:lastModifiedBy>Microsoft Office User</cp:lastModifiedBy>
  <cp:revision>29</cp:revision>
  <dcterms:created xsi:type="dcterms:W3CDTF">2022-11-05T11:55:30Z</dcterms:created>
  <dcterms:modified xsi:type="dcterms:W3CDTF">2026-08-08T07:28:34Z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2022-11-05T00:00:00Z</vt:filetime>
  </property>
</Properties>
</file>