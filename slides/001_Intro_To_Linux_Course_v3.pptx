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8" r:id="rId3"/>
    <p:sldId id="260" r:id="rId4"/>
    <p:sldId id="262" r:id="rId5"/>
    <p:sldId id="287" r:id="rId6"/>
    <p:sldId id="288" r:id="rId7"/>
    <p:sldId id="289" r:id="rId8"/>
    <p:sldId id="290" r:id="rId9"/>
    <p:sldId id="286" r:id="rId10"/>
    <p:sldId id="282" r:id="rId11"/>
    <p:sldId id="283" r:id="rId12"/>
    <p:sldId id="265" r:id="rId13"/>
    <p:sldId id="284" r:id="rId14"/>
    <p:sldId id="266" r:id="rId15"/>
    <p:sldId id="285" r:id="rId16"/>
    <p:sldId id="267" r:id="rId17"/>
    <p:sldId id="269" r:id="rId18"/>
    <p:sldId id="263" r:id="rId19"/>
    <p:sldId id="270" r:id="rId20"/>
    <p:sldId id="271" r:id="rId21"/>
    <p:sldId id="273" r:id="rId22"/>
    <p:sldId id="272" r:id="rId23"/>
    <p:sldId id="274" r:id="rId24"/>
    <p:sldId id="275" r:id="rId25"/>
    <p:sldId id="294" r:id="rId26"/>
    <p:sldId id="320" r:id="rId27"/>
    <p:sldId id="276" r:id="rId28"/>
    <p:sldId id="277" r:id="rId29"/>
    <p:sldId id="278" r:id="rId30"/>
    <p:sldId id="279" r:id="rId31"/>
    <p:sldId id="291" r:id="rId32"/>
    <p:sldId id="324" r:id="rId33"/>
    <p:sldId id="325" r:id="rId34"/>
    <p:sldId id="326" r:id="rId35"/>
    <p:sldId id="293" r:id="rId36"/>
    <p:sldId id="295" r:id="rId37"/>
    <p:sldId id="296" r:id="rId38"/>
    <p:sldId id="297" r:id="rId39"/>
    <p:sldId id="298" r:id="rId40"/>
    <p:sldId id="299" r:id="rId41"/>
    <p:sldId id="323" r:id="rId42"/>
    <p:sldId id="300" r:id="rId43"/>
    <p:sldId id="321" r:id="rId44"/>
    <p:sldId id="322" r:id="rId45"/>
    <p:sldId id="301" r:id="rId46"/>
    <p:sldId id="327" r:id="rId47"/>
    <p:sldId id="302" r:id="rId48"/>
    <p:sldId id="328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280" r:id="rId71"/>
    <p:sldId id="281" r:id="rId72"/>
  </p:sldIdLst>
  <p:sldSz cx="9144000" cy="6858000" type="screen4x3"/>
  <p:notesSz cx="9144000" cy="6858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3502" autoAdjust="0"/>
  </p:normalViewPr>
  <p:slideViewPr>
    <p:cSldViewPr>
      <p:cViewPr varScale="1">
        <p:scale>
          <a:sx n="94" d="100"/>
          <a:sy n="94" d="100"/>
        </p:scale>
        <p:origin x="270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630E1-DB10-4633-8187-A1FFEC55046E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FABDB-A2F5-45F6-A324-03FA117B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Introduced many ideas that are standard today: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1- Hierarchical file systems</a:t>
            </a:r>
          </a:p>
          <a:p>
            <a:r>
              <a:rPr lang="en-US" dirty="0"/>
              <a:t>2- User Permissions</a:t>
            </a:r>
          </a:p>
          <a:p>
            <a:r>
              <a:rPr lang="en-US" dirty="0"/>
              <a:t>3- Security</a:t>
            </a:r>
          </a:p>
          <a:p>
            <a:r>
              <a:rPr lang="en-US" dirty="0"/>
              <a:t>4- Multiple Users</a:t>
            </a:r>
          </a:p>
          <a:p>
            <a:r>
              <a:rPr lang="en-US" dirty="0"/>
              <a:t>5- Dynamic Linking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99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was complex and taking too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79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At that time Oss were almost always written in assembly. Made it difficult to move to different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3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1200" dirty="0">
              <a:solidFill>
                <a:srgbClr val="292934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6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source code mean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99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Hacker not a Cracker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In the late 1970s and early 1980s, Stallman</a:t>
            </a:r>
            <a:r>
              <a:rPr lang="en-US" sz="1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had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been</a:t>
            </a:r>
            <a:r>
              <a:rPr lang="en-US" sz="1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lang="en-US" sz="1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lang="en-US" sz="1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b="1" spc="-5" dirty="0">
                <a:solidFill>
                  <a:srgbClr val="292934"/>
                </a:solidFill>
                <a:latin typeface="Arial MT"/>
                <a:cs typeface="Arial MT"/>
              </a:rPr>
              <a:t>hacker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lang="en-US" sz="12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Artificial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Intelligence</a:t>
            </a:r>
            <a:r>
              <a:rPr lang="en-US" sz="1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Laboratory(AI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Lab)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of the (</a:t>
            </a:r>
            <a:r>
              <a:rPr lang="en-US" sz="1200" b="1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).</a:t>
            </a:r>
            <a:endParaRPr lang="en-US" sz="1200" dirty="0">
              <a:latin typeface="Arial MT"/>
              <a:cs typeface="Arial MT"/>
            </a:endParaRPr>
          </a:p>
          <a:p>
            <a:r>
              <a:rPr lang="en-US" dirty="0"/>
              <a:t>At the time, the lab had a culture of sharing SW source code so anyone could fix bugs or add features.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He decided to modify its source code himself so it can notify the people on the network that it needs a human intervention instead of waiting until someone discovers this coincidentally .</a:t>
            </a:r>
            <a:endParaRPr lang="en-US" sz="12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7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2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GNU = GNU not UNIX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9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98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37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14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60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7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6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1873" y="2598241"/>
            <a:ext cx="5080253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5940" y="5316423"/>
            <a:ext cx="8072119" cy="100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60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97737"/>
            <a:ext cx="80721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2319"/>
            <a:ext cx="8072119" cy="460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UibaPTXSHk" TargetMode="External"/><Relationship Id="rId2" Type="http://schemas.openxmlformats.org/officeDocument/2006/relationships/hyperlink" Target="Richard%20Stallman%20Explains%20Everyt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youtube.com/watch?v=CP8CNp-vks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Mm0HsmOTFI" TargetMode="External"/><Relationship Id="rId2" Type="http://schemas.openxmlformats.org/officeDocument/2006/relationships/hyperlink" Target="https://www.gnu.org.ua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5ocq6_3-nEw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ishabhpriyadarshi/logic-behind-codename-and-versioning-of-ubuntu-releases-72944fbe9592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.die.net/Intro-Linux/sect_02_03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bnol.org/internet/learning-vim-for-beginners/28820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tldp.org/LDP/GNU-Linux-Tools-Summary/html/x11655.htm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ldp.org/" TargetMode="External"/><Relationship Id="rId2" Type="http://schemas.openxmlformats.org/officeDocument/2006/relationships/hyperlink" Target="http://www.linuxfromscratch.org/lfs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966" y="3429000"/>
            <a:ext cx="7961630" cy="3415029"/>
            <a:chOff x="676655" y="3382390"/>
            <a:chExt cx="7961630" cy="3415029"/>
          </a:xfrm>
        </p:grpSpPr>
        <p:sp>
          <p:nvSpPr>
            <p:cNvPr id="3" name="object 3"/>
            <p:cNvSpPr/>
            <p:nvPr/>
          </p:nvSpPr>
          <p:spPr>
            <a:xfrm>
              <a:off x="686561" y="3399281"/>
              <a:ext cx="7848600" cy="1905"/>
            </a:xfrm>
            <a:custGeom>
              <a:avLst/>
              <a:gdLst/>
              <a:ahLst/>
              <a:cxnLst/>
              <a:rect l="l" t="t" r="r" b="b"/>
              <a:pathLst>
                <a:path w="7848600" h="1904">
                  <a:moveTo>
                    <a:pt x="0" y="0"/>
                  </a:moveTo>
                  <a:lnTo>
                    <a:pt x="7848600" y="1523"/>
                  </a:lnTo>
                </a:path>
              </a:pathLst>
            </a:custGeom>
            <a:ln w="19812">
              <a:solidFill>
                <a:srgbClr val="D25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636" y="3382390"/>
              <a:ext cx="3414610" cy="34145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1676400"/>
            <a:ext cx="7848600" cy="1623060"/>
          </a:xfrm>
          <a:prstGeom prst="rect">
            <a:avLst/>
          </a:prstGeom>
          <a:ln w="9144">
            <a:solidFill>
              <a:srgbClr val="92A199"/>
            </a:solidFill>
          </a:ln>
        </p:spPr>
        <p:txBody>
          <a:bodyPr vert="horz" wrap="square" lIns="0" tIns="221615" rIns="0" bIns="0" rtlCol="0">
            <a:spAutoFit/>
          </a:bodyPr>
          <a:lstStyle/>
          <a:p>
            <a:pPr marL="297815" marR="276225" indent="2351405">
              <a:lnSpc>
                <a:spcPct val="100000"/>
              </a:lnSpc>
              <a:spcBef>
                <a:spcPts val="1745"/>
              </a:spcBef>
            </a:pPr>
            <a:r>
              <a:rPr sz="4400" spc="-100" dirty="0"/>
              <a:t>INTR</a:t>
            </a:r>
            <a:r>
              <a:rPr sz="4400" dirty="0"/>
              <a:t>O</a:t>
            </a:r>
            <a:r>
              <a:rPr sz="4400" spc="-305" dirty="0"/>
              <a:t> </a:t>
            </a:r>
            <a:r>
              <a:rPr sz="4400" spc="-185" dirty="0"/>
              <a:t>TO </a:t>
            </a:r>
            <a:br>
              <a:rPr lang="en-US" sz="4400" spc="-185" dirty="0"/>
            </a:br>
            <a:r>
              <a:rPr lang="en-EG" sz="4400" spc="-185" dirty="0"/>
              <a:t>            </a:t>
            </a:r>
            <a:r>
              <a:rPr sz="4400" spc="-100" dirty="0"/>
              <a:t>LINU</a:t>
            </a:r>
            <a:r>
              <a:rPr sz="4400" dirty="0"/>
              <a:t>X</a:t>
            </a:r>
            <a:r>
              <a:rPr sz="4400" spc="-210" dirty="0"/>
              <a:t> </a:t>
            </a:r>
            <a:r>
              <a:rPr sz="4400" spc="-100" dirty="0"/>
              <a:t>C</a:t>
            </a:r>
            <a:r>
              <a:rPr sz="4400" spc="-105" dirty="0"/>
              <a:t>O</a:t>
            </a:r>
            <a:r>
              <a:rPr sz="4400" spc="-100" dirty="0"/>
              <a:t>UR</a:t>
            </a:r>
            <a:r>
              <a:rPr sz="4400" spc="-95" dirty="0"/>
              <a:t>S</a:t>
            </a:r>
            <a:r>
              <a:rPr sz="4400" dirty="0"/>
              <a:t>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8592F-43D9-49B5-9BEA-717F20CDBD7A}"/>
              </a:ext>
            </a:extLst>
          </p:cNvPr>
          <p:cNvSpPr txBox="1"/>
          <p:nvPr/>
        </p:nvSpPr>
        <p:spPr>
          <a:xfrm>
            <a:off x="990600" y="4549847"/>
            <a:ext cx="2133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C00000"/>
                </a:solidFill>
              </a:rPr>
              <a:t>8/8/2026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914" y="473600"/>
            <a:ext cx="3946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Kno</a:t>
            </a:r>
            <a:r>
              <a:rPr spc="-5" dirty="0"/>
              <a:t>w</a:t>
            </a:r>
            <a:r>
              <a:rPr spc="-204" dirty="0"/>
              <a:t> </a:t>
            </a:r>
            <a:r>
              <a:rPr spc="-100" dirty="0"/>
              <a:t>y</a:t>
            </a:r>
            <a:r>
              <a:rPr spc="-105" dirty="0"/>
              <a:t>ou</a:t>
            </a:r>
            <a:r>
              <a:rPr spc="-5" dirty="0"/>
              <a:t>r</a:t>
            </a:r>
            <a:r>
              <a:rPr spc="-275" dirty="0"/>
              <a:t> </a:t>
            </a:r>
            <a:r>
              <a:rPr spc="-250" dirty="0"/>
              <a:t>T</a:t>
            </a:r>
            <a:r>
              <a:rPr spc="-105" dirty="0"/>
              <a:t>raine</a:t>
            </a:r>
            <a:r>
              <a:rPr spc="-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794" y="1149912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Work</a:t>
            </a:r>
            <a:r>
              <a:rPr sz="1800" spc="-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Experience: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31" y="5598004"/>
            <a:ext cx="1123154" cy="6738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7DAFB5-519E-7309-8EEA-C57BDD2DE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55" y="5712369"/>
            <a:ext cx="1123154" cy="673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CA45B-D6DF-0DB8-711F-C936389E3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649" y="5204123"/>
            <a:ext cx="1438951" cy="1438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B44495-9EA6-88AC-7321-AD37A967D6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16" y="1638967"/>
            <a:ext cx="1641024" cy="1822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F60655-60BA-CE75-A76D-2DFDDC4404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4" y="1625935"/>
            <a:ext cx="1821180" cy="17614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D47CF6-F939-DF08-8522-4D7F51D853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908" y="1668665"/>
            <a:ext cx="1539514" cy="1761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FC608A-3D30-5A59-0F50-9ADD8B68165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468" y="1620039"/>
            <a:ext cx="1616301" cy="18221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A1762AE-591E-B56C-E8D2-F88CC38591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618" y="1699697"/>
            <a:ext cx="1616300" cy="17614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BE72FD-8307-1889-5AB2-D3FB2C00C44D}"/>
              </a:ext>
            </a:extLst>
          </p:cNvPr>
          <p:cNvSpPr txBox="1"/>
          <p:nvPr/>
        </p:nvSpPr>
        <p:spPr>
          <a:xfrm>
            <a:off x="72010" y="3440259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43 (9 months program) </a:t>
            </a:r>
            <a:br>
              <a:rPr lang="en-EG" sz="1000" dirty="0"/>
            </a:br>
            <a:r>
              <a:rPr lang="en-EG" sz="1000" dirty="0"/>
              <a:t>ES Track (Smart Village)</a:t>
            </a:r>
          </a:p>
          <a:p>
            <a:r>
              <a:rPr lang="en-EG" sz="1000" dirty="0"/>
              <a:t>Cpp + Problem Solving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060C65-4F38-AB80-62E4-F6EA0B7E1030}"/>
              </a:ext>
            </a:extLst>
          </p:cNvPr>
          <p:cNvSpPr txBox="1"/>
          <p:nvPr/>
        </p:nvSpPr>
        <p:spPr>
          <a:xfrm>
            <a:off x="5483117" y="3530153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1 (3 months program)</a:t>
            </a:r>
            <a:br>
              <a:rPr lang="en-EG" sz="1000" dirty="0"/>
            </a:br>
            <a:r>
              <a:rPr lang="en-EG" sz="1000" dirty="0"/>
              <a:t>eMobility Track (Smart Village)</a:t>
            </a:r>
          </a:p>
          <a:p>
            <a:r>
              <a:rPr lang="en-EG" sz="1000" dirty="0"/>
              <a:t>Cpp + Problem Solving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09D906-6C16-A049-EE16-ACD37609ABA6}"/>
              </a:ext>
            </a:extLst>
          </p:cNvPr>
          <p:cNvSpPr txBox="1"/>
          <p:nvPr/>
        </p:nvSpPr>
        <p:spPr>
          <a:xfrm>
            <a:off x="1991870" y="3530153"/>
            <a:ext cx="19676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1 (4 months program)</a:t>
            </a:r>
            <a:br>
              <a:rPr lang="en-EG" sz="1000" dirty="0"/>
            </a:br>
            <a:r>
              <a:rPr lang="en-EG" sz="1000" dirty="0"/>
              <a:t>ES Track G3/G4(</a:t>
            </a:r>
            <a:r>
              <a:rPr lang="en-US" sz="1000" dirty="0"/>
              <a:t>Knowledge City</a:t>
            </a:r>
            <a:r>
              <a:rPr lang="en-EG" sz="1000" dirty="0"/>
              <a:t>)</a:t>
            </a:r>
          </a:p>
          <a:p>
            <a:r>
              <a:rPr lang="en-EG" sz="1000" dirty="0"/>
              <a:t>ARM Architecture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0FEB51-A243-BD89-CF05-23323F9BF868}"/>
              </a:ext>
            </a:extLst>
          </p:cNvPr>
          <p:cNvSpPr txBox="1"/>
          <p:nvPr/>
        </p:nvSpPr>
        <p:spPr>
          <a:xfrm>
            <a:off x="3848809" y="3539616"/>
            <a:ext cx="19676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IMT</a:t>
            </a:r>
          </a:p>
          <a:p>
            <a:r>
              <a:rPr lang="en-EG" sz="1000" dirty="0"/>
              <a:t>Dokki Branch  </a:t>
            </a:r>
            <a:br>
              <a:rPr lang="en-EG" sz="1000" dirty="0"/>
            </a:br>
            <a:r>
              <a:rPr lang="en-EG" sz="1000" dirty="0"/>
              <a:t>C / AVR Architecture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D5D27-34E2-A5F3-CA6E-8655456F86FD}"/>
              </a:ext>
            </a:extLst>
          </p:cNvPr>
          <p:cNvSpPr txBox="1"/>
          <p:nvPr/>
        </p:nvSpPr>
        <p:spPr>
          <a:xfrm>
            <a:off x="1485390" y="5003181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Instructor @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02D57D-0B82-9209-7DA8-F6702CEDFE7C}"/>
              </a:ext>
            </a:extLst>
          </p:cNvPr>
          <p:cNvSpPr txBox="1"/>
          <p:nvPr/>
        </p:nvSpPr>
        <p:spPr>
          <a:xfrm>
            <a:off x="5419940" y="5034367"/>
            <a:ext cx="2166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Software Engineer @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36CB5-8D72-3944-6A18-F522EA32C4CA}"/>
              </a:ext>
            </a:extLst>
          </p:cNvPr>
          <p:cNvSpPr txBox="1"/>
          <p:nvPr/>
        </p:nvSpPr>
        <p:spPr>
          <a:xfrm>
            <a:off x="7304096" y="3540150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 </a:t>
            </a:r>
            <a:br>
              <a:rPr lang="en-EG" sz="1000" dirty="0"/>
            </a:br>
            <a:r>
              <a:rPr lang="en-EG" sz="1000" dirty="0"/>
              <a:t>Summer Training (Helwan) </a:t>
            </a:r>
          </a:p>
          <a:p>
            <a:r>
              <a:rPr lang="en-EG" sz="1000" dirty="0"/>
              <a:t>IoT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55E4AA-B637-B686-3324-0E34ED57E746}"/>
              </a:ext>
            </a:extLst>
          </p:cNvPr>
          <p:cNvSpPr txBox="1"/>
          <p:nvPr/>
        </p:nvSpPr>
        <p:spPr>
          <a:xfrm>
            <a:off x="2739545" y="4235153"/>
            <a:ext cx="290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+ Many More Online Courses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D8ACCA-5DB0-E0DE-E648-76C2635C561D}"/>
              </a:ext>
            </a:extLst>
          </p:cNvPr>
          <p:cNvSpPr txBox="1"/>
          <p:nvPr/>
        </p:nvSpPr>
        <p:spPr>
          <a:xfrm>
            <a:off x="2784625" y="588268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,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A8F403-D86C-4666-81E0-DDDE07340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87" y="5372513"/>
            <a:ext cx="1254155" cy="1254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86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33384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Administration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marR="5080" lvl="1" indent="-18351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Gain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sufficient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skills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perform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core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administration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tasks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on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any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 distribution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marR="920750" lvl="1" indent="-183515">
              <a:lnSpc>
                <a:spcPct val="100000"/>
              </a:lnSpc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Develop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 good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knowledge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both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graphical</a:t>
            </a:r>
            <a:r>
              <a:rPr sz="2000" b="1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000" b="1" spc="-3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interface</a:t>
            </a:r>
            <a:r>
              <a:rPr sz="2000" b="1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2000" b="1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line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 interfac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familiar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structure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components.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0" y="4038600"/>
            <a:ext cx="57194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r>
              <a:rPr sz="4800" b="1" spc="-19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90" dirty="0">
                <a:solidFill>
                  <a:srgbClr val="D2523B"/>
                </a:solidFill>
                <a:latin typeface="Arial"/>
                <a:cs typeface="Arial"/>
              </a:rPr>
              <a:t>history</a:t>
            </a:r>
            <a:endParaRPr sz="4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Multics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297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60s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computers were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huge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expensive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Researchers wanted an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OS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that would allow many users to share a single computer simultaneously.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35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A project called </a:t>
            </a:r>
            <a:r>
              <a:rPr lang="en-US" sz="2400" b="1" spc="-10" dirty="0">
                <a:solidFill>
                  <a:srgbClr val="FF0000"/>
                </a:solidFill>
                <a:latin typeface="Arial MT"/>
                <a:cs typeface="Arial MT"/>
              </a:rPr>
              <a:t>Multics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 was started by </a:t>
            </a:r>
            <a:r>
              <a:rPr lang="en-US" sz="2400" b="1" spc="-10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lang="en-US" sz="2400" b="1" spc="-10" dirty="0">
                <a:solidFill>
                  <a:srgbClr val="292934"/>
                </a:solidFill>
                <a:latin typeface="Arial MT"/>
                <a:cs typeface="Arial MT"/>
              </a:rPr>
              <a:t>Bell Labs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B32F2-785F-4121-A983-41C8AB7ABE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252" y="4366404"/>
            <a:ext cx="3319279" cy="2190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76E-F961-451A-AF77-B9DA6EA44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66" y="4320972"/>
            <a:ext cx="3048000" cy="2171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4174D-6F30-4D51-94F6-FAF21BF0B0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314441"/>
            <a:ext cx="2418475" cy="217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4516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b="1" spc="-15" dirty="0">
                <a:solidFill>
                  <a:srgbClr val="292934"/>
                </a:solidFill>
                <a:latin typeface="Arial MT"/>
                <a:cs typeface="Arial MT"/>
              </a:rPr>
              <a:t>1969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Bell labs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withdrew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from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Multics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project.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But one researcher at Bell Labs,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Ken Thompson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, still wanted a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simple OS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to run a game he had written.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He decided to start working on a new OS himself.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His friend made a play on “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Multics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” – called it “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”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sz="3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41099-2906-4CE8-8712-73AA70E70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4367847"/>
            <a:ext cx="2590800" cy="255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8475254" cy="586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Soon,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Dennis Ritchie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joined the project.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At that time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OSs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were almost always written in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assembly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Dennis developed the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C Programming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language.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was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rewritten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in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This was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revolutionary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because now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could be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recompiled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for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different hardware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instead of being rewritten from scratch in assembly.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80669-3C4A-43A8-9964-4EB2B1BDB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655" y="5181600"/>
            <a:ext cx="2394062" cy="157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5111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During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1980s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, many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companies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created their own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versions and they sold it for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money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 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Sun Microsystems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 Solaris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  <a:sym typeface="Wingdings" panose="05000000000000000000" pitchFamily="2" charset="2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IBM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  AIX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  <a:sym typeface="Wingdings" panose="05000000000000000000" pitchFamily="2" charset="2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Silicon Graphics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 IRIX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088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455660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60s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early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70s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programmers were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used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endParaRPr sz="2400" dirty="0">
              <a:latin typeface="Arial MT"/>
              <a:cs typeface="Arial MT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distribute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source</a:t>
            </a:r>
            <a:r>
              <a:rPr sz="2400" b="1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code</a:t>
            </a:r>
            <a:r>
              <a:rPr sz="2400" b="1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their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programs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b="1" spc="-10" dirty="0">
                <a:solidFill>
                  <a:srgbClr val="FF0000"/>
                </a:solidFill>
                <a:latin typeface="Arial MT"/>
                <a:cs typeface="Arial MT"/>
              </a:rPr>
              <a:t>Unix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family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292934"/>
                </a:solidFill>
                <a:latin typeface="Arial MT"/>
                <a:cs typeface="Arial MT"/>
              </a:rPr>
              <a:t>multitasking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292934"/>
                </a:solidFill>
                <a:latin typeface="Arial MT"/>
                <a:cs typeface="Arial MT"/>
              </a:rPr>
              <a:t>multiuser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computer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systems,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developed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1970s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Bell</a:t>
            </a:r>
            <a:r>
              <a:rPr sz="2400" b="1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Labs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research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center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Ken</a:t>
            </a:r>
            <a:r>
              <a:rPr sz="2400" b="1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Thompson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Dennis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Ritchie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other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lang="en-US" sz="24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But,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started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change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late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70s/early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80s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manufacturers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stopped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provid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ing</a:t>
            </a:r>
            <a:r>
              <a:rPr sz="2400" b="1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4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code.</a:t>
            </a:r>
            <a:endParaRPr sz="2400" b="1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20763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B7AA-0310-4F86-8298-2A385B9B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94268"/>
            <a:ext cx="9446260" cy="1231106"/>
          </a:xfrm>
        </p:spPr>
        <p:txBody>
          <a:bodyPr/>
          <a:lstStyle/>
          <a:p>
            <a:r>
              <a:rPr lang="en-US" dirty="0"/>
              <a:t>Richard Stallman (Free SW Movement)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43D1-16B5-4D92-82E6-95E82270A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01" y="5937312"/>
            <a:ext cx="4038600" cy="1107996"/>
          </a:xfrm>
        </p:spPr>
        <p:txBody>
          <a:bodyPr/>
          <a:lstStyle/>
          <a:p>
            <a:r>
              <a:rPr lang="en-US" b="1" dirty="0">
                <a:hlinkClick r:id="rId2" action="ppaction://hlinkfile"/>
              </a:rPr>
              <a:t>Richard Stallman Explains Everything</a:t>
            </a:r>
          </a:p>
          <a:p>
            <a:br>
              <a:rPr lang="en-US" dirty="0"/>
            </a:br>
            <a:br>
              <a:rPr lang="en-US" dirty="0">
                <a:hlinkClick r:id="rId2" action="ppaction://hlinkfile"/>
              </a:rPr>
            </a:br>
            <a:endParaRPr lang="en-US" dirty="0">
              <a:hlinkClick r:id="rId2" action="ppaction://hlinkfile"/>
            </a:endParaRP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253D9F0D-DF07-4E74-878A-D49789FC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371600"/>
            <a:ext cx="2997229" cy="43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1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BCE6-4651-44CF-9581-D76A035A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 Stallman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F8141-A96D-4DB4-8D49-317C9F4C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5606265"/>
            <a:ext cx="8072119" cy="553998"/>
          </a:xfrm>
        </p:spPr>
        <p:txBody>
          <a:bodyPr/>
          <a:lstStyle/>
          <a:p>
            <a:r>
              <a:rPr lang="en-US" b="1" dirty="0">
                <a:hlinkClick r:id="rId2"/>
              </a:rPr>
              <a:t>Richard Stallman Talks About Ubuntu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5F679-C322-4757-9173-623EBECD9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03" y="1524000"/>
            <a:ext cx="5538591" cy="355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8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4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21426" y="1336366"/>
            <a:ext cx="7989570" cy="288168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40005" indent="-182880">
              <a:lnSpc>
                <a:spcPct val="901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In the late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1970s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and early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1980s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Stallman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had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been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hacker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Artificial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Intelligence</a:t>
            </a:r>
            <a:r>
              <a:rPr sz="24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Laboratory(AI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Lab)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 the (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).</a:t>
            </a: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40005" indent="-182880">
              <a:lnSpc>
                <a:spcPct val="901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3250" dirty="0">
              <a:latin typeface="Arial MT"/>
              <a:cs typeface="Arial MT"/>
            </a:endParaRP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They had a </a:t>
            </a:r>
            <a:r>
              <a:rPr lang="en-US" sz="2400" b="1" spc="-5" dirty="0">
                <a:solidFill>
                  <a:srgbClr val="FF0000"/>
                </a:solidFill>
                <a:latin typeface="Arial MT"/>
                <a:cs typeface="Arial MT"/>
              </a:rPr>
              <a:t>printer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in the lab which sometimes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jammed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He decided to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modify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its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source code 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himself so he can add a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notification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feature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45BB8-3296-4D60-B1A8-50F451C19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844" y="4283366"/>
            <a:ext cx="5070479" cy="2639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5485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4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914400"/>
            <a:ext cx="8144510" cy="471731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</a:pPr>
            <a:r>
              <a:rPr lang="en-US" sz="3250" dirty="0">
                <a:latin typeface="Arial MT"/>
                <a:cs typeface="Arial MT"/>
              </a:rPr>
              <a:t>	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 lab later in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1980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received a new, faster laser printer from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Xerox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new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printer had the same problem, but this time the driver software was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proprietary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Xerox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refused to share their printer’s source code.</a:t>
            </a:r>
            <a:endParaRPr lang="en-US"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Arial MT"/>
              <a:buChar char="•"/>
            </a:pPr>
            <a:endParaRPr sz="3250" dirty="0">
              <a:latin typeface="Arial MT"/>
              <a:cs typeface="Arial MT"/>
            </a:endParaRPr>
          </a:p>
          <a:p>
            <a:pPr marL="194945" marR="27876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event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convinced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him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people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need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free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Understand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how their software works.</a:t>
            </a: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Modify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the software to meet their needs.</a:t>
            </a: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Share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improvements with others. 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84E65-11F4-41F8-829A-2996263A0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953" y="5206970"/>
            <a:ext cx="3563047" cy="147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3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1500461"/>
            <a:ext cx="8597900" cy="30950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2375"/>
              </a:lnSpc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September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27,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1983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Stallman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announced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endParaRPr sz="2200" b="1" dirty="0">
              <a:latin typeface="Arial MT"/>
              <a:cs typeface="Arial MT"/>
            </a:endParaRPr>
          </a:p>
          <a:p>
            <a:pPr marL="194945">
              <a:lnSpc>
                <a:spcPts val="2375"/>
              </a:lnSpc>
            </a:pP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 dirty="0">
              <a:latin typeface="Arial MT"/>
              <a:cs typeface="Arial MT"/>
            </a:endParaRPr>
          </a:p>
          <a:p>
            <a:pPr marL="194945" marR="624205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2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b="1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aims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developing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complete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operating </a:t>
            </a:r>
            <a:r>
              <a:rPr sz="2200" b="1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offering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freedoms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200" spc="1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endParaRPr lang="en-US" sz="2200" b="1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3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2200" b="1" spc="-35" dirty="0">
                <a:solidFill>
                  <a:srgbClr val="292934"/>
                </a:solidFill>
                <a:latin typeface="Arial MT"/>
                <a:cs typeface="Arial MT"/>
              </a:rPr>
              <a:t>tudy</a:t>
            </a:r>
            <a:endParaRPr lang="en-US" sz="2200" b="1" spc="-3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odify</a:t>
            </a:r>
            <a:r>
              <a:rPr sz="2200" b="1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and </a:t>
            </a:r>
            <a:endParaRPr lang="en-US" sz="2200" b="1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istribute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Arial MT"/>
              <a:buChar char="•"/>
            </a:pP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DBBFF-7A33-4BDA-8B99-406035DC0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810000"/>
            <a:ext cx="3187864" cy="278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455FA-DDE2-4F28-BE15-8407CD46B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350780"/>
            <a:ext cx="3502863" cy="2247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02257"/>
            <a:ext cx="8608060" cy="1935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</a:pPr>
            <a:endParaRPr sz="2750" dirty="0">
              <a:latin typeface="Arial MT"/>
              <a:cs typeface="Arial MT"/>
            </a:endParaRPr>
          </a:p>
          <a:p>
            <a:pPr marL="194945" marR="5080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early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1990s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there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almost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enough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available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 create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full operating</a:t>
            </a:r>
            <a:r>
              <a:rPr sz="2200" b="1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34"/>
                </a:solidFill>
                <a:latin typeface="Arial MT"/>
                <a:cs typeface="Arial MT"/>
              </a:rPr>
              <a:t>However,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 MT"/>
                <a:cs typeface="Arial MT"/>
              </a:rPr>
              <a:t>GNU</a:t>
            </a:r>
            <a:r>
              <a:rPr sz="2200" b="1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 MT"/>
                <a:cs typeface="Arial MT"/>
              </a:rPr>
              <a:t>kernel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called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Hurd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failed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attract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enough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development</a:t>
            </a:r>
            <a:r>
              <a:rPr sz="2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effort,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leaving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incomplete.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12BC9-6390-42CF-B0E5-9506CBCCD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3048000"/>
            <a:ext cx="4533900" cy="33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14169" y="1440090"/>
            <a:ext cx="8006715" cy="350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1991,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Finland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student,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Linus</a:t>
            </a:r>
            <a:r>
              <a:rPr sz="2400" b="1" spc="-35" dirty="0">
                <a:solidFill>
                  <a:srgbClr val="292934"/>
                </a:solidFill>
                <a:latin typeface="Arial MT"/>
                <a:cs typeface="Arial MT"/>
              </a:rPr>
              <a:t> Torvalds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began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later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became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wrote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specifically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hardware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80386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processor.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Development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done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MINIX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400" b="1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C </a:t>
            </a:r>
            <a:r>
              <a:rPr sz="2400" b="1" spc="-20" dirty="0">
                <a:solidFill>
                  <a:srgbClr val="292934"/>
                </a:solidFill>
                <a:latin typeface="Arial MT"/>
                <a:cs typeface="Arial MT"/>
              </a:rPr>
              <a:t>compiler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  <a:p>
            <a:pPr marL="194945" marR="8763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sz="24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Torvalds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wrote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his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book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'Just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for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Fun',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eventually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ended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up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writing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kernel.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25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August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1991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(age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21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50BFA-8BC8-4096-91CA-43A94725C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495800"/>
            <a:ext cx="1828500" cy="224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2325"/>
            <a:ext cx="7854950" cy="4207177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94945" marR="248920" indent="-182880">
              <a:lnSpc>
                <a:spcPct val="90100"/>
              </a:lnSpc>
              <a:spcBef>
                <a:spcPts val="35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1992,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suggested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releasing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under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200" spc="1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065" marR="248920">
              <a:lnSpc>
                <a:spcPct val="90100"/>
              </a:lnSpc>
              <a:spcBef>
                <a:spcPts val="355"/>
              </a:spcBef>
              <a:buClr>
                <a:srgbClr val="92A199"/>
              </a:buClr>
              <a:buSzPct val="84090"/>
              <a:tabLst>
                <a:tab pos="195580" algn="l"/>
              </a:tabLst>
            </a:pPr>
            <a:endParaRPr sz="3000" dirty="0">
              <a:latin typeface="Arial MT"/>
              <a:cs typeface="Arial MT"/>
            </a:endParaRPr>
          </a:p>
          <a:p>
            <a:pPr marL="194945" marR="549275" indent="-182880">
              <a:lnSpc>
                <a:spcPts val="238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developers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worked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integrate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components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Linux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make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fully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functional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free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system.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950" dirty="0">
              <a:latin typeface="Arial MT"/>
              <a:cs typeface="Arial MT"/>
            </a:endParaRPr>
          </a:p>
          <a:p>
            <a:pPr marL="194945" marR="5080" indent="-182880">
              <a:lnSpc>
                <a:spcPts val="238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GNU/Linux</a:t>
            </a:r>
            <a:r>
              <a:rPr sz="2200" b="1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1992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complete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open</a:t>
            </a:r>
            <a:r>
              <a:rPr sz="2200" b="1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UNIX-like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operating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system)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7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u="heavy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2"/>
              </a:rPr>
              <a:t>https://www.gnu.org.ua/</a:t>
            </a:r>
            <a:endParaRPr lang="en-US" sz="2200" u="heavy" spc="-5" dirty="0">
              <a:solidFill>
                <a:srgbClr val="800080"/>
              </a:solidFill>
              <a:uFill>
                <a:solidFill>
                  <a:srgbClr val="800080"/>
                </a:solidFill>
              </a:u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https://youtu.be/XMm0HsmOTFI</a:t>
            </a:r>
            <a:r>
              <a:rPr sz="2200" spc="80" dirty="0">
                <a:solidFill>
                  <a:srgbClr val="0000FF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1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Watch</a:t>
            </a:r>
            <a:r>
              <a:rPr sz="18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(Subtitles</a:t>
            </a:r>
            <a:r>
              <a:rPr sz="18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available)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536" y="1437259"/>
            <a:ext cx="6591300" cy="39729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0870" y="4063060"/>
            <a:ext cx="30079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W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h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y</a:t>
            </a:r>
            <a:r>
              <a:rPr sz="4800" b="1" spc="-204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Linu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96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4894"/>
            <a:ext cx="7912100" cy="37811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Free,</a:t>
            </a:r>
            <a:r>
              <a:rPr sz="2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Safe,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Robust.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code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all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related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SW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available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 (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Open Source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194945" marR="20320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Ported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variety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CPU architectures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(X86,</a:t>
            </a:r>
            <a:r>
              <a:rPr sz="2000" spc="-1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ARM,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PowerPC,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etc).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32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device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drivers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coverage.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Hosting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huge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number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languages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libraries.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194945" marR="368935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is highly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modularized,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making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it easy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build something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new.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Community.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503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230745" cy="383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everywhere.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It's on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your servers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and in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your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phones, cars, watches,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toasters, refrigerators...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desktops.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75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need to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switch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free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stuff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You’re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obsessed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customizing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creating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 being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part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 group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others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idea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choice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503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A9F3D85-75F8-4DDD-AA58-566831D2A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612527"/>
            <a:ext cx="2254366" cy="20765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A484F7A-C85C-44E2-B5BE-FF8E5D2FC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2724290" cy="38729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2720CF-716F-448C-83D3-BBEC49978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343400"/>
            <a:ext cx="3773030" cy="2076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974" y="4063060"/>
            <a:ext cx="783970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Different</a:t>
            </a:r>
            <a:r>
              <a:rPr sz="4800" b="1" spc="-229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r>
              <a:rPr sz="4800" b="1" spc="-20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distributions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877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Di</a:t>
            </a:r>
            <a:r>
              <a:rPr spc="-170" dirty="0"/>
              <a:t>f</a:t>
            </a:r>
            <a:r>
              <a:rPr spc="-100" dirty="0"/>
              <a:t>f</a:t>
            </a:r>
            <a:r>
              <a:rPr spc="-105" dirty="0"/>
              <a:t>eren</a:t>
            </a:r>
            <a:r>
              <a:rPr spc="-5" dirty="0"/>
              <a:t>t</a:t>
            </a:r>
            <a:r>
              <a:rPr spc="-21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Di</a:t>
            </a:r>
            <a:r>
              <a:rPr spc="-100" dirty="0"/>
              <a:t>st</a:t>
            </a:r>
            <a:r>
              <a:rPr spc="-105" dirty="0"/>
              <a:t>ribu</a:t>
            </a:r>
            <a:r>
              <a:rPr spc="-100" dirty="0"/>
              <a:t>t</a:t>
            </a:r>
            <a:r>
              <a:rPr spc="-105" dirty="0"/>
              <a:t>ion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376295" cy="4565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  <a:tabLst>
                <a:tab pos="267335" algn="l"/>
              </a:tabLst>
            </a:pP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ACE7B-3698-4620-99BB-CE624433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09" y="2008538"/>
            <a:ext cx="8407989" cy="44621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Linux</a:t>
            </a:r>
            <a:r>
              <a:rPr spc="-15" dirty="0"/>
              <a:t>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5" dirty="0"/>
              <a:t>like</a:t>
            </a:r>
            <a:r>
              <a:rPr spc="-15" dirty="0"/>
              <a:t> </a:t>
            </a:r>
            <a:r>
              <a:rPr dirty="0"/>
              <a:t>Lego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6832" y="3200400"/>
            <a:ext cx="3459479" cy="27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877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Di</a:t>
            </a:r>
            <a:r>
              <a:rPr spc="-170" dirty="0"/>
              <a:t>f</a:t>
            </a:r>
            <a:r>
              <a:rPr spc="-100" dirty="0"/>
              <a:t>f</a:t>
            </a:r>
            <a:r>
              <a:rPr spc="-105" dirty="0"/>
              <a:t>eren</a:t>
            </a:r>
            <a:r>
              <a:rPr spc="-5" dirty="0"/>
              <a:t>t</a:t>
            </a:r>
            <a:r>
              <a:rPr spc="-21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Di</a:t>
            </a:r>
            <a:r>
              <a:rPr spc="-100" dirty="0"/>
              <a:t>st</a:t>
            </a:r>
            <a:r>
              <a:rPr spc="-105" dirty="0"/>
              <a:t>ribu</a:t>
            </a:r>
            <a:r>
              <a:rPr spc="-100" dirty="0"/>
              <a:t>t</a:t>
            </a:r>
            <a:r>
              <a:rPr spc="-105" dirty="0"/>
              <a:t>ion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376295" cy="48552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37795" algn="ctr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(PC)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80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RedHat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RedHat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Enterprise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Centos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80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Fedora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75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Debian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Debian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Ubuntu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80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Enterprise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80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Open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7848" y="1442165"/>
            <a:ext cx="3141980" cy="288036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5715">
              <a:lnSpc>
                <a:spcPct val="100000"/>
              </a:lnSpc>
              <a:spcBef>
                <a:spcPts val="1545"/>
              </a:spcBef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(Embedded)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1445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Ångström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distribution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Font typeface="Arial MT"/>
              <a:buChar char="–"/>
            </a:pPr>
            <a:endParaRPr sz="35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Embedded Debian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–"/>
            </a:pPr>
            <a:endParaRPr sz="35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Ubuntu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7848" y="4808296"/>
            <a:ext cx="10077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–</a:t>
            </a:r>
            <a:r>
              <a:rPr sz="2400" spc="-1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Tizen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7848" y="5686755"/>
            <a:ext cx="173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–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Firefox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OS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90835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7280" y="4215460"/>
            <a:ext cx="55746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Ge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t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a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465" dirty="0">
                <a:solidFill>
                  <a:srgbClr val="D2523B"/>
                </a:solidFill>
                <a:latin typeface="Arial"/>
                <a:cs typeface="Arial"/>
              </a:rPr>
              <a:t>T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ast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e</a:t>
            </a:r>
            <a:r>
              <a:rPr sz="4800" b="1" spc="-18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o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f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Linu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603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5" dirty="0">
                <a:latin typeface="Arial"/>
                <a:cs typeface="Arial"/>
              </a:rPr>
              <a:t>Ge</a:t>
            </a:r>
            <a:r>
              <a:rPr b="1" spc="-5" dirty="0">
                <a:latin typeface="Arial"/>
                <a:cs typeface="Arial"/>
              </a:rPr>
              <a:t>t</a:t>
            </a:r>
            <a:r>
              <a:rPr b="1" spc="-19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</a:t>
            </a:r>
            <a:r>
              <a:rPr b="1" spc="-200" dirty="0">
                <a:latin typeface="Arial"/>
                <a:cs typeface="Arial"/>
              </a:rPr>
              <a:t> </a:t>
            </a:r>
            <a:r>
              <a:rPr b="1" spc="-405" dirty="0">
                <a:latin typeface="Arial"/>
                <a:cs typeface="Arial"/>
              </a:rPr>
              <a:t>T</a:t>
            </a:r>
            <a:r>
              <a:rPr b="1" spc="-105" dirty="0">
                <a:latin typeface="Arial"/>
                <a:cs typeface="Arial"/>
              </a:rPr>
              <a:t>ast</a:t>
            </a:r>
            <a:r>
              <a:rPr b="1" spc="-5" dirty="0">
                <a:latin typeface="Arial"/>
                <a:cs typeface="Arial"/>
              </a:rPr>
              <a:t>e</a:t>
            </a:r>
            <a:r>
              <a:rPr b="1" spc="-195" dirty="0">
                <a:latin typeface="Arial"/>
                <a:cs typeface="Arial"/>
              </a:rPr>
              <a:t> </a:t>
            </a:r>
            <a:r>
              <a:rPr b="1" spc="-105" dirty="0">
                <a:latin typeface="Arial"/>
                <a:cs typeface="Arial"/>
              </a:rPr>
              <a:t>o</a:t>
            </a:r>
            <a:r>
              <a:rPr b="1" spc="-5" dirty="0">
                <a:latin typeface="Arial"/>
                <a:cs typeface="Arial"/>
              </a:rPr>
              <a:t>f</a:t>
            </a:r>
            <a:r>
              <a:rPr b="1" spc="-204" dirty="0">
                <a:latin typeface="Arial"/>
                <a:cs typeface="Arial"/>
              </a:rPr>
              <a:t> </a:t>
            </a:r>
            <a:r>
              <a:rPr b="1" spc="-105" dirty="0">
                <a:latin typeface="Arial"/>
                <a:cs typeface="Arial"/>
              </a:rPr>
              <a:t>L</a:t>
            </a:r>
            <a:r>
              <a:rPr b="1" spc="-100" dirty="0">
                <a:latin typeface="Arial"/>
                <a:cs typeface="Arial"/>
              </a:rPr>
              <a:t>i</a:t>
            </a:r>
            <a:r>
              <a:rPr b="1" spc="-105" dirty="0">
                <a:latin typeface="Arial"/>
                <a:cs typeface="Arial"/>
              </a:rPr>
              <a:t>nu</a:t>
            </a:r>
            <a:r>
              <a:rPr b="1" spc="-5" dirty="0">
                <a:latin typeface="Arial"/>
                <a:cs typeface="Arial"/>
              </a:rPr>
              <a:t>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2057400"/>
            <a:ext cx="46482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5592" y="3850004"/>
            <a:ext cx="667765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065" marR="5080" indent="-2539365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Graphical</a:t>
            </a:r>
            <a:r>
              <a:rPr sz="4800" b="1" spc="-17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0" dirty="0">
                <a:solidFill>
                  <a:srgbClr val="D2523B"/>
                </a:solidFill>
                <a:latin typeface="Arial"/>
                <a:cs typeface="Arial"/>
              </a:rPr>
              <a:t>Installation</a:t>
            </a:r>
            <a:r>
              <a:rPr sz="4800" b="1" spc="-14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55" dirty="0">
                <a:solidFill>
                  <a:srgbClr val="D2523B"/>
                </a:solidFill>
                <a:latin typeface="Arial"/>
                <a:cs typeface="Arial"/>
              </a:rPr>
              <a:t>of </a:t>
            </a:r>
            <a:r>
              <a:rPr sz="4800" b="1" spc="-132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97737"/>
            <a:ext cx="4010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Ubun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204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st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alla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io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6016" y="2493123"/>
            <a:ext cx="2723537" cy="22162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8375" y="4668773"/>
            <a:ext cx="2665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Fo</a:t>
            </a:r>
            <a:r>
              <a:rPr sz="4000" spc="-100" dirty="0">
                <a:solidFill>
                  <a:srgbClr val="E39789"/>
                </a:solidFill>
                <a:latin typeface="Arial MT"/>
                <a:cs typeface="Arial MT"/>
              </a:rPr>
              <a:t>c</a:t>
            </a: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a</a:t>
            </a:r>
            <a:r>
              <a:rPr sz="4000" spc="-5" dirty="0">
                <a:solidFill>
                  <a:srgbClr val="E39789"/>
                </a:solidFill>
                <a:latin typeface="Arial MT"/>
                <a:cs typeface="Arial MT"/>
              </a:rPr>
              <a:t>l</a:t>
            </a:r>
            <a:r>
              <a:rPr sz="4000" spc="-215" dirty="0">
                <a:solidFill>
                  <a:srgbClr val="E39789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Fo</a:t>
            </a:r>
            <a:r>
              <a:rPr sz="4000" spc="-100" dirty="0">
                <a:solidFill>
                  <a:srgbClr val="E39789"/>
                </a:solidFill>
                <a:latin typeface="Arial MT"/>
                <a:cs typeface="Arial MT"/>
              </a:rPr>
              <a:t>ss</a:t>
            </a:r>
            <a:r>
              <a:rPr sz="4000" spc="-5" dirty="0">
                <a:solidFill>
                  <a:srgbClr val="E39789"/>
                </a:solidFill>
                <a:latin typeface="Arial MT"/>
                <a:cs typeface="Arial MT"/>
              </a:rPr>
              <a:t>a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5794130"/>
            <a:ext cx="815086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Ubuntu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Version’s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code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names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are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made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of</a:t>
            </a:r>
            <a:r>
              <a:rPr sz="900" u="sng" spc="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two</a:t>
            </a:r>
            <a:r>
              <a:rPr sz="900" u="sng" spc="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words,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first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being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 adjective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and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the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second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one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is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animal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name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with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the same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first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letter.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5C36734E-436E-4ADD-B121-959E46F4FE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676400"/>
            <a:ext cx="3689975" cy="198120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1A2DD51-9BEC-4B7C-8054-366935392489}"/>
              </a:ext>
            </a:extLst>
          </p:cNvPr>
          <p:cNvSpPr txBox="1"/>
          <p:nvPr/>
        </p:nvSpPr>
        <p:spPr>
          <a:xfrm>
            <a:off x="1794129" y="4063060"/>
            <a:ext cx="620687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5" dirty="0">
                <a:solidFill>
                  <a:srgbClr val="D2523B"/>
                </a:solidFill>
                <a:latin typeface="Arial MT"/>
                <a:cs typeface="Arial MT"/>
              </a:rPr>
              <a:t>Exploring</a:t>
            </a:r>
            <a:r>
              <a:rPr sz="4800" spc="-22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800" b="1" spc="-90" dirty="0">
                <a:solidFill>
                  <a:srgbClr val="D2523B"/>
                </a:solidFill>
                <a:latin typeface="Arial MT"/>
                <a:cs typeface="Arial MT"/>
              </a:rPr>
              <a:t>Ubuntu</a:t>
            </a:r>
            <a:r>
              <a:rPr sz="4800" spc="-19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800" spc="-70" dirty="0">
                <a:solidFill>
                  <a:srgbClr val="D2523B"/>
                </a:solidFill>
                <a:latin typeface="Arial MT"/>
                <a:cs typeface="Arial MT"/>
              </a:rPr>
              <a:t>GUI</a:t>
            </a:r>
            <a:endParaRPr sz="4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90886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GUI 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450850" y="1313536"/>
            <a:ext cx="824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Desktop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5D459-FBE6-4C5A-B3A9-01E9223ED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" y="1981200"/>
            <a:ext cx="8586012" cy="458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96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GUI 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DCCE2-4DB2-4FDB-9EC0-809B390CD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1590535"/>
            <a:ext cx="4953000" cy="4023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7AAB8-BC89-430E-BE69-D718C7465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44" y="1097280"/>
            <a:ext cx="1219200" cy="1514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8B554C-AAF6-4FA4-84B0-923A1B699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56" y="1066800"/>
            <a:ext cx="1386840" cy="1514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5D4CD3-D2BE-4209-8017-D628F7AF40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44" y="3688156"/>
            <a:ext cx="1237175" cy="1514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A56829-42BC-452B-AC01-EC24E946A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38" y="4755428"/>
            <a:ext cx="1717224" cy="17172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075E2F-ABCE-4329-9DCE-CC1C3D0F91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1" y="2971800"/>
            <a:ext cx="2307078" cy="11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31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App Center 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AD7FD-0FC4-49C5-9526-BE6B64A7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649" y="2209800"/>
            <a:ext cx="3544701" cy="362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7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0576" y="3822572"/>
            <a:ext cx="46532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5344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Linu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x</a:t>
            </a:r>
            <a:r>
              <a:rPr sz="40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yst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m 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000" spc="-9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000" spc="-9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0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&amp;</a:t>
            </a:r>
            <a:r>
              <a:rPr sz="40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P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in</a:t>
            </a:r>
            <a:r>
              <a:rPr sz="40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iple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48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013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Linu</a:t>
            </a:r>
            <a:r>
              <a:rPr sz="4000" spc="-5" dirty="0">
                <a:solidFill>
                  <a:srgbClr val="D2523B"/>
                </a:solidFill>
              </a:rPr>
              <a:t>x</a:t>
            </a:r>
            <a:r>
              <a:rPr sz="4000" spc="-20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9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ru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ur</a:t>
            </a:r>
            <a:r>
              <a:rPr sz="4000" spc="-5" dirty="0">
                <a:solidFill>
                  <a:srgbClr val="D2523B"/>
                </a:solidFill>
              </a:rPr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4224655" cy="353885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BootLoader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(grub,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uboot,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vivi)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(www.kernel.org)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Filesystem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(FHS)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init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process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(bash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ash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sh)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Services</a:t>
            </a:r>
            <a:r>
              <a:rPr sz="20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manager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Scripts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Environment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variables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Applications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(user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apps,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GUI,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…)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04343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140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Linu</a:t>
            </a:r>
            <a:r>
              <a:rPr sz="4000" spc="-5" dirty="0">
                <a:solidFill>
                  <a:srgbClr val="D2523B"/>
                </a:solidFill>
              </a:rPr>
              <a:t>x</a:t>
            </a:r>
            <a:r>
              <a:rPr sz="4000" spc="-20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9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Prin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iple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7442834" cy="21646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Everything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(including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hardware).</a:t>
            </a:r>
            <a:endParaRPr sz="24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Consists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small,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single-purpose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programs.</a:t>
            </a:r>
            <a:endParaRPr sz="24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Ability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chain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together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perform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complex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tasks.</a:t>
            </a:r>
            <a:endParaRPr sz="24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Users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usually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avoids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interfaces.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07507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1436" y="3775328"/>
            <a:ext cx="612648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3805" marR="5080" indent="-1221105">
              <a:lnSpc>
                <a:spcPct val="100000"/>
              </a:lnSpc>
              <a:spcBef>
                <a:spcPts val="95"/>
              </a:spcBef>
            </a:pP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Roo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Fil</a:t>
            </a:r>
            <a:r>
              <a:rPr sz="4300" spc="-114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sys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3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Hie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ch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y 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tandar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(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FHS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)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65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02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FileS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Hierar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h</a:t>
            </a:r>
            <a:r>
              <a:rPr sz="4000" spc="-5" dirty="0">
                <a:solidFill>
                  <a:srgbClr val="D2523B"/>
                </a:solidFill>
              </a:rPr>
              <a:t>y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andar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033" y="1790747"/>
            <a:ext cx="7827572" cy="382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08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02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FileS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Hierar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h</a:t>
            </a:r>
            <a:r>
              <a:rPr sz="4000" spc="-5" dirty="0">
                <a:solidFill>
                  <a:srgbClr val="D2523B"/>
                </a:solidFill>
              </a:rPr>
              <a:t>y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andar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0603"/>
            <a:ext cx="939800" cy="47199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dirty="0">
                <a:solidFill>
                  <a:srgbClr val="292934"/>
                </a:solidFill>
                <a:latin typeface="Courier New"/>
                <a:cs typeface="Courier New"/>
              </a:rPr>
              <a:t>/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/bin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/sbin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/boot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/dev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/etc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/home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/root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/lib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/media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/opt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/proc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/usr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/var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550603"/>
            <a:ext cx="5968365" cy="47199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root</a:t>
            </a:r>
            <a:r>
              <a:rPr sz="20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commands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executable files</a:t>
            </a:r>
            <a:endParaRPr sz="2000">
              <a:latin typeface="Courier New"/>
              <a:cs typeface="Courier New"/>
            </a:endParaRPr>
          </a:p>
          <a:p>
            <a:pPr marL="12700" marR="766445">
              <a:lnSpc>
                <a:spcPct val="11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system commands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executable files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kernel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bootloader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hardware device files (nodes)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configuration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and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startup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scripts </a:t>
            </a:r>
            <a:r>
              <a:rPr sz="2000" b="1" spc="-118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users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home directories</a:t>
            </a:r>
            <a:endParaRPr sz="2000">
              <a:latin typeface="Courier New"/>
              <a:cs typeface="Courier New"/>
            </a:endParaRPr>
          </a:p>
          <a:p>
            <a:pPr marL="12700" marR="29000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root home directory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shared</a:t>
            </a:r>
            <a:r>
              <a:rPr sz="2000" b="1" spc="-3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library</a:t>
            </a:r>
            <a:r>
              <a:rPr sz="2000" b="1" spc="-3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mount points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for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storage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media</a:t>
            </a:r>
            <a:endParaRPr sz="2000">
              <a:latin typeface="Courier New"/>
              <a:cs typeface="Courier New"/>
            </a:endParaRPr>
          </a:p>
          <a:p>
            <a:pPr marL="12700" marR="21380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third parity applications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virtual</a:t>
            </a:r>
            <a:r>
              <a:rPr sz="20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process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endParaRPr sz="2000">
              <a:latin typeface="Courier New"/>
              <a:cs typeface="Courier New"/>
            </a:endParaRPr>
          </a:p>
          <a:p>
            <a:pPr marL="12700" marR="4616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other users applications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libraries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that change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a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lot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74969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200" y="4038600"/>
            <a:ext cx="756030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spc="-110" dirty="0">
                <a:solidFill>
                  <a:srgbClr val="D2523B"/>
                </a:solidFill>
                <a:latin typeface="Arial MT"/>
                <a:cs typeface="Arial MT"/>
              </a:rPr>
              <a:t>Graphical User Interface</a:t>
            </a:r>
            <a:endParaRPr sz="43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8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182" y="4102989"/>
            <a:ext cx="756030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oduc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io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300" spc="-19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h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co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mm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lin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96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Terminal 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53683-1BAD-45C2-8AD5-78B3EEE23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2053236"/>
            <a:ext cx="6834102" cy="1957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518160" y="1237478"/>
            <a:ext cx="824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Shortcut t</a:t>
            </a:r>
            <a:r>
              <a:rPr lang="en-US" sz="3000" dirty="0"/>
              <a:t>o open a </a:t>
            </a:r>
            <a:r>
              <a:rPr lang="en-US" sz="3000" b="1" dirty="0"/>
              <a:t>new terminal : CTRL + ALT + 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15894-A12D-4CC9-8A9C-9E1453D8F29B}"/>
              </a:ext>
            </a:extLst>
          </p:cNvPr>
          <p:cNvSpPr txBox="1"/>
          <p:nvPr/>
        </p:nvSpPr>
        <p:spPr>
          <a:xfrm>
            <a:off x="594360" y="4272560"/>
            <a:ext cx="69865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Prompt</a:t>
            </a:r>
            <a:r>
              <a:rPr lang="en-US" sz="2000" b="1" dirty="0"/>
              <a:t> : </a:t>
            </a:r>
            <a:r>
              <a:rPr lang="en-US" sz="2000" b="1" dirty="0" err="1"/>
              <a:t>linux-user@linux-vm</a:t>
            </a:r>
            <a:r>
              <a:rPr lang="en-US" sz="2000" b="1" dirty="0"/>
              <a:t>:~$</a:t>
            </a:r>
          </a:p>
          <a:p>
            <a:r>
              <a:rPr lang="en-US" sz="2000" b="1" dirty="0"/>
              <a:t>Command : what comes after the ‘$’ or ‘#’</a:t>
            </a:r>
          </a:p>
          <a:p>
            <a:r>
              <a:rPr lang="en-US" sz="2000" b="1" dirty="0"/>
              <a:t>Username : </a:t>
            </a:r>
            <a:r>
              <a:rPr lang="en-US" sz="2000" b="1" dirty="0" err="1"/>
              <a:t>linux</a:t>
            </a:r>
            <a:r>
              <a:rPr lang="en-US" sz="2000" b="1" dirty="0"/>
              <a:t>-user</a:t>
            </a:r>
          </a:p>
          <a:p>
            <a:r>
              <a:rPr lang="en-US" sz="2000" b="1" dirty="0"/>
              <a:t>Hostname : </a:t>
            </a:r>
            <a:r>
              <a:rPr lang="en-US" sz="2000" b="1" dirty="0" err="1"/>
              <a:t>linux-vm</a:t>
            </a:r>
            <a:endParaRPr lang="en-US" sz="2000" b="1" dirty="0"/>
          </a:p>
          <a:p>
            <a:r>
              <a:rPr lang="en-US" sz="2000" b="1" dirty="0"/>
              <a:t>~ : current working directory “Home”</a:t>
            </a:r>
          </a:p>
          <a:p>
            <a:r>
              <a:rPr lang="en-US" sz="2000" b="1" dirty="0"/>
              <a:t>$ or # : $ indicates Normal User, # indicates the root user.</a:t>
            </a:r>
          </a:p>
          <a:p>
            <a:endParaRPr lang="en-US" sz="2000" b="1" dirty="0"/>
          </a:p>
          <a:p>
            <a:r>
              <a:rPr lang="en-US" sz="2000" b="1" dirty="0"/>
              <a:t>The Cursor is blinking after “$” waiting for your command</a:t>
            </a:r>
          </a:p>
        </p:txBody>
      </p:sp>
    </p:spTree>
    <p:extLst>
      <p:ext uri="{BB962C8B-B14F-4D97-AF65-F5344CB8AC3E}">
        <p14:creationId xmlns:p14="http://schemas.microsoft.com/office/powerpoint/2010/main" val="2416526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Terminals Vs Shells 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563880" y="1447800"/>
            <a:ext cx="8016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you open </a:t>
            </a:r>
            <a:r>
              <a:rPr lang="en-US" sz="3200" b="1" dirty="0"/>
              <a:t>GNOME Terminal</a:t>
            </a:r>
            <a:r>
              <a:rPr lang="en-US" sz="3200" dirty="0"/>
              <a:t> on Ubuntu: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Terminal is the GUI Application.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It takes your commands and pass them to the shell “</a:t>
            </a:r>
            <a:r>
              <a:rPr lang="en-US" sz="3200" b="1" dirty="0" err="1"/>
              <a:t>sh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FF0000"/>
                </a:solidFill>
              </a:rPr>
              <a:t>bash</a:t>
            </a:r>
            <a:r>
              <a:rPr lang="en-US" sz="3200" b="1" dirty="0"/>
              <a:t>, </a:t>
            </a:r>
            <a:r>
              <a:rPr lang="en-US" sz="3200" b="1" dirty="0" err="1"/>
              <a:t>zsh</a:t>
            </a:r>
            <a:r>
              <a:rPr lang="en-US" sz="3200" b="1" dirty="0"/>
              <a:t>, PowerShell”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7379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3320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Comman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7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Line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447800"/>
            <a:ext cx="8760460" cy="45775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syntax</a:t>
            </a:r>
            <a:endParaRPr sz="2200" dirty="0">
              <a:latin typeface="Arial MT"/>
              <a:cs typeface="Arial MT"/>
            </a:endParaRPr>
          </a:p>
          <a:p>
            <a:pPr marL="286385" marR="1943100">
              <a:lnSpc>
                <a:spcPts val="2900"/>
              </a:lnSpc>
              <a:spcBef>
                <a:spcPts val="15"/>
              </a:spcBef>
            </a:pP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 [option(s)] [parameter(s)] </a:t>
            </a:r>
            <a:r>
              <a:rPr sz="2200" b="1" spc="-131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 –(one_character_option) </a:t>
            </a:r>
            <a:r>
              <a:rPr sz="2200" b="1" spc="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r>
              <a:rPr sz="2200" b="1" spc="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–-(full_word_option)</a:t>
            </a: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ourier New"/>
              <a:cs typeface="Courier New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Boldface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as-is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text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Clr>
                <a:srgbClr val="92A199"/>
              </a:buClr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900" marR="116839" lvl="1" indent="-183515">
              <a:lnSpc>
                <a:spcPts val="2050"/>
              </a:lnSpc>
              <a:spcBef>
                <a:spcPts val="5"/>
              </a:spcBef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option-arguments</a:t>
            </a:r>
            <a:r>
              <a:rPr sz="1900" spc="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enclosed</a:t>
            </a:r>
            <a:r>
              <a:rPr sz="19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'['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']'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notation</a:t>
            </a:r>
            <a:r>
              <a:rPr sz="19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 </a:t>
            </a:r>
            <a:r>
              <a:rPr sz="1900" spc="-5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b="1" spc="-5" dirty="0">
                <a:solidFill>
                  <a:srgbClr val="292934"/>
                </a:solidFill>
                <a:latin typeface="Arial MT"/>
                <a:cs typeface="Arial MT"/>
              </a:rPr>
              <a:t>optional</a:t>
            </a:r>
            <a:r>
              <a:rPr sz="19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omitted.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469900" marR="579120" lvl="1" indent="-183515">
              <a:lnSpc>
                <a:spcPts val="206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19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separated</a:t>
            </a:r>
            <a:r>
              <a:rPr sz="19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'|'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vertical</a:t>
            </a:r>
            <a:r>
              <a:rPr sz="19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bar</a:t>
            </a:r>
            <a:r>
              <a:rPr sz="19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notation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mutually- </a:t>
            </a:r>
            <a:r>
              <a:rPr sz="1900" spc="-509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exclusive.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469900" marR="5080" lvl="1" indent="-183515">
              <a:lnSpc>
                <a:spcPts val="205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b="1" spc="-5" dirty="0">
                <a:solidFill>
                  <a:srgbClr val="292934"/>
                </a:solidFill>
                <a:latin typeface="Arial MT"/>
                <a:cs typeface="Arial MT"/>
              </a:rPr>
              <a:t>Ellipses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( "..."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denote</a:t>
            </a:r>
            <a:r>
              <a:rPr sz="19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one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occurrences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 </a:t>
            </a:r>
            <a:r>
              <a:rPr sz="1900" spc="-509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option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operand</a:t>
            </a:r>
            <a:r>
              <a:rPr sz="1900" spc="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allowed.</a:t>
            </a:r>
            <a:endParaRPr sz="1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83956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66268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Why do we use commands ?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447800"/>
            <a:ext cx="8760460" cy="1825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Faster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Automation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Precise 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Works for Remote Machines that does not have GUI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More Fun</a:t>
            </a:r>
            <a:endParaRPr sz="2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37671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6904" y="3775328"/>
            <a:ext cx="549529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0" marR="5080" indent="-1486535">
              <a:lnSpc>
                <a:spcPct val="100000"/>
              </a:lnSpc>
              <a:spcBef>
                <a:spcPts val="95"/>
              </a:spcBef>
            </a:pP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B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owsin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3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Explo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300" spc="-114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g  </a:t>
            </a:r>
            <a:r>
              <a:rPr sz="4300" spc="-95" dirty="0">
                <a:solidFill>
                  <a:srgbClr val="D2523B"/>
                </a:solidFill>
                <a:latin typeface="Arial MT"/>
                <a:cs typeface="Arial MT"/>
              </a:rPr>
              <a:t>Filesystem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31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82270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Browsing and exploring File System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468449" y="1676400"/>
            <a:ext cx="8684260" cy="1238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Relative Path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Absolute Path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76622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529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Brow</a:t>
            </a:r>
            <a:r>
              <a:rPr sz="4000" spc="-100" dirty="0">
                <a:solidFill>
                  <a:srgbClr val="D2523B"/>
                </a:solidFill>
              </a:rPr>
              <a:t>s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100" dirty="0">
                <a:solidFill>
                  <a:srgbClr val="D2523B"/>
                </a:solidFill>
              </a:rPr>
              <a:t>x</a:t>
            </a:r>
            <a:r>
              <a:rPr sz="4000" spc="-105" dirty="0">
                <a:solidFill>
                  <a:srgbClr val="D2523B"/>
                </a:solidFill>
              </a:rPr>
              <a:t>plorin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1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File</a:t>
            </a:r>
            <a:r>
              <a:rPr sz="4000" spc="-100" dirty="0">
                <a:solidFill>
                  <a:srgbClr val="D2523B"/>
                </a:solidFill>
              </a:rPr>
              <a:t>syst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6890" y="1610586"/>
          <a:ext cx="5600700" cy="1534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437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270"/>
                        </a:lnSpc>
                        <a:buClr>
                          <a:srgbClr val="92A199"/>
                        </a:buClr>
                        <a:buSzPct val="84090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2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2845">
                        <a:lnSpc>
                          <a:spcPts val="2270"/>
                        </a:lnSpc>
                      </a:pPr>
                      <a:r>
                        <a:rPr sz="22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change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70"/>
                        </a:lnSpc>
                      </a:pP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49">
                <a:tc>
                  <a:txBody>
                    <a:bodyPr/>
                    <a:lstStyle/>
                    <a:p>
                      <a:pPr marR="67945" algn="r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dir-name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3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900" b="1" spc="-3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dir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5"/>
                        </a:lnSpc>
                      </a:pPr>
                      <a:r>
                        <a:rPr sz="20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5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previous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5"/>
                        </a:lnSpc>
                      </a:pPr>
                      <a:r>
                        <a:rPr sz="20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4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900" b="1" spc="-4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current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..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6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up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40" y="3395853"/>
            <a:ext cx="711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pwd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3395853"/>
            <a:ext cx="5241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56566D"/>
                </a:solidFill>
                <a:latin typeface="Courier New"/>
                <a:cs typeface="Courier New"/>
              </a:rPr>
              <a:t>print</a:t>
            </a:r>
            <a:r>
              <a:rPr sz="22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current</a:t>
            </a:r>
            <a:r>
              <a:rPr sz="2200" b="1" spc="-2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working</a:t>
            </a:r>
            <a:r>
              <a:rPr sz="2200" b="1" spc="2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6890" y="4003902"/>
          <a:ext cx="7107555" cy="1534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0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64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270"/>
                        </a:lnSpc>
                        <a:buClr>
                          <a:srgbClr val="92A199"/>
                        </a:buClr>
                        <a:buSzPct val="84090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2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2845">
                        <a:lnSpc>
                          <a:spcPts val="2270"/>
                        </a:lnSpc>
                      </a:pPr>
                      <a:r>
                        <a:rPr sz="22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list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70"/>
                        </a:lnSpc>
                      </a:pP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files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270"/>
                        </a:lnSpc>
                      </a:pPr>
                      <a:r>
                        <a:rPr sz="2200" b="1" spc="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2200" b="1" spc="-4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current</a:t>
                      </a:r>
                      <a:r>
                        <a:rPr sz="2200" b="1" spc="-3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722">
                <a:tc>
                  <a:txBody>
                    <a:bodyPr/>
                    <a:lstStyle/>
                    <a:p>
                      <a:pPr marL="30543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05435" marR="67945" algn="just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ls  ls  ls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–lh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another-path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11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900" b="1" spc="-5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73660" marR="374015">
                        <a:lnSpc>
                          <a:spcPct val="10530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long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list,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human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read </a:t>
                      </a:r>
                      <a:r>
                        <a:rPr sz="1900" b="1" spc="-113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another folder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list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all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hidden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35940" y="5788863"/>
            <a:ext cx="57569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Absolute</a:t>
            </a:r>
            <a:r>
              <a:rPr sz="2200" b="1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292934"/>
                </a:solidFill>
                <a:latin typeface="Courier New"/>
                <a:cs typeface="Courier New"/>
              </a:rPr>
              <a:t>and</a:t>
            </a:r>
            <a:r>
              <a:rPr sz="2200" b="1" dirty="0">
                <a:solidFill>
                  <a:srgbClr val="292934"/>
                </a:solidFill>
                <a:latin typeface="Courier New"/>
                <a:cs typeface="Courier New"/>
              </a:rPr>
              <a:t> Relative </a:t>
            </a: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Path</a:t>
            </a:r>
            <a:r>
              <a:rPr sz="2200" b="1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names.</a:t>
            </a:r>
            <a:endParaRPr sz="2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31432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0541" y="4095063"/>
            <a:ext cx="675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eat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spc="-23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204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to</a:t>
            </a:r>
            <a:r>
              <a:rPr sz="4400" spc="-114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35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00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Crea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dire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orie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87167"/>
              </p:ext>
            </p:extLst>
          </p:nvPr>
        </p:nvGraphicFramePr>
        <p:xfrm>
          <a:off x="516890" y="1660392"/>
          <a:ext cx="6092823" cy="254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3740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4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touch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305435" marR="83185">
                        <a:lnSpc>
                          <a:spcPct val="120000"/>
                        </a:lnSpc>
                      </a:pP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tou</a:t>
                      </a:r>
                      <a:r>
                        <a:rPr sz="2400" b="1" spc="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h  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tou</a:t>
                      </a:r>
                      <a:r>
                        <a:rPr sz="2400" b="1" spc="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462405">
                        <a:lnSpc>
                          <a:spcPts val="2480"/>
                        </a:lnSpc>
                      </a:pP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r>
                        <a:rPr sz="2400" b="1" spc="-6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4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file-name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file1</a:t>
                      </a:r>
                      <a:r>
                        <a:rPr sz="2400" b="1" spc="-3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file2</a:t>
                      </a:r>
                      <a:r>
                        <a:rPr sz="2400" b="1" spc="-3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file3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b="1" spc="-1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file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214629" indent="-182880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4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mkdir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mkdir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 dirty="0">
                        <a:latin typeface="Times New Roman"/>
                        <a:cs typeface="Times New Roman"/>
                      </a:endParaRPr>
                    </a:p>
                    <a:p>
                      <a:pPr marL="1462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 err="1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dir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-name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 dirty="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5683C1F-3DA2-4984-AE95-DC6ED4FF6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493397"/>
              </p:ext>
            </p:extLst>
          </p:nvPr>
        </p:nvGraphicFramePr>
        <p:xfrm>
          <a:off x="501650" y="4384485"/>
          <a:ext cx="8070850" cy="3551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7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3740">
                <a:tc>
                  <a:txBody>
                    <a:bodyPr/>
                    <a:lstStyle/>
                    <a:p>
                      <a:pPr marL="31749" marR="0" lvl="0" indent="0" defTabSz="914400" eaLnBrk="1" fontAlgn="auto" latinLnBrk="0" hangingPunct="1">
                        <a:lnSpc>
                          <a:spcPts val="24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A199"/>
                        </a:buClr>
                        <a:buSzPct val="85416"/>
                        <a:buFont typeface="Arial MT"/>
                        <a:buNone/>
                        <a:tabLst>
                          <a:tab pos="214629" algn="l"/>
                        </a:tabLst>
                        <a:defRPr/>
                      </a:pPr>
                      <a:r>
                        <a:rPr lang="en-US"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file-name 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rules: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1-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Alphanumeric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(a-zA-Z0-9)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2-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Special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characters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except ‘/’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3-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No Extensions 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in Linux “file.txt” txt is considered as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part of the file name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.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4- To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hide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a file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precede it with ‘.’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5-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Files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in Linux are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case sensitive. </a:t>
                      </a:r>
                      <a:endParaRPr sz="2400" b="1" dirty="0">
                        <a:solidFill>
                          <a:srgbClr val="FF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990">
                <a:tc>
                  <a:txBody>
                    <a:bodyPr/>
                    <a:lstStyle/>
                    <a:p>
                      <a:pPr marL="0" algn="l" rtl="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2591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41" y="4095063"/>
            <a:ext cx="5988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Cop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y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19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v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26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Cop</a:t>
            </a:r>
            <a:r>
              <a:rPr sz="4000" spc="-100" dirty="0">
                <a:solidFill>
                  <a:srgbClr val="D2523B"/>
                </a:solidFill>
              </a:rPr>
              <a:t>y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mo</a:t>
            </a:r>
            <a:r>
              <a:rPr sz="4000" spc="-100" dirty="0">
                <a:solidFill>
                  <a:srgbClr val="D2523B"/>
                </a:solidFill>
              </a:rPr>
              <a:t>v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96593"/>
            <a:ext cx="6599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184150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cp	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copy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files 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and</a:t>
            </a:r>
            <a:r>
              <a:rPr sz="2400" b="1" spc="-3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directories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1969744"/>
            <a:ext cx="3683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source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 </a:t>
            </a:r>
            <a:r>
              <a:rPr sz="20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 err="1">
                <a:solidFill>
                  <a:srgbClr val="D2523B"/>
                </a:solidFill>
                <a:highlight>
                  <a:srgbClr val="FFFF00"/>
                </a:highlight>
                <a:latin typeface="Courier New"/>
                <a:cs typeface="Courier New"/>
              </a:rPr>
              <a:t>cp</a:t>
            </a:r>
            <a:r>
              <a:rPr sz="2000" b="1" spc="-5" dirty="0">
                <a:solidFill>
                  <a:srgbClr val="D2523B"/>
                </a:solidFill>
                <a:highlight>
                  <a:srgbClr val="FFFF00"/>
                </a:highlight>
                <a:latin typeface="Courier New"/>
                <a:cs typeface="Courier New"/>
              </a:rPr>
              <a:t> –</a:t>
            </a:r>
            <a:r>
              <a:rPr lang="en-US" sz="2000" b="1" spc="-5" dirty="0">
                <a:solidFill>
                  <a:srgbClr val="D2523B"/>
                </a:solidFill>
                <a:highlight>
                  <a:srgbClr val="FFFF00"/>
                </a:highlight>
                <a:latin typeface="Courier New"/>
                <a:cs typeface="Courier New"/>
              </a:rPr>
              <a:t>p</a:t>
            </a:r>
            <a:r>
              <a:rPr sz="2000" b="1" spc="-5" dirty="0">
                <a:solidFill>
                  <a:srgbClr val="D2523B"/>
                </a:solidFill>
                <a:highlight>
                  <a:srgbClr val="FFFF00"/>
                </a:highlight>
                <a:latin typeface="Courier New"/>
                <a:cs typeface="Courier New"/>
              </a:rPr>
              <a:t> source destination </a:t>
            </a:r>
            <a:r>
              <a:rPr sz="2000" b="1" spc="-1190" dirty="0">
                <a:solidFill>
                  <a:srgbClr val="D2523B"/>
                </a:solidFill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sz="2000" b="1" spc="-2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–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r</a:t>
            </a:r>
            <a:r>
              <a:rPr sz="2000" b="1" spc="-1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source</a:t>
            </a:r>
            <a:r>
              <a:rPr sz="2000" b="1" spc="-1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3228" y="2335504"/>
            <a:ext cx="3425572" cy="75405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lang="en-US"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P</a:t>
            </a: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reserve</a:t>
            </a:r>
            <a:r>
              <a:rPr lang="en-US"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 attributes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with</a:t>
            </a:r>
            <a:r>
              <a:rPr sz="2000" b="1" spc="-65" dirty="0">
                <a:solidFill>
                  <a:srgbClr val="E39789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contents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492330"/>
            <a:ext cx="1826895" cy="8445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3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mv</a:t>
            </a:r>
            <a:endParaRPr sz="2400" dirty="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535"/>
              </a:spcBef>
              <a:tabLst>
                <a:tab pos="897255" algn="l"/>
              </a:tabLst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mv	source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994" y="3492330"/>
            <a:ext cx="6048375" cy="8445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move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400" b="1" spc="-2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rename files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 directories</a:t>
            </a:r>
            <a:endParaRPr sz="2400" dirty="0">
              <a:latin typeface="Courier New"/>
              <a:cs typeface="Courier New"/>
            </a:endParaRPr>
          </a:p>
          <a:p>
            <a:pPr marL="290195">
              <a:lnSpc>
                <a:spcPct val="100000"/>
              </a:lnSpc>
              <a:spcBef>
                <a:spcPts val="535"/>
              </a:spcBef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4304534"/>
            <a:ext cx="7333615" cy="12693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67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6215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same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dir,</a:t>
            </a:r>
            <a:r>
              <a:rPr sz="24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it’s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considered</a:t>
            </a:r>
            <a:r>
              <a:rPr sz="24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rename.</a:t>
            </a:r>
            <a:endParaRPr sz="2400" dirty="0">
              <a:latin typeface="Courier New"/>
              <a:cs typeface="Courier New"/>
            </a:endParaRPr>
          </a:p>
          <a:p>
            <a:pPr marL="195580" indent="-183515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6215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24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to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another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partition</a:t>
            </a:r>
            <a:r>
              <a:rPr sz="2400" b="1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or</a:t>
            </a:r>
            <a:r>
              <a:rPr sz="24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directory,</a:t>
            </a:r>
            <a:endParaRPr sz="24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it’s</a:t>
            </a:r>
            <a:r>
              <a:rPr sz="24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considered</a:t>
            </a:r>
            <a:r>
              <a:rPr sz="2400" b="1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move.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489144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398" y="4095063"/>
            <a:ext cx="71526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Re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v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19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14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223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468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Remo</a:t>
            </a:r>
            <a:r>
              <a:rPr sz="4000" spc="-100" dirty="0">
                <a:solidFill>
                  <a:srgbClr val="D2523B"/>
                </a:solidFill>
              </a:rPr>
              <a:t>v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dire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orie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rmdir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9775" y="1681480"/>
            <a:ext cx="470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remove</a:t>
            </a:r>
            <a:r>
              <a:rPr sz="28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empty</a:t>
            </a:r>
            <a:r>
              <a:rPr sz="28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6605270" cy="2167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rmdir</a:t>
            </a:r>
            <a:r>
              <a:rPr sz="2400" b="1" spc="-5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Courier New"/>
                <a:cs typeface="Courier New"/>
              </a:rPr>
              <a:t>empty-dir-name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rm	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remove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files and </a:t>
            </a:r>
            <a:r>
              <a:rPr sz="2400" b="1" dirty="0" err="1">
                <a:solidFill>
                  <a:srgbClr val="56566D"/>
                </a:solidFill>
                <a:latin typeface="Courier New"/>
                <a:cs typeface="Courier New"/>
              </a:rPr>
              <a:t>dirs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43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lang="en-US" sz="2400" b="1" spc="-1435" dirty="0">
                <a:solidFill>
                  <a:srgbClr val="56566D"/>
                </a:solidFill>
                <a:latin typeface="Courier New"/>
                <a:cs typeface="Courier New"/>
              </a:rPr>
              <a:t>   </a:t>
            </a: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sz="2400" b="1" spc="-10" dirty="0">
                <a:solidFill>
                  <a:srgbClr val="D2523B"/>
                </a:solidFill>
                <a:latin typeface="Courier New"/>
                <a:cs typeface="Courier New"/>
              </a:rPr>
              <a:t> file-name</a:t>
            </a:r>
            <a:endParaRPr lang="en-US" sz="2400" spc="-10" dirty="0">
              <a:latin typeface="Courier New"/>
              <a:cs typeface="Courier New"/>
            </a:endParaRPr>
          </a:p>
          <a:p>
            <a:pPr marR="50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tabLst>
                <a:tab pos="195580" algn="l"/>
                <a:tab pos="2755900" algn="l"/>
              </a:tabLst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sz="2400" b="1" spc="-4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–r</a:t>
            </a:r>
            <a:r>
              <a:rPr sz="24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dir-name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77787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341" y="4095063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ett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He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l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p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(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page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)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476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7101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Ge</a:t>
            </a:r>
            <a:r>
              <a:rPr sz="4000" spc="-100" dirty="0">
                <a:solidFill>
                  <a:srgbClr val="D2523B"/>
                </a:solidFill>
              </a:rPr>
              <a:t>tt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1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Hel</a:t>
            </a:r>
            <a:r>
              <a:rPr sz="4000" spc="-5" dirty="0">
                <a:solidFill>
                  <a:srgbClr val="D2523B"/>
                </a:solidFill>
              </a:rPr>
              <a:t>p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349797"/>
            <a:ext cx="8032750" cy="531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1545"/>
              </a:lnSpc>
              <a:spcBef>
                <a:spcPts val="95"/>
              </a:spcBef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Help</a:t>
            </a:r>
            <a:r>
              <a:rPr sz="13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endParaRPr sz="1300" dirty="0">
              <a:latin typeface="Arial MT"/>
              <a:cs typeface="Arial MT"/>
            </a:endParaRPr>
          </a:p>
          <a:p>
            <a:pPr marL="286385">
              <a:lnSpc>
                <a:spcPts val="1305"/>
              </a:lnSpc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100" b="1" spc="-4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 dirty="0">
              <a:latin typeface="Courier New"/>
              <a:cs typeface="Courier New"/>
            </a:endParaRPr>
          </a:p>
          <a:p>
            <a:pPr marL="469900" marR="5080">
              <a:lnSpc>
                <a:spcPct val="82600"/>
              </a:lnSpc>
              <a:spcBef>
                <a:spcPts val="309"/>
              </a:spcBef>
            </a:pP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System-wide</a:t>
            </a:r>
            <a:r>
              <a:rPr sz="10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provides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short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reference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manuals (pages)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for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individual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commands,</a:t>
            </a:r>
            <a:r>
              <a:rPr sz="1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API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functions,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concepts,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configuration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syntax,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formats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0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organized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sections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(1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commands,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2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calls...).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That's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traditional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Unix </a:t>
            </a:r>
            <a:r>
              <a:rPr sz="1000" spc="-2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</a:t>
            </a:r>
            <a:endParaRPr sz="1000" dirty="0">
              <a:latin typeface="Arial MT"/>
              <a:cs typeface="Arial MT"/>
            </a:endParaRPr>
          </a:p>
          <a:p>
            <a:pPr marL="286385">
              <a:lnSpc>
                <a:spcPts val="1280"/>
              </a:lnSpc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info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Another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originating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 the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GNU project</a:t>
            </a:r>
            <a:endParaRPr sz="1000" dirty="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20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help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 dirty="0">
              <a:latin typeface="Courier New"/>
              <a:cs typeface="Courier New"/>
            </a:endParaRPr>
          </a:p>
          <a:p>
            <a:pPr marL="469900" marR="314325">
              <a:lnSpc>
                <a:spcPts val="1060"/>
              </a:lnSpc>
              <a:spcBef>
                <a:spcPts val="575"/>
              </a:spcBef>
            </a:pP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Built-in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1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bash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 (and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only)</a:t>
            </a:r>
            <a:r>
              <a:rPr sz="10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documents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some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 the</a:t>
            </a:r>
            <a:r>
              <a:rPr sz="10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built-in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keywords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 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shell. </a:t>
            </a:r>
            <a:r>
              <a:rPr sz="1000" spc="-2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That's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internal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shell.</a:t>
            </a:r>
            <a:endParaRPr lang="en-US" sz="10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469900" marR="314325">
              <a:lnSpc>
                <a:spcPts val="1060"/>
              </a:lnSpc>
              <a:spcBef>
                <a:spcPts val="575"/>
              </a:spcBef>
            </a:pPr>
            <a:endParaRPr lang="en-EG" sz="10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469900" marR="314325">
              <a:lnSpc>
                <a:spcPts val="1060"/>
              </a:lnSpc>
              <a:spcBef>
                <a:spcPts val="575"/>
              </a:spcBef>
            </a:pPr>
            <a:r>
              <a:rPr lang="en-EG" sz="1000" spc="-5" dirty="0">
                <a:solidFill>
                  <a:srgbClr val="292934"/>
                </a:solidFill>
                <a:latin typeface="Arial MT"/>
                <a:cs typeface="Arial MT"/>
              </a:rPr>
              <a:t>--help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Command </a:t>
            </a: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type</a:t>
            </a:r>
            <a:endParaRPr sz="1300" dirty="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spcBef>
                <a:spcPts val="90"/>
              </a:spcBef>
            </a:pP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type</a:t>
            </a:r>
            <a:endParaRPr sz="1200" dirty="0">
              <a:latin typeface="Courier New"/>
              <a:cs typeface="Courier New"/>
            </a:endParaRPr>
          </a:p>
          <a:p>
            <a:pPr marL="427355">
              <a:lnSpc>
                <a:spcPct val="100000"/>
              </a:lnSpc>
              <a:spcBef>
                <a:spcPts val="334"/>
              </a:spcBef>
            </a:pP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Display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information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about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type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Man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Pages</a:t>
            </a:r>
            <a:endParaRPr sz="1300" dirty="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spcBef>
                <a:spcPts val="90"/>
              </a:spcBef>
            </a:pP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2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Courier New"/>
              <a:cs typeface="Courier New"/>
            </a:endParaRPr>
          </a:p>
          <a:p>
            <a:pPr marL="195580" indent="-182880">
              <a:lnSpc>
                <a:spcPts val="1545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Display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manual</a:t>
            </a:r>
            <a:r>
              <a:rPr sz="13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</a:t>
            </a:r>
            <a:r>
              <a:rPr sz="13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descriptions</a:t>
            </a:r>
            <a:endParaRPr sz="1300" dirty="0">
              <a:latin typeface="Arial MT"/>
              <a:cs typeface="Arial MT"/>
            </a:endParaRPr>
          </a:p>
          <a:p>
            <a:pPr marL="286385">
              <a:lnSpc>
                <a:spcPts val="1305"/>
              </a:lnSpc>
            </a:pP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100" b="1" spc="-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-f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 dirty="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whatis</a:t>
            </a:r>
            <a:r>
              <a:rPr sz="1100" b="1" spc="-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00" dirty="0">
              <a:latin typeface="Courier New"/>
              <a:cs typeface="Courier New"/>
            </a:endParaRPr>
          </a:p>
          <a:p>
            <a:pPr marL="195580" indent="-182880">
              <a:lnSpc>
                <a:spcPts val="1545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Search</a:t>
            </a:r>
            <a:r>
              <a:rPr sz="13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manual</a:t>
            </a:r>
            <a:r>
              <a:rPr sz="13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names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descriptions</a:t>
            </a:r>
            <a:endParaRPr sz="1300" dirty="0">
              <a:latin typeface="Arial MT"/>
              <a:cs typeface="Arial MT"/>
            </a:endParaRPr>
          </a:p>
          <a:p>
            <a:pPr marL="286385" marR="6477000">
              <a:lnSpc>
                <a:spcPts val="1320"/>
              </a:lnSpc>
              <a:spcBef>
                <a:spcPts val="30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man -k pattern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apropos</a:t>
            </a:r>
            <a:r>
              <a:rPr sz="1100" b="1" spc="-3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pattern</a:t>
            </a:r>
            <a:endParaRPr sz="1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50" dirty="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info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regarding</a:t>
            </a:r>
            <a:r>
              <a:rPr sz="13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getting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help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-&gt;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LINK</a:t>
            </a:r>
            <a:endParaRPr sz="13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647775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0169" y="4114800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Text Editors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355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7101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Text Editors</a:t>
            </a:r>
            <a:endParaRPr sz="40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3A7289A-697C-BB69-DDE3-C725D4F2E0D4}"/>
              </a:ext>
            </a:extLst>
          </p:cNvPr>
          <p:cNvSpPr txBox="1"/>
          <p:nvPr/>
        </p:nvSpPr>
        <p:spPr>
          <a:xfrm>
            <a:off x="535940" y="1564894"/>
            <a:ext cx="7912100" cy="28655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GUI-based editors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gedit</a:t>
            </a:r>
            <a:endParaRPr sz="2000" b="1" dirty="0">
              <a:solidFill>
                <a:schemeClr val="accent6">
                  <a:lumMod val="75000"/>
                </a:schemeClr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Terminal-based editors</a:t>
            </a:r>
          </a:p>
          <a:p>
            <a:pPr marL="652780" lvl="1" indent="-182880"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nano</a:t>
            </a:r>
          </a:p>
          <a:p>
            <a:pPr marL="1109980" lvl="2" indent="-182880"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Simplest text based editor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652145" marR="20320" lvl="1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vi/vim</a:t>
            </a:r>
          </a:p>
          <a:p>
            <a:pPr marL="1109345" marR="20320" lvl="2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More powerful but complex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565410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79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Text Editors (vi / vim)</a:t>
            </a:r>
            <a:endParaRPr sz="40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3A7289A-697C-BB69-DDE3-C725D4F2E0D4}"/>
              </a:ext>
            </a:extLst>
          </p:cNvPr>
          <p:cNvSpPr txBox="1"/>
          <p:nvPr/>
        </p:nvSpPr>
        <p:spPr>
          <a:xfrm>
            <a:off x="535940" y="1564894"/>
            <a:ext cx="8608060" cy="32066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Default editor in all Unix operating systems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vi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 in Linux is usually 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vim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 (vi improved)</a:t>
            </a:r>
            <a:endParaRPr lang="en-US" sz="175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Supports syntax highlighting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VI three basic modes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Command mode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Perform commands to delete, copy, ..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Edit mode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Enter text into the file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Last line mode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To access it, enter a colon (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  <a:sym typeface="Wingdings" pitchFamily="2" charset="2"/>
              </a:rPr>
              <a:t>:) while being in the command mode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548002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79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Text Editors (vi / vim) (cont’d)</a:t>
            </a:r>
            <a:endParaRPr sz="40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3A7289A-697C-BB69-DDE3-C725D4F2E0D4}"/>
              </a:ext>
            </a:extLst>
          </p:cNvPr>
          <p:cNvSpPr txBox="1"/>
          <p:nvPr/>
        </p:nvSpPr>
        <p:spPr>
          <a:xfrm>
            <a:off x="535940" y="1564894"/>
            <a:ext cx="8608060" cy="38478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Open file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vi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 filename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Now you are in the command mode</a:t>
            </a:r>
            <a:endParaRPr lang="en-US" sz="175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To enter edit (insert) mode (</a:t>
            </a:r>
            <a:r>
              <a:rPr lang="en-US" sz="2000" dirty="0" err="1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To exit edit (insert) mode (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Esc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), now you are in the command mode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To enter and exit visual mode (v)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On command mode you can enter last line mode by (:)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Exit without saving changes 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(:q!)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Save changes and exit 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(:</a:t>
            </a:r>
            <a:r>
              <a:rPr lang="en-US" sz="2000" b="1" dirty="0" err="1">
                <a:solidFill>
                  <a:srgbClr val="292934"/>
                </a:solidFill>
                <a:latin typeface="Arial MT"/>
                <a:cs typeface="Arial MT"/>
              </a:rPr>
              <a:t>wq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Save changes and stay 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(:w)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endParaRPr lang="en-US" sz="20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For more info, tutorials and games about VIM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  <a:sym typeface="Wingdings" pitchFamily="2" charset="2"/>
                <a:hlinkClick r:id="rId2"/>
              </a:rPr>
              <a:t>LINK</a:t>
            </a:r>
            <a:endParaRPr lang="en-US" sz="2000" dirty="0">
              <a:solidFill>
                <a:srgbClr val="292934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861504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8400" y="4114800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Text Files Utilities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588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Text Files Utilities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6593"/>
            <a:ext cx="6599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184150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Viewing file contents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1969744"/>
            <a:ext cx="4295141" cy="1131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c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at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file-name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more file-name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less file-name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5D912-9C26-A9DD-A27A-6512BDF49D1F}"/>
              </a:ext>
            </a:extLst>
          </p:cNvPr>
          <p:cNvSpPr txBox="1"/>
          <p:nvPr/>
        </p:nvSpPr>
        <p:spPr>
          <a:xfrm>
            <a:off x="810259" y="3100823"/>
            <a:ext cx="78765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G" dirty="0"/>
              <a:t>Scrolling keys for the more 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G" dirty="0"/>
              <a:t>Space bar: moves forward on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b: move back one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Enter: line by 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/string: search forward for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n: find the next occurrence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q: quit and return to the terminal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g/G: g</a:t>
            </a:r>
            <a:r>
              <a:rPr lang="en-US" dirty="0">
                <a:sym typeface="Wingdings" pitchFamily="2" charset="2"/>
              </a:rPr>
              <a:t> Go to the beginning of the file, G  Go to the end of the file [</a:t>
            </a:r>
            <a:r>
              <a:rPr lang="en-US" sz="1800" b="1" spc="-5" dirty="0">
                <a:solidFill>
                  <a:srgbClr val="D2523B"/>
                </a:solidFill>
                <a:latin typeface="Courier New"/>
                <a:cs typeface="Courier New"/>
              </a:rPr>
              <a:t>less</a:t>
            </a:r>
            <a:r>
              <a:rPr lang="en-US" dirty="0">
                <a:sym typeface="Wingdings" pitchFamily="2" charset="2"/>
              </a:rPr>
              <a:t>]</a:t>
            </a:r>
            <a:endParaRPr lang="en-EG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0D194B1-2538-7CC5-BF2F-6CBEBF25C17E}"/>
              </a:ext>
            </a:extLst>
          </p:cNvPr>
          <p:cNvSpPr txBox="1"/>
          <p:nvPr/>
        </p:nvSpPr>
        <p:spPr>
          <a:xfrm>
            <a:off x="810259" y="5397764"/>
            <a:ext cx="4295141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head –n file-name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tail -n file-name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diff or diff –s or diff -q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A2A9753-4766-2CC8-F0A1-01D0CB2D0139}"/>
              </a:ext>
            </a:extLst>
          </p:cNvPr>
          <p:cNvSpPr txBox="1"/>
          <p:nvPr/>
        </p:nvSpPr>
        <p:spPr>
          <a:xfrm>
            <a:off x="5138382" y="6154381"/>
            <a:ext cx="6599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  <a:tab pos="184150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Comparing two files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847652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4114800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Wildcard Characters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822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Wildcard characters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EAFE3-E8C0-583A-FE35-74F52079525D}"/>
              </a:ext>
            </a:extLst>
          </p:cNvPr>
          <p:cNvSpPr txBox="1"/>
          <p:nvPr/>
        </p:nvSpPr>
        <p:spPr>
          <a:xfrm>
            <a:off x="535940" y="1676400"/>
            <a:ext cx="8760460" cy="483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Wildcards are useful in many ways for a GNU/Linux system and for various other uses.</a:t>
            </a:r>
          </a:p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Commands can use wildcards to perform actions on more than one file at a time, or to find part of a phrase in a text file.</a:t>
            </a:r>
            <a:endParaRPr lang="en-US" sz="175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Asterisk (*): represent 0 or more character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ls f* 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Question mark (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?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): character represents any single character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ls fil? 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Square bracket([ ]): represent a range of characters for a single 	character position.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ls [a-f]* </a:t>
            </a:r>
          </a:p>
          <a:p>
            <a:pPr marL="652780" lvl="1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Curly brackets ({}): This wildcard will copy anything that matches either wildcard(s), or exact name(s) written inside the curly brackets</a:t>
            </a:r>
          </a:p>
          <a:p>
            <a:pPr marL="1109980" lvl="2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cp { *.doc, *.pdf } /home/ubuntu</a:t>
            </a:r>
          </a:p>
          <a:p>
            <a:pPr marL="195580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For more info about wildcards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  <a:sym typeface="Wingdings" pitchFamily="2" charset="2"/>
                <a:hlinkClick r:id="rId2"/>
              </a:rPr>
              <a:t>LINK</a:t>
            </a:r>
            <a:endParaRPr lang="en-US" sz="2000" dirty="0">
              <a:solidFill>
                <a:srgbClr val="292934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61425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4114800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System Info Commands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252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System Info Commands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806518"/>
            <a:ext cx="7084060" cy="38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whoami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Print effective current user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hostname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Show or set the system’s host name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date 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Print or set the system date and time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uptime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Tell how long the system has been running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uname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 –a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Print system information</a:t>
            </a:r>
          </a:p>
        </p:txBody>
      </p:sp>
    </p:spTree>
    <p:extLst>
      <p:ext uri="{BB962C8B-B14F-4D97-AF65-F5344CB8AC3E}">
        <p14:creationId xmlns:p14="http://schemas.microsoft.com/office/powerpoint/2010/main" val="27741190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System Info Commands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806518"/>
            <a:ext cx="7084060" cy="38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free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Display amount of free and used memory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df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Report file system disk space usage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file file-name 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File type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du [-</a:t>
            </a: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sh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] file-name or folder-name 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Estimate file space usage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uname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 –a</a:t>
            </a: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Print system information</a:t>
            </a:r>
          </a:p>
        </p:txBody>
      </p:sp>
    </p:spTree>
    <p:extLst>
      <p:ext uri="{BB962C8B-B14F-4D97-AF65-F5344CB8AC3E}">
        <p14:creationId xmlns:p14="http://schemas.microsoft.com/office/powerpoint/2010/main" val="31700213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System Info Commands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806518"/>
            <a:ext cx="7084060" cy="41755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lsusb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List USB devices	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lspci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Display info about the CPU arch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lsmod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List loaded modules</a:t>
            </a:r>
          </a:p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dmesg</a:t>
            </a:r>
            <a:endParaRPr lang="en-US" sz="20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812800" marR="5080" lvl="1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Used to examine or control the kernel ring buffer.</a:t>
            </a:r>
          </a:p>
          <a:p>
            <a:pPr marL="1270000" marR="5080" lvl="2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Courier New"/>
                <a:cs typeface="Courier New"/>
              </a:rPr>
              <a:t>Ex) To display USB messages</a:t>
            </a:r>
          </a:p>
          <a:p>
            <a:pPr marL="1727200" marR="5080" lvl="3" indent="-3429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5" dirty="0" err="1">
                <a:latin typeface="Courier New"/>
                <a:cs typeface="Courier New"/>
              </a:rPr>
              <a:t>dmseg</a:t>
            </a:r>
            <a:r>
              <a:rPr lang="en-US" sz="2000" b="1" spc="-5" dirty="0">
                <a:latin typeface="Courier New"/>
                <a:cs typeface="Courier New"/>
              </a:rPr>
              <a:t> | grep –</a:t>
            </a:r>
            <a:r>
              <a:rPr lang="en-US" sz="2000" b="1" spc="-5" dirty="0" err="1">
                <a:latin typeface="Courier New"/>
                <a:cs typeface="Courier New"/>
              </a:rPr>
              <a:t>i</a:t>
            </a:r>
            <a:r>
              <a:rPr lang="en-US" sz="2000" b="1" spc="-5" dirty="0">
                <a:latin typeface="Courier New"/>
                <a:cs typeface="Courier New"/>
              </a:rPr>
              <a:t> </a:t>
            </a:r>
            <a:r>
              <a:rPr lang="en-US" sz="2000" b="1" spc="-5" dirty="0" err="1">
                <a:latin typeface="Courier New"/>
                <a:cs typeface="Courier New"/>
              </a:rPr>
              <a:t>usb</a:t>
            </a:r>
            <a:endParaRPr lang="en-US" sz="2000" b="1" spc="-5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328150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511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319"/>
            <a:ext cx="7954009" cy="1770998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From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Scratch</a:t>
            </a:r>
            <a:endParaRPr sz="24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u="heavy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2"/>
              </a:rPr>
              <a:t>http://www.linuxfromscratch.org/lfs/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2A199"/>
              </a:buClr>
              <a:buFont typeface="Arial MT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92934"/>
                </a:solidFill>
                <a:latin typeface="Arial MT"/>
                <a:cs typeface="Arial MT"/>
              </a:rPr>
              <a:t>HowTos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-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Guides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–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FAQs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u="heavy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http://www.tldp.org/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316423"/>
            <a:ext cx="5712460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Ramy</a:t>
            </a:r>
            <a:r>
              <a:rPr lang="en-US" sz="3200" b="1" spc="-380" dirty="0">
                <a:solidFill>
                  <a:srgbClr val="D2523B"/>
                </a:solidFill>
                <a:latin typeface="Arial"/>
                <a:cs typeface="Arial"/>
              </a:rPr>
              <a:t> Adel </a:t>
            </a: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Abdelrazek</a:t>
            </a:r>
            <a:endParaRPr lang="en-US" sz="3200" b="1" spc="-380" dirty="0">
              <a:solidFill>
                <a:srgbClr val="D2523B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rami.adel.abdelrazek@gmail.com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059" y="2799337"/>
            <a:ext cx="5071193" cy="947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</TotalTime>
  <Words>2601</Words>
  <Application>Microsoft Macintosh PowerPoint</Application>
  <PresentationFormat>On-screen Show (4:3)</PresentationFormat>
  <Paragraphs>495</Paragraphs>
  <Slides>71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</vt:lpstr>
      <vt:lpstr>Arial MT</vt:lpstr>
      <vt:lpstr>Calibri</vt:lpstr>
      <vt:lpstr>Courier New</vt:lpstr>
      <vt:lpstr>Times New Roman</vt:lpstr>
      <vt:lpstr>Office Theme</vt:lpstr>
      <vt:lpstr>INTRO TO              LINUX COURSE</vt:lpstr>
      <vt:lpstr>Know your Trainer</vt:lpstr>
      <vt:lpstr>Objectives</vt:lpstr>
      <vt:lpstr>PowerPoint Presentation</vt:lpstr>
      <vt:lpstr>Multics</vt:lpstr>
      <vt:lpstr>Unix</vt:lpstr>
      <vt:lpstr>Unix</vt:lpstr>
      <vt:lpstr>Unix</vt:lpstr>
      <vt:lpstr>Linux History</vt:lpstr>
      <vt:lpstr>Richard Stallman (Free SW Movement)</vt:lpstr>
      <vt:lpstr>Richard Stallman</vt:lpstr>
      <vt:lpstr>Linux History (cont’d)</vt:lpstr>
      <vt:lpstr>Linux History (cont’d)</vt:lpstr>
      <vt:lpstr>Linux History (cont’d)</vt:lpstr>
      <vt:lpstr>Linux History (cont’d)</vt:lpstr>
      <vt:lpstr>Linux History (cont’d)</vt:lpstr>
      <vt:lpstr>Linux History (cont’d)</vt:lpstr>
      <vt:lpstr>PowerPoint Presentation</vt:lpstr>
      <vt:lpstr>PowerPoint Presentation</vt:lpstr>
      <vt:lpstr>Why Linux</vt:lpstr>
      <vt:lpstr>Why Linux (cont’d)</vt:lpstr>
      <vt:lpstr>Why Linux (cont’d)</vt:lpstr>
      <vt:lpstr>PowerPoint Presentation</vt:lpstr>
      <vt:lpstr>Different Linux Distributions</vt:lpstr>
      <vt:lpstr>Linux is like Lego</vt:lpstr>
      <vt:lpstr>Different Linux Distributions</vt:lpstr>
      <vt:lpstr>PowerPoint Presentation</vt:lpstr>
      <vt:lpstr>Get a Taste of Linux</vt:lpstr>
      <vt:lpstr>PowerPoint Presentation</vt:lpstr>
      <vt:lpstr>PowerPoint Presentation</vt:lpstr>
      <vt:lpstr>PowerPoint Presentation</vt:lpstr>
      <vt:lpstr>Linux GUI </vt:lpstr>
      <vt:lpstr>Linux GUI </vt:lpstr>
      <vt:lpstr>Linux App Center </vt:lpstr>
      <vt:lpstr>PowerPoint Presentation</vt:lpstr>
      <vt:lpstr>Linux System Structure</vt:lpstr>
      <vt:lpstr>Linux System Principles</vt:lpstr>
      <vt:lpstr>PowerPoint Presentation</vt:lpstr>
      <vt:lpstr>FileSystem Hierarchy Standard</vt:lpstr>
      <vt:lpstr>FileSystem Hierarchy Standard</vt:lpstr>
      <vt:lpstr>PowerPoint Presentation</vt:lpstr>
      <vt:lpstr>PowerPoint Presentation</vt:lpstr>
      <vt:lpstr>Terminal </vt:lpstr>
      <vt:lpstr>Terminals Vs Shells </vt:lpstr>
      <vt:lpstr>Command Line</vt:lpstr>
      <vt:lpstr>Why do we use commands ?</vt:lpstr>
      <vt:lpstr>PowerPoint Presentation</vt:lpstr>
      <vt:lpstr>Browsing and exploring File System</vt:lpstr>
      <vt:lpstr>Browsing and Exploring Filesystem</vt:lpstr>
      <vt:lpstr>PowerPoint Presentation</vt:lpstr>
      <vt:lpstr>Creating files and directories</vt:lpstr>
      <vt:lpstr>PowerPoint Presentation</vt:lpstr>
      <vt:lpstr>Copying and moving files</vt:lpstr>
      <vt:lpstr>PowerPoint Presentation</vt:lpstr>
      <vt:lpstr>Removing files and directories</vt:lpstr>
      <vt:lpstr>PowerPoint Presentation</vt:lpstr>
      <vt:lpstr>Getting Help</vt:lpstr>
      <vt:lpstr>PowerPoint Presentation</vt:lpstr>
      <vt:lpstr>Text Editors</vt:lpstr>
      <vt:lpstr>Text Editors (vi / vim)</vt:lpstr>
      <vt:lpstr>Text Editors (vi / vim) (cont’d)</vt:lpstr>
      <vt:lpstr>PowerPoint Presentation</vt:lpstr>
      <vt:lpstr>Text Files Utilities</vt:lpstr>
      <vt:lpstr>PowerPoint Presentation</vt:lpstr>
      <vt:lpstr>Wildcard characters</vt:lpstr>
      <vt:lpstr>PowerPoint Presentation</vt:lpstr>
      <vt:lpstr>System Info Commands</vt:lpstr>
      <vt:lpstr>System Info Commands</vt:lpstr>
      <vt:lpstr>System Info Commands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</dc:creator>
  <cp:lastModifiedBy>Microsoft Office User</cp:lastModifiedBy>
  <cp:revision>31</cp:revision>
  <dcterms:created xsi:type="dcterms:W3CDTF">2022-11-05T11:55:30Z</dcterms:created>
  <dcterms:modified xsi:type="dcterms:W3CDTF">2026-08-08T11:30:31Z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2022-11-05T00:00:00Z</vt:filetime>
  </property>
</Properties>
</file>